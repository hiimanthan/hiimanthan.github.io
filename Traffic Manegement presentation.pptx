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6.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bookmarkIdSeed="4">
  <p:sldMasterIdLst>
    <p:sldMasterId id="2147483650" r:id="rId4"/>
  </p:sldMasterIdLst>
  <p:notesMasterIdLst>
    <p:notesMasterId r:id="rId30"/>
  </p:notesMasterIdLst>
  <p:handoutMasterIdLst>
    <p:handoutMasterId r:id="rId31"/>
  </p:handoutMasterIdLst>
  <p:sldIdLst>
    <p:sldId id="312" r:id="rId5"/>
    <p:sldId id="304" r:id="rId6"/>
    <p:sldId id="282" r:id="rId7"/>
    <p:sldId id="337" r:id="rId8"/>
    <p:sldId id="314" r:id="rId9"/>
    <p:sldId id="307" r:id="rId10"/>
    <p:sldId id="327" r:id="rId11"/>
    <p:sldId id="329" r:id="rId12"/>
    <p:sldId id="328" r:id="rId13"/>
    <p:sldId id="281" r:id="rId14"/>
    <p:sldId id="323" r:id="rId15"/>
    <p:sldId id="338" r:id="rId16"/>
    <p:sldId id="334" r:id="rId17"/>
    <p:sldId id="335" r:id="rId18"/>
    <p:sldId id="330" r:id="rId19"/>
    <p:sldId id="331" r:id="rId20"/>
    <p:sldId id="336" r:id="rId21"/>
    <p:sldId id="318" r:id="rId22"/>
    <p:sldId id="315" r:id="rId23"/>
    <p:sldId id="319" r:id="rId24"/>
    <p:sldId id="321" r:id="rId25"/>
    <p:sldId id="322" r:id="rId26"/>
    <p:sldId id="325" r:id="rId27"/>
    <p:sldId id="326" r:id="rId28"/>
    <p:sldId id="297" r:id="rId29"/>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raffic Management" id="{1A018D49-F500-49BC-A274-9DC365AB4DE2}">
          <p14:sldIdLst>
            <p14:sldId id="312"/>
            <p14:sldId id="304"/>
            <p14:sldId id="282"/>
            <p14:sldId id="337"/>
            <p14:sldId id="314"/>
            <p14:sldId id="307"/>
            <p14:sldId id="327"/>
            <p14:sldId id="329"/>
            <p14:sldId id="328"/>
            <p14:sldId id="281"/>
            <p14:sldId id="323"/>
            <p14:sldId id="338"/>
            <p14:sldId id="334"/>
            <p14:sldId id="335"/>
            <p14:sldId id="330"/>
            <p14:sldId id="331"/>
            <p14:sldId id="336"/>
            <p14:sldId id="318"/>
            <p14:sldId id="315"/>
            <p14:sldId id="319"/>
            <p14:sldId id="321"/>
            <p14:sldId id="322"/>
            <p14:sldId id="325"/>
            <p14:sldId id="326"/>
            <p14:sldId id="297"/>
          </p14:sldIdLst>
        </p14:section>
      </p14:sectionLst>
    </p:ex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2C8F"/>
    <a:srgbClr val="FDFBF6"/>
    <a:srgbClr val="202C8F"/>
    <a:srgbClr val="AAC4E9"/>
    <a:srgbClr val="F5CDCE"/>
    <a:srgbClr val="DF8C8C"/>
    <a:srgbClr val="D4D593"/>
    <a:srgbClr val="E6F0FE"/>
    <a:srgbClr val="CDBE8A"/>
    <a:srgbClr val="FFEFE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388" autoAdjust="0"/>
  </p:normalViewPr>
  <p:slideViewPr>
    <p:cSldViewPr snapToGrid="0" snapToObjects="1">
      <p:cViewPr varScale="1">
        <p:scale>
          <a:sx n="97" d="100"/>
          <a:sy n="97" d="100"/>
        </p:scale>
        <p:origin x="144" y="86"/>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37"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than Patel" userId="333e01db35faef98" providerId="LiveId" clId="{6E93CE03-E5E9-428D-BCD3-DC76E3105112}"/>
    <pc:docChg chg="modSld">
      <pc:chgData name="Manthan Patel" userId="333e01db35faef98" providerId="LiveId" clId="{6E93CE03-E5E9-428D-BCD3-DC76E3105112}" dt="2025-06-18T10:01:52.289" v="96" actId="20577"/>
      <pc:docMkLst>
        <pc:docMk/>
      </pc:docMkLst>
      <pc:sldChg chg="modSp mod">
        <pc:chgData name="Manthan Patel" userId="333e01db35faef98" providerId="LiveId" clId="{6E93CE03-E5E9-428D-BCD3-DC76E3105112}" dt="2025-06-18T10:01:52.289" v="96" actId="20577"/>
        <pc:sldMkLst>
          <pc:docMk/>
          <pc:sldMk cId="2202437675" sldId="312"/>
        </pc:sldMkLst>
        <pc:spChg chg="mod">
          <ac:chgData name="Manthan Patel" userId="333e01db35faef98" providerId="LiveId" clId="{6E93CE03-E5E9-428D-BCD3-DC76E3105112}" dt="2025-06-18T10:01:52.289" v="96" actId="20577"/>
          <ac:spMkLst>
            <pc:docMk/>
            <pc:sldMk cId="2202437675" sldId="312"/>
            <ac:spMk id="8" creationId="{4E23340F-A3E8-323A-BC8B-24ADF9FCFC7E}"/>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file:///C:\Users\Admin\OneDrive\Desktop\PRO\Traffic%20Management\Traffic%20Analysis%20by%20MANTHAN.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Admin\OneDrive\Desktop\PRO\Traffic%20Management\Traffic%20Analysis%20by%20MANTHAN.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Apex\Documents\Paired%20t%20test.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Apex\Downloads\Traffic%20Analysis%20data.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Apex\Downloads\Traffic%20Analysis%20data.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Admin\OneDrive\Desktop\PRO\Traffic%20Management\Traffic%20Analysis%20data.xlsx" TargetMode="External"/><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dPt>
            <c:idx val="0"/>
            <c:bubble3D val="0"/>
            <c:spPr>
              <a:solidFill>
                <a:schemeClr val="accent2">
                  <a:lumMod val="60000"/>
                  <a:lumOff val="40000"/>
                </a:schemeClr>
              </a:solidFill>
              <a:ln w="19050">
                <a:solidFill>
                  <a:schemeClr val="lt1"/>
                </a:solidFill>
              </a:ln>
              <a:effectLst/>
            </c:spPr>
            <c:extLst>
              <c:ext xmlns:c16="http://schemas.microsoft.com/office/drawing/2014/chart" uri="{C3380CC4-5D6E-409C-BE32-E72D297353CC}">
                <c16:uniqueId val="{00000001-CFFD-40BF-A1F0-7C9F5D840862}"/>
              </c:ext>
            </c:extLst>
          </c:dPt>
          <c:dPt>
            <c:idx val="1"/>
            <c:bubble3D val="0"/>
            <c:spPr>
              <a:solidFill>
                <a:schemeClr val="accent2">
                  <a:lumMod val="50000"/>
                </a:schemeClr>
              </a:solidFill>
              <a:ln w="19050">
                <a:solidFill>
                  <a:schemeClr val="lt1"/>
                </a:solidFill>
              </a:ln>
              <a:effectLst/>
            </c:spPr>
            <c:extLst>
              <c:ext xmlns:c16="http://schemas.microsoft.com/office/drawing/2014/chart" uri="{C3380CC4-5D6E-409C-BE32-E72D297353CC}">
                <c16:uniqueId val="{00000003-CFFD-40BF-A1F0-7C9F5D840862}"/>
              </c:ext>
            </c:extLst>
          </c:dPt>
          <c:dPt>
            <c:idx val="2"/>
            <c:bubble3D val="0"/>
            <c:spPr>
              <a:solidFill>
                <a:schemeClr val="accent2">
                  <a:lumMod val="20000"/>
                  <a:lumOff val="80000"/>
                </a:schemeClr>
              </a:solidFill>
              <a:ln w="19050">
                <a:solidFill>
                  <a:schemeClr val="lt1"/>
                </a:solidFill>
              </a:ln>
              <a:effectLst/>
            </c:spPr>
            <c:extLst>
              <c:ext xmlns:c16="http://schemas.microsoft.com/office/drawing/2014/chart" uri="{C3380CC4-5D6E-409C-BE32-E72D297353CC}">
                <c16:uniqueId val="{00000005-CFFD-40BF-A1F0-7C9F5D840862}"/>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'Rough Data'!$G$192:$I$192</c:f>
              <c:strCache>
                <c:ptCount val="3"/>
                <c:pt idx="0">
                  <c:v>Thaltej</c:v>
                </c:pt>
                <c:pt idx="1">
                  <c:v>Gurudwara</c:v>
                </c:pt>
                <c:pt idx="2">
                  <c:v>Somnath</c:v>
                </c:pt>
              </c:strCache>
            </c:strRef>
          </c:cat>
          <c:val>
            <c:numRef>
              <c:f>'Rough Data'!$G$193:$I$193</c:f>
              <c:numCache>
                <c:formatCode>_ * #,##0_ ;_ * \-#,##0_ ;_ * "-"??_ ;_ @_ </c:formatCode>
                <c:ptCount val="3"/>
                <c:pt idx="0">
                  <c:v>29244</c:v>
                </c:pt>
                <c:pt idx="1">
                  <c:v>16961</c:v>
                </c:pt>
                <c:pt idx="2">
                  <c:v>55124</c:v>
                </c:pt>
              </c:numCache>
            </c:numRef>
          </c:val>
          <c:extLst>
            <c:ext xmlns:c16="http://schemas.microsoft.com/office/drawing/2014/chart" uri="{C3380CC4-5D6E-409C-BE32-E72D297353CC}">
              <c16:uniqueId val="{00000006-CFFD-40BF-A1F0-7C9F5D840862}"/>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chart>
    <c:autoTitleDeleted val="1"/>
    <c:plotArea>
      <c:layout/>
      <c:pieChart>
        <c:varyColors val="1"/>
        <c:ser>
          <c:idx val="0"/>
          <c:order val="0"/>
          <c:dPt>
            <c:idx val="0"/>
            <c:bubble3D val="0"/>
            <c:spPr>
              <a:gradFill rotWithShape="1">
                <a:gsLst>
                  <a:gs pos="0">
                    <a:schemeClr val="accent4">
                      <a:shade val="65000"/>
                      <a:satMod val="103000"/>
                      <a:lumMod val="102000"/>
                      <a:tint val="94000"/>
                    </a:schemeClr>
                  </a:gs>
                  <a:gs pos="50000">
                    <a:schemeClr val="accent4">
                      <a:shade val="65000"/>
                      <a:satMod val="110000"/>
                      <a:lumMod val="100000"/>
                      <a:shade val="100000"/>
                    </a:schemeClr>
                  </a:gs>
                  <a:gs pos="100000">
                    <a:schemeClr val="accent4">
                      <a:shade val="65000"/>
                      <a:lumMod val="99000"/>
                      <a:satMod val="120000"/>
                      <a:shade val="78000"/>
                    </a:schemeClr>
                  </a:gs>
                </a:gsLst>
                <a:lin ang="5400000" scaled="0"/>
              </a:gradFill>
              <a:ln>
                <a:noFill/>
              </a:ln>
              <a:effectLst/>
            </c:spPr>
            <c:extLst>
              <c:ext xmlns:c16="http://schemas.microsoft.com/office/drawing/2014/chart" uri="{C3380CC4-5D6E-409C-BE32-E72D297353CC}">
                <c16:uniqueId val="{00000001-5A7D-4DF3-A70A-85AFE9154208}"/>
              </c:ext>
            </c:extLst>
          </c:dPt>
          <c:dPt>
            <c:idx val="1"/>
            <c:bubble3D val="0"/>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c:spPr>
            <c:extLst>
              <c:ext xmlns:c16="http://schemas.microsoft.com/office/drawing/2014/chart" uri="{C3380CC4-5D6E-409C-BE32-E72D297353CC}">
                <c16:uniqueId val="{00000003-5A7D-4DF3-A70A-85AFE9154208}"/>
              </c:ext>
            </c:extLst>
          </c:dPt>
          <c:dPt>
            <c:idx val="2"/>
            <c:bubble3D val="0"/>
            <c:spPr>
              <a:gradFill rotWithShape="1">
                <a:gsLst>
                  <a:gs pos="0">
                    <a:schemeClr val="accent4">
                      <a:tint val="65000"/>
                      <a:satMod val="103000"/>
                      <a:lumMod val="102000"/>
                      <a:tint val="94000"/>
                    </a:schemeClr>
                  </a:gs>
                  <a:gs pos="50000">
                    <a:schemeClr val="accent4">
                      <a:tint val="65000"/>
                      <a:satMod val="110000"/>
                      <a:lumMod val="100000"/>
                      <a:shade val="100000"/>
                    </a:schemeClr>
                  </a:gs>
                  <a:gs pos="100000">
                    <a:schemeClr val="accent4">
                      <a:tint val="65000"/>
                      <a:lumMod val="99000"/>
                      <a:satMod val="120000"/>
                      <a:shade val="78000"/>
                    </a:schemeClr>
                  </a:gs>
                </a:gsLst>
                <a:lin ang="5400000" scaled="0"/>
              </a:gradFill>
              <a:ln>
                <a:noFill/>
              </a:ln>
              <a:effectLst/>
            </c:spPr>
            <c:extLst>
              <c:ext xmlns:c16="http://schemas.microsoft.com/office/drawing/2014/chart" uri="{C3380CC4-5D6E-409C-BE32-E72D297353CC}">
                <c16:uniqueId val="{00000005-5A7D-4DF3-A70A-85AFE9154208}"/>
              </c:ext>
            </c:extLst>
          </c:dPt>
          <c:dLbls>
            <c:dLbl>
              <c:idx val="0"/>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5A7D-4DF3-A70A-85AFE9154208}"/>
                </c:ext>
              </c:extLst>
            </c:dLbl>
            <c:dLbl>
              <c:idx val="1"/>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5A7D-4DF3-A70A-85AFE9154208}"/>
                </c:ext>
              </c:extLst>
            </c:dLbl>
            <c:dLbl>
              <c:idx val="2"/>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5A7D-4DF3-A70A-85AFE9154208}"/>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dLblPos val="ctr"/>
            <c:showLegendKey val="0"/>
            <c:showVal val="0"/>
            <c:showCatName val="0"/>
            <c:showSerName val="0"/>
            <c:showPercent val="0"/>
            <c:showBubbleSize val="0"/>
            <c:extLst>
              <c:ext xmlns:c15="http://schemas.microsoft.com/office/drawing/2012/chart" uri="{CE6537A1-D6FC-4f65-9D91-7224C49458BB}"/>
            </c:extLst>
          </c:dLbls>
          <c:cat>
            <c:strRef>
              <c:f>'Rough Data'!$H$185:$J$185</c:f>
              <c:strCache>
                <c:ptCount val="3"/>
                <c:pt idx="0">
                  <c:v>Morning</c:v>
                </c:pt>
                <c:pt idx="1">
                  <c:v>Afternoon</c:v>
                </c:pt>
                <c:pt idx="2">
                  <c:v>Evening</c:v>
                </c:pt>
              </c:strCache>
            </c:strRef>
          </c:cat>
          <c:val>
            <c:numRef>
              <c:f>'Rough Data'!$H$190:$J$190</c:f>
              <c:numCache>
                <c:formatCode>0.00%</c:formatCode>
                <c:ptCount val="3"/>
                <c:pt idx="0">
                  <c:v>0.32523759239704331</c:v>
                </c:pt>
                <c:pt idx="1">
                  <c:v>0.28048238904953171</c:v>
                </c:pt>
                <c:pt idx="2">
                  <c:v>0.39428001855342498</c:v>
                </c:pt>
              </c:numCache>
            </c:numRef>
          </c:val>
          <c:extLst>
            <c:ext xmlns:c16="http://schemas.microsoft.com/office/drawing/2014/chart" uri="{C3380CC4-5D6E-409C-BE32-E72D297353CC}">
              <c16:uniqueId val="{00000006-5A7D-4DF3-A70A-85AFE9154208}"/>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b="1" dirty="0">
                <a:solidFill>
                  <a:srgbClr val="1F2C8F"/>
                </a:solidFill>
              </a:rPr>
              <a:t>Traffic</a:t>
            </a:r>
            <a:r>
              <a:rPr lang="en-IN" b="1" baseline="0" dirty="0">
                <a:solidFill>
                  <a:srgbClr val="1F2C8F"/>
                </a:solidFill>
              </a:rPr>
              <a:t> Volume Comparison: Morning </a:t>
            </a:r>
            <a:r>
              <a:rPr lang="en-IN" b="1" baseline="0" dirty="0" err="1">
                <a:solidFill>
                  <a:srgbClr val="1F2C8F"/>
                </a:solidFill>
              </a:rPr>
              <a:t>vs</a:t>
            </a:r>
            <a:r>
              <a:rPr lang="en-IN" b="1" baseline="0" dirty="0">
                <a:solidFill>
                  <a:srgbClr val="1F2C8F"/>
                </a:solidFill>
              </a:rPr>
              <a:t> Evening</a:t>
            </a:r>
            <a:endParaRPr lang="en-IN" b="1" dirty="0">
              <a:solidFill>
                <a:srgbClr val="1F2C8F"/>
              </a:solidFill>
            </a:endParaRPr>
          </a:p>
        </c:rich>
      </c:tx>
      <c:layout>
        <c:manualLayout>
          <c:xMode val="edge"/>
          <c:yMode val="edge"/>
          <c:x val="0.10689566929133858"/>
          <c:y val="2.7777777777777776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IN"/>
        </a:p>
      </c:txPr>
    </c:title>
    <c:autoTitleDeleted val="0"/>
    <c:plotArea>
      <c:layout/>
      <c:barChart>
        <c:barDir val="bar"/>
        <c:grouping val="clustered"/>
        <c:varyColors val="0"/>
        <c:ser>
          <c:idx val="0"/>
          <c:order val="0"/>
          <c:tx>
            <c:strRef>
              <c:f>Sheet1!$B$1</c:f>
              <c:strCache>
                <c:ptCount val="1"/>
                <c:pt idx="0">
                  <c:v>MorningTrafficvolume</c:v>
                </c:pt>
              </c:strCache>
            </c:strRef>
          </c:tx>
          <c:spPr>
            <a:solidFill>
              <a:schemeClr val="accent6">
                <a:lumMod val="40000"/>
                <a:lumOff val="60000"/>
              </a:schemeClr>
            </a:solidFill>
            <a:ln>
              <a:noFill/>
            </a:ln>
            <a:effectLst/>
          </c:spPr>
          <c:invertIfNegative val="0"/>
          <c:cat>
            <c:strRef>
              <c:f>Sheet1!$A$2:$A$4</c:f>
              <c:strCache>
                <c:ptCount val="3"/>
                <c:pt idx="0">
                  <c:v>Gurudwara</c:v>
                </c:pt>
                <c:pt idx="1">
                  <c:v>Thaltej</c:v>
                </c:pt>
                <c:pt idx="2">
                  <c:v>Somnath chowk </c:v>
                </c:pt>
              </c:strCache>
            </c:strRef>
          </c:cat>
          <c:val>
            <c:numRef>
              <c:f>Sheet1!$B$2:$B$4</c:f>
              <c:numCache>
                <c:formatCode>General</c:formatCode>
                <c:ptCount val="3"/>
                <c:pt idx="0">
                  <c:v>23327</c:v>
                </c:pt>
                <c:pt idx="1">
                  <c:v>34505</c:v>
                </c:pt>
                <c:pt idx="2">
                  <c:v>40062</c:v>
                </c:pt>
              </c:numCache>
            </c:numRef>
          </c:val>
          <c:extLst>
            <c:ext xmlns:c16="http://schemas.microsoft.com/office/drawing/2014/chart" uri="{C3380CC4-5D6E-409C-BE32-E72D297353CC}">
              <c16:uniqueId val="{00000000-3C0A-41D9-B492-1D06FD1F3334}"/>
            </c:ext>
          </c:extLst>
        </c:ser>
        <c:ser>
          <c:idx val="1"/>
          <c:order val="1"/>
          <c:tx>
            <c:strRef>
              <c:f>Sheet1!$C$1</c:f>
              <c:strCache>
                <c:ptCount val="1"/>
                <c:pt idx="0">
                  <c:v>EveningTrafficVolume</c:v>
                </c:pt>
              </c:strCache>
            </c:strRef>
          </c:tx>
          <c:spPr>
            <a:solidFill>
              <a:schemeClr val="accent1">
                <a:lumMod val="40000"/>
                <a:lumOff val="60000"/>
              </a:schemeClr>
            </a:solidFill>
            <a:ln>
              <a:noFill/>
            </a:ln>
            <a:effectLst/>
          </c:spPr>
          <c:invertIfNegative val="0"/>
          <c:cat>
            <c:strRef>
              <c:f>Sheet1!$A$2:$A$4</c:f>
              <c:strCache>
                <c:ptCount val="3"/>
                <c:pt idx="0">
                  <c:v>Gurudwara</c:v>
                </c:pt>
                <c:pt idx="1">
                  <c:v>Thaltej</c:v>
                </c:pt>
                <c:pt idx="2">
                  <c:v>Somnath chowk </c:v>
                </c:pt>
              </c:strCache>
            </c:strRef>
          </c:cat>
          <c:val>
            <c:numRef>
              <c:f>Sheet1!$C$2:$C$4</c:f>
              <c:numCache>
                <c:formatCode>General</c:formatCode>
                <c:ptCount val="3"/>
                <c:pt idx="0">
                  <c:v>26492</c:v>
                </c:pt>
                <c:pt idx="1">
                  <c:v>33065</c:v>
                </c:pt>
                <c:pt idx="2">
                  <c:v>39200</c:v>
                </c:pt>
              </c:numCache>
            </c:numRef>
          </c:val>
          <c:extLst>
            <c:ext xmlns:c16="http://schemas.microsoft.com/office/drawing/2014/chart" uri="{C3380CC4-5D6E-409C-BE32-E72D297353CC}">
              <c16:uniqueId val="{00000001-3C0A-41D9-B492-1D06FD1F3334}"/>
            </c:ext>
          </c:extLst>
        </c:ser>
        <c:dLbls>
          <c:showLegendKey val="0"/>
          <c:showVal val="0"/>
          <c:showCatName val="0"/>
          <c:showSerName val="0"/>
          <c:showPercent val="0"/>
          <c:showBubbleSize val="0"/>
        </c:dLbls>
        <c:gapWidth val="182"/>
        <c:axId val="-764685696"/>
        <c:axId val="-764689504"/>
      </c:barChart>
      <c:catAx>
        <c:axId val="-764685696"/>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764689504"/>
        <c:crosses val="autoZero"/>
        <c:auto val="1"/>
        <c:lblAlgn val="ctr"/>
        <c:lblOffset val="100"/>
        <c:noMultiLvlLbl val="0"/>
      </c:catAx>
      <c:valAx>
        <c:axId val="-764689504"/>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6468569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'[Traffic Analysis data.xlsx]Analysis'!$M$70</c:f>
              <c:strCache>
                <c:ptCount val="1"/>
                <c:pt idx="0">
                  <c:v> Do you use public transport? 
</c:v>
                </c:pt>
              </c:strCache>
            </c:strRef>
          </c:tx>
          <c:dPt>
            <c:idx val="0"/>
            <c:bubble3D val="0"/>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extLst>
              <c:ext xmlns:c16="http://schemas.microsoft.com/office/drawing/2014/chart" uri="{C3380CC4-5D6E-409C-BE32-E72D297353CC}">
                <c16:uniqueId val="{00000001-CA2E-494A-B471-A3189D632811}"/>
              </c:ext>
            </c:extLst>
          </c:dPt>
          <c:dPt>
            <c:idx val="1"/>
            <c:bubble3D val="0"/>
            <c:spPr>
              <a:gradFill rotWithShape="1">
                <a:gsLst>
                  <a:gs pos="0">
                    <a:schemeClr val="accent2">
                      <a:lumMod val="110000"/>
                      <a:satMod val="105000"/>
                      <a:tint val="67000"/>
                    </a:schemeClr>
                  </a:gs>
                  <a:gs pos="50000">
                    <a:schemeClr val="accent2">
                      <a:lumMod val="105000"/>
                      <a:satMod val="103000"/>
                      <a:tint val="73000"/>
                    </a:schemeClr>
                  </a:gs>
                  <a:gs pos="100000">
                    <a:schemeClr val="accent2">
                      <a:lumMod val="105000"/>
                      <a:satMod val="109000"/>
                      <a:tint val="81000"/>
                    </a:schemeClr>
                  </a:gs>
                </a:gsLst>
                <a:lin ang="5400000" scaled="0"/>
              </a:gradFill>
              <a:ln w="9525" cap="flat" cmpd="sng" algn="ctr">
                <a:solidFill>
                  <a:schemeClr val="accent2">
                    <a:shade val="95000"/>
                  </a:schemeClr>
                </a:solidFill>
                <a:round/>
              </a:ln>
              <a:effectLst/>
            </c:spPr>
            <c:extLst>
              <c:ext xmlns:c16="http://schemas.microsoft.com/office/drawing/2014/chart" uri="{C3380CC4-5D6E-409C-BE32-E72D297353CC}">
                <c16:uniqueId val="{00000003-CA2E-494A-B471-A3189D632811}"/>
              </c:ext>
            </c:extLst>
          </c:dPt>
          <c:dPt>
            <c:idx val="2"/>
            <c:bubble3D val="0"/>
            <c:spPr>
              <a:gradFill rotWithShape="1">
                <a:gsLst>
                  <a:gs pos="0">
                    <a:schemeClr val="accent3">
                      <a:lumMod val="110000"/>
                      <a:satMod val="105000"/>
                      <a:tint val="67000"/>
                    </a:schemeClr>
                  </a:gs>
                  <a:gs pos="50000">
                    <a:schemeClr val="accent3">
                      <a:lumMod val="105000"/>
                      <a:satMod val="103000"/>
                      <a:tint val="73000"/>
                    </a:schemeClr>
                  </a:gs>
                  <a:gs pos="100000">
                    <a:schemeClr val="accent3">
                      <a:lumMod val="105000"/>
                      <a:satMod val="109000"/>
                      <a:tint val="81000"/>
                    </a:schemeClr>
                  </a:gs>
                </a:gsLst>
                <a:lin ang="5400000" scaled="0"/>
              </a:gradFill>
              <a:ln w="9525" cap="flat" cmpd="sng" algn="ctr">
                <a:solidFill>
                  <a:schemeClr val="accent3">
                    <a:shade val="95000"/>
                  </a:schemeClr>
                </a:solidFill>
                <a:round/>
              </a:ln>
              <a:effectLst/>
            </c:spPr>
            <c:extLst>
              <c:ext xmlns:c16="http://schemas.microsoft.com/office/drawing/2014/chart" uri="{C3380CC4-5D6E-409C-BE32-E72D297353CC}">
                <c16:uniqueId val="{00000005-CA2E-494A-B471-A3189D632811}"/>
              </c:ext>
            </c:extLst>
          </c:dPt>
          <c:dPt>
            <c:idx val="3"/>
            <c:bubble3D val="0"/>
            <c:spPr>
              <a:gradFill rotWithShape="1">
                <a:gsLst>
                  <a:gs pos="0">
                    <a:schemeClr val="accent4">
                      <a:lumMod val="110000"/>
                      <a:satMod val="105000"/>
                      <a:tint val="67000"/>
                    </a:schemeClr>
                  </a:gs>
                  <a:gs pos="50000">
                    <a:schemeClr val="accent4">
                      <a:lumMod val="105000"/>
                      <a:satMod val="103000"/>
                      <a:tint val="73000"/>
                    </a:schemeClr>
                  </a:gs>
                  <a:gs pos="100000">
                    <a:schemeClr val="accent4">
                      <a:lumMod val="105000"/>
                      <a:satMod val="109000"/>
                      <a:tint val="81000"/>
                    </a:schemeClr>
                  </a:gs>
                </a:gsLst>
                <a:lin ang="5400000" scaled="0"/>
              </a:gradFill>
              <a:ln w="9525" cap="flat" cmpd="sng" algn="ctr">
                <a:solidFill>
                  <a:schemeClr val="accent4">
                    <a:shade val="95000"/>
                  </a:schemeClr>
                </a:solidFill>
                <a:round/>
              </a:ln>
              <a:effectLst/>
            </c:spPr>
            <c:extLst>
              <c:ext xmlns:c16="http://schemas.microsoft.com/office/drawing/2014/chart" uri="{C3380CC4-5D6E-409C-BE32-E72D297353CC}">
                <c16:uniqueId val="{00000007-CA2E-494A-B471-A3189D632811}"/>
              </c:ext>
            </c:extLst>
          </c:dPt>
          <c:dPt>
            <c:idx val="4"/>
            <c:bubble3D val="0"/>
            <c:spPr>
              <a:gradFill rotWithShape="1">
                <a:gsLst>
                  <a:gs pos="0">
                    <a:schemeClr val="accent5">
                      <a:lumMod val="110000"/>
                      <a:satMod val="105000"/>
                      <a:tint val="67000"/>
                    </a:schemeClr>
                  </a:gs>
                  <a:gs pos="50000">
                    <a:schemeClr val="accent5">
                      <a:lumMod val="105000"/>
                      <a:satMod val="103000"/>
                      <a:tint val="73000"/>
                    </a:schemeClr>
                  </a:gs>
                  <a:gs pos="100000">
                    <a:schemeClr val="accent5">
                      <a:lumMod val="105000"/>
                      <a:satMod val="109000"/>
                      <a:tint val="81000"/>
                    </a:schemeClr>
                  </a:gs>
                </a:gsLst>
                <a:lin ang="5400000" scaled="0"/>
              </a:gradFill>
              <a:ln w="9525" cap="flat" cmpd="sng" algn="ctr">
                <a:solidFill>
                  <a:schemeClr val="accent5">
                    <a:shade val="95000"/>
                  </a:schemeClr>
                </a:solidFill>
                <a:round/>
              </a:ln>
              <a:effectLst/>
            </c:spPr>
            <c:extLst>
              <c:ext xmlns:c16="http://schemas.microsoft.com/office/drawing/2014/chart" uri="{C3380CC4-5D6E-409C-BE32-E72D297353CC}">
                <c16:uniqueId val="{00000009-CA2E-494A-B471-A3189D632811}"/>
              </c:ext>
            </c:extLst>
          </c:dPt>
          <c:cat>
            <c:strRef>
              <c:f>'[Traffic Analysis data.xlsx]Analysis'!$L$71:$L$75</c:f>
              <c:strCache>
                <c:ptCount val="5"/>
                <c:pt idx="0">
                  <c:v>Below 18</c:v>
                </c:pt>
                <c:pt idx="1">
                  <c:v>18-25 </c:v>
                </c:pt>
                <c:pt idx="2">
                  <c:v>26-35</c:v>
                </c:pt>
                <c:pt idx="3">
                  <c:v>36-50 </c:v>
                </c:pt>
                <c:pt idx="4">
                  <c:v>Above 50  </c:v>
                </c:pt>
              </c:strCache>
            </c:strRef>
          </c:cat>
          <c:val>
            <c:numRef>
              <c:f>'[Traffic Analysis data.xlsx]Analysis'!$M$71:$M$75</c:f>
              <c:numCache>
                <c:formatCode>General</c:formatCode>
                <c:ptCount val="5"/>
                <c:pt idx="0">
                  <c:v>14</c:v>
                </c:pt>
                <c:pt idx="1">
                  <c:v>125</c:v>
                </c:pt>
                <c:pt idx="2">
                  <c:v>27</c:v>
                </c:pt>
                <c:pt idx="3">
                  <c:v>7</c:v>
                </c:pt>
                <c:pt idx="4">
                  <c:v>3</c:v>
                </c:pt>
              </c:numCache>
            </c:numRef>
          </c:val>
          <c:extLst>
            <c:ext xmlns:c16="http://schemas.microsoft.com/office/drawing/2014/chart" uri="{C3380CC4-5D6E-409C-BE32-E72D297353CC}">
              <c16:uniqueId val="{0000000A-CA2E-494A-B471-A3189D632811}"/>
            </c:ext>
          </c:extLst>
        </c:ser>
        <c:dLbls>
          <c:showLegendKey val="0"/>
          <c:showVal val="0"/>
          <c:showCatName val="0"/>
          <c:showSerName val="0"/>
          <c:showPercent val="0"/>
          <c:showBubbleSize val="0"/>
          <c:showLeaderLines val="1"/>
        </c:dLbls>
        <c:firstSliceAng val="0"/>
        <c:holeSize val="75"/>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50000"/>
                  <a:lumOff val="50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spPr>
            <a:solidFill>
              <a:schemeClr val="accent4">
                <a:lumMod val="50000"/>
              </a:schemeClr>
            </a:solidFill>
          </c:spPr>
          <c:dPt>
            <c:idx val="0"/>
            <c:bubble3D val="0"/>
            <c:spPr>
              <a:solidFill>
                <a:srgbClr val="A86464"/>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1-FB0A-4D94-A058-615816B9413A}"/>
              </c:ext>
            </c:extLst>
          </c:dPt>
          <c:dPt>
            <c:idx val="1"/>
            <c:bubble3D val="0"/>
            <c:spPr>
              <a:solidFill>
                <a:srgbClr val="E27C7C"/>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3-FB0A-4D94-A058-615816B9413A}"/>
              </c:ext>
            </c:extLst>
          </c:dPt>
          <c:dLbls>
            <c:dLbl>
              <c:idx val="0"/>
              <c:spPr>
                <a:noFill/>
                <a:ln>
                  <a:noFill/>
                </a:ln>
                <a:effectLst/>
              </c:spPr>
              <c:txPr>
                <a:bodyPr rot="0" spcFirstLastPara="1" vertOverflow="ellipsis" vert="horz" wrap="square" lIns="38100" tIns="19050" rIns="38100" bIns="19050" anchor="ctr" anchorCtr="1">
                  <a:spAutoFit/>
                </a:bodyPr>
                <a:lstStyle/>
                <a:p>
                  <a:pPr>
                    <a:defRPr sz="1050" b="1" i="0" u="none" strike="noStrike" kern="1200" spc="0" baseline="0">
                      <a:solidFill>
                        <a:schemeClr val="bg1">
                          <a:lumMod val="95000"/>
                        </a:schemeClr>
                      </a:solidFill>
                      <a:latin typeface="+mn-lt"/>
                      <a:ea typeface="+mn-ea"/>
                      <a:cs typeface="+mn-cs"/>
                    </a:defRPr>
                  </a:pPr>
                  <a:endParaRPr lang="en-US"/>
                </a:p>
              </c:txPr>
              <c:dLblPos val="ctr"/>
              <c:showLegendKey val="0"/>
              <c:showVal val="0"/>
              <c:showCatName val="1"/>
              <c:showSerName val="0"/>
              <c:showPercent val="1"/>
              <c:showBubbleSize val="0"/>
              <c:extLst>
                <c:ext xmlns:c16="http://schemas.microsoft.com/office/drawing/2014/chart" uri="{C3380CC4-5D6E-409C-BE32-E72D297353CC}">
                  <c16:uniqueId val="{00000001-FB0A-4D94-A058-615816B9413A}"/>
                </c:ext>
              </c:extLst>
            </c:dLbl>
            <c:dLbl>
              <c:idx val="1"/>
              <c:spPr>
                <a:noFill/>
                <a:ln>
                  <a:noFill/>
                </a:ln>
                <a:effectLst/>
              </c:spPr>
              <c:txPr>
                <a:bodyPr rot="0" spcFirstLastPara="1" vertOverflow="ellipsis" vert="horz" wrap="square" lIns="38100" tIns="19050" rIns="38100" bIns="19050" anchor="ctr" anchorCtr="1">
                  <a:spAutoFit/>
                </a:bodyPr>
                <a:lstStyle/>
                <a:p>
                  <a:pPr>
                    <a:defRPr sz="1050" b="1" i="0" u="none" strike="noStrike" kern="1200" spc="0" baseline="0">
                      <a:solidFill>
                        <a:schemeClr val="bg1">
                          <a:lumMod val="95000"/>
                        </a:schemeClr>
                      </a:solidFill>
                      <a:latin typeface="+mn-lt"/>
                      <a:ea typeface="+mn-ea"/>
                      <a:cs typeface="+mn-cs"/>
                    </a:defRPr>
                  </a:pPr>
                  <a:endParaRPr lang="en-US"/>
                </a:p>
              </c:txPr>
              <c:dLblPos val="ctr"/>
              <c:showLegendKey val="0"/>
              <c:showVal val="0"/>
              <c:showCatName val="1"/>
              <c:showSerName val="0"/>
              <c:showPercent val="1"/>
              <c:showBubbleSize val="0"/>
              <c:extLst>
                <c:ext xmlns:c16="http://schemas.microsoft.com/office/drawing/2014/chart" uri="{C3380CC4-5D6E-409C-BE32-E72D297353CC}">
                  <c16:uniqueId val="{00000003-FB0A-4D94-A058-615816B9413A}"/>
                </c:ext>
              </c:extLst>
            </c:dLbl>
            <c:spPr>
              <a:noFill/>
              <a:ln>
                <a:noFill/>
              </a:ln>
              <a:effectLst/>
            </c:spPr>
            <c:txPr>
              <a:bodyPr rot="0" spcFirstLastPara="1" vertOverflow="ellipsis" vert="horz" wrap="square" lIns="38100" tIns="19050" rIns="38100" bIns="19050" anchor="ctr" anchorCtr="1">
                <a:spAutoFit/>
              </a:bodyPr>
              <a:lstStyle/>
              <a:p>
                <a:pPr>
                  <a:defRPr sz="1050" b="1" i="0" u="none" strike="noStrike" kern="1200" spc="0" baseline="0">
                    <a:solidFill>
                      <a:schemeClr val="bg1">
                        <a:lumMod val="95000"/>
                      </a:schemeClr>
                    </a:solidFill>
                    <a:latin typeface="+mn-lt"/>
                    <a:ea typeface="+mn-ea"/>
                    <a:cs typeface="+mn-cs"/>
                  </a:defRPr>
                </a:pPr>
                <a:endParaRPr lang="en-US"/>
              </a:p>
            </c:txPr>
            <c:dLblPos val="ctr"/>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'[Traffic Analysis data.xlsx]Analysis'!$L$79:$M$79</c:f>
              <c:strCache>
                <c:ptCount val="2"/>
                <c:pt idx="0">
                  <c:v>Male</c:v>
                </c:pt>
                <c:pt idx="1">
                  <c:v>Female</c:v>
                </c:pt>
              </c:strCache>
            </c:strRef>
          </c:cat>
          <c:val>
            <c:numRef>
              <c:f>'[Traffic Analysis data.xlsx]Analysis'!$L$80:$M$80</c:f>
              <c:numCache>
                <c:formatCode>0%</c:formatCode>
                <c:ptCount val="2"/>
                <c:pt idx="0">
                  <c:v>0.59090909090909094</c:v>
                </c:pt>
                <c:pt idx="1">
                  <c:v>0.40909090909090912</c:v>
                </c:pt>
              </c:numCache>
            </c:numRef>
          </c:val>
          <c:extLst>
            <c:ext xmlns:c16="http://schemas.microsoft.com/office/drawing/2014/chart" uri="{C3380CC4-5D6E-409C-BE32-E72D297353CC}">
              <c16:uniqueId val="{00000004-FB0A-4D94-A058-615816B9413A}"/>
            </c:ext>
          </c:extLst>
        </c:ser>
        <c:dLbls>
          <c:dLblPos val="outEnd"/>
          <c:showLegendKey val="0"/>
          <c:showVal val="0"/>
          <c:showCatName val="1"/>
          <c:showSerName val="0"/>
          <c:showPercent val="0"/>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50" b="0" i="0" u="none" strike="noStrike" kern="1200" cap="none" spc="50" normalizeH="0" baseline="0">
                <a:solidFill>
                  <a:schemeClr val="tx1">
                    <a:lumMod val="65000"/>
                    <a:lumOff val="35000"/>
                  </a:schemeClr>
                </a:solidFill>
                <a:latin typeface="+mj-lt"/>
                <a:ea typeface="+mj-ea"/>
                <a:cs typeface="+mj-cs"/>
              </a:defRPr>
            </a:pPr>
            <a:r>
              <a:rPr lang="en-IN" sz="1200" dirty="0"/>
              <a:t>Types of Vehicles Used by Different Occupations</a:t>
            </a:r>
          </a:p>
        </c:rich>
      </c:tx>
      <c:overlay val="0"/>
      <c:spPr>
        <a:noFill/>
        <a:ln>
          <a:noFill/>
        </a:ln>
        <a:effectLst/>
      </c:spPr>
      <c:txPr>
        <a:bodyPr rot="0" spcFirstLastPara="1" vertOverflow="ellipsis" vert="horz" wrap="square" anchor="ctr" anchorCtr="1"/>
        <a:lstStyle/>
        <a:p>
          <a:pPr>
            <a:defRPr sz="1050" b="0" i="0" u="none" strike="noStrike" kern="1200" cap="none" spc="50" normalizeH="0" baseline="0">
              <a:solidFill>
                <a:schemeClr val="tx1">
                  <a:lumMod val="65000"/>
                  <a:lumOff val="35000"/>
                </a:schemeClr>
              </a:solidFill>
              <a:latin typeface="+mj-lt"/>
              <a:ea typeface="+mj-ea"/>
              <a:cs typeface="+mj-cs"/>
            </a:defRPr>
          </a:pPr>
          <a:endParaRPr lang="en-US"/>
        </a:p>
      </c:txPr>
    </c:title>
    <c:autoTitleDeleted val="0"/>
    <c:plotArea>
      <c:layout/>
      <c:barChart>
        <c:barDir val="col"/>
        <c:grouping val="clustered"/>
        <c:varyColors val="0"/>
        <c:ser>
          <c:idx val="0"/>
          <c:order val="0"/>
          <c:tx>
            <c:strRef>
              <c:f>Analysis!$M$46</c:f>
              <c:strCache>
                <c:ptCount val="1"/>
                <c:pt idx="0">
                  <c:v> Four Wheelers
</c:v>
                </c:pt>
              </c:strCache>
            </c:strRef>
          </c:tx>
          <c:spPr>
            <a:solidFill>
              <a:schemeClr val="accent1">
                <a:alpha val="70000"/>
              </a:schemeClr>
            </a:solidFill>
            <a:ln>
              <a:noFill/>
            </a:ln>
            <a:effectLst/>
          </c:spPr>
          <c:invertIfNegative val="0"/>
          <c:cat>
            <c:strRef>
              <c:f>Analysis!$L$47:$L$51</c:f>
              <c:strCache>
                <c:ptCount val="5"/>
                <c:pt idx="0">
                  <c:v>Housewife</c:v>
                </c:pt>
                <c:pt idx="1">
                  <c:v>Professional (CA, Lawyer etc.)</c:v>
                </c:pt>
                <c:pt idx="2">
                  <c:v>Business</c:v>
                </c:pt>
                <c:pt idx="3">
                  <c:v>Pvt. or Govt. job</c:v>
                </c:pt>
                <c:pt idx="4">
                  <c:v>Student</c:v>
                </c:pt>
              </c:strCache>
            </c:strRef>
          </c:cat>
          <c:val>
            <c:numRef>
              <c:f>Analysis!$M$47:$M$51</c:f>
              <c:numCache>
                <c:formatCode>General</c:formatCode>
                <c:ptCount val="5"/>
                <c:pt idx="0">
                  <c:v>0</c:v>
                </c:pt>
                <c:pt idx="1">
                  <c:v>7</c:v>
                </c:pt>
                <c:pt idx="2">
                  <c:v>10</c:v>
                </c:pt>
                <c:pt idx="3">
                  <c:v>16</c:v>
                </c:pt>
                <c:pt idx="4">
                  <c:v>33</c:v>
                </c:pt>
              </c:numCache>
            </c:numRef>
          </c:val>
          <c:extLst>
            <c:ext xmlns:c16="http://schemas.microsoft.com/office/drawing/2014/chart" uri="{C3380CC4-5D6E-409C-BE32-E72D297353CC}">
              <c16:uniqueId val="{00000000-BA09-4F50-8164-6A65306CC156}"/>
            </c:ext>
          </c:extLst>
        </c:ser>
        <c:ser>
          <c:idx val="1"/>
          <c:order val="1"/>
          <c:tx>
            <c:strRef>
              <c:f>Analysis!$N$46</c:f>
              <c:strCache>
                <c:ptCount val="1"/>
                <c:pt idx="0">
                  <c:v>Two wheelers</c:v>
                </c:pt>
              </c:strCache>
            </c:strRef>
          </c:tx>
          <c:spPr>
            <a:solidFill>
              <a:schemeClr val="accent2">
                <a:alpha val="7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Analysis!$L$47:$L$51</c:f>
              <c:strCache>
                <c:ptCount val="5"/>
                <c:pt idx="0">
                  <c:v>Housewife</c:v>
                </c:pt>
                <c:pt idx="1">
                  <c:v>Professional (CA, Lawyer etc.)</c:v>
                </c:pt>
                <c:pt idx="2">
                  <c:v>Business</c:v>
                </c:pt>
                <c:pt idx="3">
                  <c:v>Pvt. or Govt. job</c:v>
                </c:pt>
                <c:pt idx="4">
                  <c:v>Student</c:v>
                </c:pt>
              </c:strCache>
            </c:strRef>
          </c:cat>
          <c:val>
            <c:numRef>
              <c:f>Analysis!$N$47:$N$51</c:f>
              <c:numCache>
                <c:formatCode>General</c:formatCode>
                <c:ptCount val="5"/>
                <c:pt idx="0">
                  <c:v>1</c:v>
                </c:pt>
                <c:pt idx="1">
                  <c:v>8</c:v>
                </c:pt>
                <c:pt idx="2">
                  <c:v>14</c:v>
                </c:pt>
                <c:pt idx="3">
                  <c:v>31</c:v>
                </c:pt>
                <c:pt idx="4">
                  <c:v>61</c:v>
                </c:pt>
              </c:numCache>
            </c:numRef>
          </c:val>
          <c:extLst>
            <c:ext xmlns:c16="http://schemas.microsoft.com/office/drawing/2014/chart" uri="{C3380CC4-5D6E-409C-BE32-E72D297353CC}">
              <c16:uniqueId val="{00000001-BA09-4F50-8164-6A65306CC156}"/>
            </c:ext>
          </c:extLst>
        </c:ser>
        <c:ser>
          <c:idx val="2"/>
          <c:order val="2"/>
          <c:tx>
            <c:strRef>
              <c:f>Analysis!$O$46</c:f>
              <c:strCache>
                <c:ptCount val="1"/>
                <c:pt idx="0">
                  <c:v>Auto rikshaws</c:v>
                </c:pt>
              </c:strCache>
            </c:strRef>
          </c:tx>
          <c:spPr>
            <a:solidFill>
              <a:schemeClr val="accent3">
                <a:alpha val="70000"/>
              </a:schemeClr>
            </a:solidFill>
            <a:ln>
              <a:noFill/>
            </a:ln>
            <a:effectLst/>
          </c:spPr>
          <c:invertIfNegative val="0"/>
          <c:cat>
            <c:strRef>
              <c:f>Analysis!$L$47:$L$51</c:f>
              <c:strCache>
                <c:ptCount val="5"/>
                <c:pt idx="0">
                  <c:v>Housewife</c:v>
                </c:pt>
                <c:pt idx="1">
                  <c:v>Professional (CA, Lawyer etc.)</c:v>
                </c:pt>
                <c:pt idx="2">
                  <c:v>Business</c:v>
                </c:pt>
                <c:pt idx="3">
                  <c:v>Pvt. or Govt. job</c:v>
                </c:pt>
                <c:pt idx="4">
                  <c:v>Student</c:v>
                </c:pt>
              </c:strCache>
            </c:strRef>
          </c:cat>
          <c:val>
            <c:numRef>
              <c:f>Analysis!$O$47:$O$51</c:f>
              <c:numCache>
                <c:formatCode>General</c:formatCode>
                <c:ptCount val="5"/>
                <c:pt idx="0">
                  <c:v>1</c:v>
                </c:pt>
                <c:pt idx="1">
                  <c:v>2</c:v>
                </c:pt>
                <c:pt idx="2">
                  <c:v>3</c:v>
                </c:pt>
                <c:pt idx="3">
                  <c:v>11</c:v>
                </c:pt>
                <c:pt idx="4">
                  <c:v>29</c:v>
                </c:pt>
              </c:numCache>
            </c:numRef>
          </c:val>
          <c:extLst>
            <c:ext xmlns:c16="http://schemas.microsoft.com/office/drawing/2014/chart" uri="{C3380CC4-5D6E-409C-BE32-E72D297353CC}">
              <c16:uniqueId val="{00000002-BA09-4F50-8164-6A65306CC156}"/>
            </c:ext>
          </c:extLst>
        </c:ser>
        <c:dLbls>
          <c:showLegendKey val="0"/>
          <c:showVal val="0"/>
          <c:showCatName val="0"/>
          <c:showSerName val="0"/>
          <c:showPercent val="0"/>
          <c:showBubbleSize val="0"/>
        </c:dLbls>
        <c:gapWidth val="80"/>
        <c:overlap val="25"/>
        <c:axId val="-820989152"/>
        <c:axId val="-820992960"/>
      </c:barChart>
      <c:catAx>
        <c:axId val="-820989152"/>
        <c:scaling>
          <c:orientation val="minMax"/>
        </c:scaling>
        <c:delete val="0"/>
        <c:axPos val="b"/>
        <c:numFmt formatCode="General" sourceLinked="1"/>
        <c:majorTickMark val="none"/>
        <c:minorTickMark val="none"/>
        <c:tickLblPos val="nextTo"/>
        <c:spPr>
          <a:noFill/>
          <a:ln w="1587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cap="none" spc="20" normalizeH="0" baseline="0">
                <a:solidFill>
                  <a:schemeClr val="tx1">
                    <a:lumMod val="65000"/>
                    <a:lumOff val="35000"/>
                  </a:schemeClr>
                </a:solidFill>
                <a:latin typeface="+mn-lt"/>
                <a:ea typeface="+mn-ea"/>
                <a:cs typeface="+mn-cs"/>
              </a:defRPr>
            </a:pPr>
            <a:endParaRPr lang="en-US"/>
          </a:p>
        </c:txPr>
        <c:crossAx val="-820992960"/>
        <c:crosses val="autoZero"/>
        <c:auto val="1"/>
        <c:lblAlgn val="ctr"/>
        <c:lblOffset val="100"/>
        <c:noMultiLvlLbl val="0"/>
      </c:catAx>
      <c:valAx>
        <c:axId val="-820992960"/>
        <c:scaling>
          <c:orientation val="minMax"/>
          <c:max val="65"/>
          <c:min val="0"/>
        </c:scaling>
        <c:delete val="0"/>
        <c:axPos val="l"/>
        <c:majorGridlines>
          <c:spPr>
            <a:ln w="9525" cap="flat" cmpd="sng" algn="ctr">
              <a:solidFill>
                <a:schemeClr val="tx1">
                  <a:lumMod val="5000"/>
                  <a:lumOff val="9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spc="20" baseline="0">
                <a:solidFill>
                  <a:schemeClr val="tx1">
                    <a:lumMod val="65000"/>
                    <a:lumOff val="35000"/>
                  </a:schemeClr>
                </a:solidFill>
                <a:latin typeface="+mn-lt"/>
                <a:ea typeface="+mn-ea"/>
                <a:cs typeface="+mn-cs"/>
              </a:defRPr>
            </a:pPr>
            <a:endParaRPr lang="en-US"/>
          </a:p>
        </c:txPr>
        <c:crossAx val="-82098915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withinLinear" id="17">
  <a:schemeClr val="accent4"/>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5">
  <cs:axisTitle>
    <cs:lnRef idx="0"/>
    <cs:fillRef idx="0"/>
    <cs:effectRef idx="0"/>
    <cs:fontRef idx="minor">
      <a:schemeClr val="tx2"/>
    </cs:fontRef>
    <cs:defRPr sz="900"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900" kern="1200"/>
  </cs:chartArea>
  <cs:dataLabel>
    <cs:lnRef idx="0"/>
    <cs:fillRef idx="0"/>
    <cs:effectRef idx="0"/>
    <cs:fontRef idx="minor">
      <a:schemeClr val="tx2"/>
    </cs:fontRef>
    <cs:defRPr sz="900"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900"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900"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1600"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900"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900" kern="1200"/>
  </cs:valueAxis>
  <cs:wall>
    <cs:lnRef idx="0"/>
    <cs:fillRef idx="0"/>
    <cs:effectRef idx="0"/>
    <cs:fontRef idx="minor">
      <a:schemeClr val="tx2"/>
    </cs:fontRef>
  </cs:wall>
</cs:chartStyle>
</file>

<file path=ppt/charts/style3.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4">
  <cs:axisTitle>
    <cs:lnRef idx="0"/>
    <cs:fillRef idx="0"/>
    <cs:effectRef idx="0"/>
    <cs:fontRef idx="minor">
      <a:schemeClr val="tx1">
        <a:lumMod val="50000"/>
        <a:lumOff val="50000"/>
      </a:schemeClr>
    </cs:fontRef>
    <cs:defRPr sz="1197"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65000"/>
        <a:lumOff val="3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fillRef idx="2">
      <cs:styleClr val="auto"/>
    </cs:fillRef>
    <cs:effectRef idx="1"/>
    <cs:fontRef idx="minor">
      <a:schemeClr val="dk1"/>
    </cs:fontRef>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862"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1197"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259">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cs:styleClr val="auto"/>
    </cs:fontRef>
    <cs:defRPr sz="1000" b="1" i="0" u="none" strike="noStrike" kern="1200" spc="0" baseline="0"/>
  </cs:dataLabel>
  <cs:dataLabelCallout>
    <cs:lnRef idx="0">
      <cs:styleClr val="auto"/>
    </cs:lnRef>
    <cs:fillRef idx="0"/>
    <cs:effectRef idx="0"/>
    <cs:fontRef idx="minor">
      <cs:styleClr val="auto"/>
    </cs:fontRef>
    <cs:spPr>
      <a:solidFill>
        <a:schemeClr val="lt1"/>
      </a:solidFill>
      <a:ln>
        <a:solidFill>
          <a:schemeClr val="phClr"/>
        </a:solidFill>
      </a:ln>
    </cs:spPr>
    <cs:defRPr sz="10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635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10000"/>
          </a:prstClr>
        </a:outerShdw>
      </a:effectLst>
      <a:scene3d>
        <a:camera prst="orthographicFront"/>
        <a:lightRig rig="threePt" dir="t"/>
      </a:scene3d>
      <a:sp3d>
        <a:bevelT w="127000" h="127000"/>
        <a:bevelB w="127000" h="127000"/>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15">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15875" cap="flat" cmpd="sng" algn="ctr">
        <a:solidFill>
          <a:schemeClr val="tx1">
            <a:lumMod val="25000"/>
            <a:lumOff val="75000"/>
          </a:schemeClr>
        </a:solidFill>
        <a:round/>
      </a:ln>
    </cs:spPr>
    <cs:defRPr sz="900" kern="1200" cap="none" spc="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bg1"/>
    </cs:fontRef>
    <cs:spPr>
      <a:solidFill>
        <a:schemeClr val="tx1">
          <a:lumMod val="50000"/>
          <a:lumOff val="50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70000"/>
        </a:schemeClr>
      </a:solidFill>
    </cs:spPr>
  </cs:dataPoint>
  <cs:dataPoint3D>
    <cs:lnRef idx="0"/>
    <cs:fillRef idx="0">
      <cs:styleClr val="auto"/>
    </cs:fillRef>
    <cs:effectRef idx="0"/>
    <cs:fontRef idx="minor">
      <a:schemeClr val="dk1"/>
    </cs:fontRef>
    <cs:spPr>
      <a:solidFill>
        <a:schemeClr val="phClr">
          <a:alpha val="70000"/>
        </a:schemeClr>
      </a:solidFill>
    </cs:spPr>
  </cs:dataPoint3D>
  <cs:dataPointLine>
    <cs:lnRef idx="0">
      <cs:styleClr val="auto"/>
    </cs:lnRef>
    <cs:fillRef idx="0"/>
    <cs:effectRef idx="0"/>
    <cs:fontRef idx="minor">
      <a:schemeClr val="dk1"/>
    </cs:fontRef>
    <cs:spPr>
      <a:ln w="28575" cap="rnd">
        <a:solidFill>
          <a:schemeClr val="phClr">
            <a:alpha val="70000"/>
          </a:schemeClr>
        </a:solidFill>
        <a:round/>
      </a:ln>
    </cs:spPr>
  </cs:dataPointLine>
  <cs:dataPointMarker>
    <cs:lnRef idx="0"/>
    <cs:fillRef idx="0">
      <cs:styleClr val="auto"/>
    </cs:fillRef>
    <cs:effectRef idx="0"/>
    <cs:fontRef idx="minor">
      <a:schemeClr val="dk1"/>
    </cs:fontRef>
    <cs:spPr>
      <a:solidFill>
        <a:schemeClr val="phClr">
          <a:alpha val="70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5000"/>
            <a:lumOff val="9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baseline="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1600" b="0" i="0" kern="1200" cap="none" spc="50" normalizeH="0" baseline="0"/>
  </cs:title>
  <cs:trendline>
    <cs:lnRef idx="0">
      <cs:styleClr val="auto"/>
    </cs:lnRef>
    <cs:fillRef idx="0"/>
    <cs:effectRef idx="0"/>
    <cs:fontRef idx="minor">
      <a:schemeClr val="dk1"/>
    </cs:fontRef>
    <cs:spPr>
      <a:ln w="15875"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900" kern="1200" spc="20" baseline="0"/>
  </cs:valueAxis>
  <cs:wall>
    <cs:lnRef idx="0"/>
    <cs:fillRef idx="0"/>
    <cs:effectRef idx="0"/>
    <cs:fontRef idx="minor">
      <a:schemeClr val="dk1"/>
    </cs:fontRef>
  </cs:wall>
</cs:chartStyle>
</file>

<file path=ppt/diagrams/colors1.xml><?xml version="1.0" encoding="utf-8"?>
<dgm:colorsDef xmlns:dgm="http://schemas.openxmlformats.org/drawingml/2006/diagram" xmlns:a="http://schemas.openxmlformats.org/drawingml/2006/main" uniqueId="urn:microsoft.com/office/officeart/2005/8/colors/accent3_4">
  <dgm:title val=""/>
  <dgm:desc val=""/>
  <dgm:catLst>
    <dgm:cat type="accent3" pri="11400"/>
  </dgm:catLst>
  <dgm:styleLbl name="node0">
    <dgm:fillClrLst meth="cycle">
      <a:schemeClr val="accent3">
        <a:shade val="60000"/>
      </a:schemeClr>
    </dgm:fillClrLst>
    <dgm:linClrLst meth="repeat">
      <a:schemeClr val="lt1"/>
    </dgm:linClrLst>
    <dgm:effectClrLst/>
    <dgm:txLinClrLst/>
    <dgm:txFillClrLst/>
    <dgm:txEffectClrLst/>
  </dgm:styleLbl>
  <dgm:styleLbl name="node1">
    <dgm:fillClrLst meth="cycle">
      <a:schemeClr val="accent3">
        <a:shade val="50000"/>
      </a:schemeClr>
      <a:schemeClr val="accent3">
        <a:tint val="55000"/>
      </a:schemeClr>
    </dgm:fillClrLst>
    <dgm:linClrLst meth="repeat">
      <a:schemeClr val="lt1"/>
    </dgm:linClrLst>
    <dgm:effectClrLst/>
    <dgm:txLinClrLst/>
    <dgm:txFillClrLst/>
    <dgm:txEffectClrLst/>
  </dgm:styleLbl>
  <dgm:styleLbl name="alignNode1">
    <dgm:fillClrLst meth="cycle">
      <a:schemeClr val="accent3">
        <a:shade val="50000"/>
      </a:schemeClr>
      <a:schemeClr val="accent3">
        <a:tint val="55000"/>
      </a:schemeClr>
    </dgm:fillClrLst>
    <dgm:linClrLst meth="cycle">
      <a:schemeClr val="accent3">
        <a:shade val="50000"/>
      </a:schemeClr>
      <a:schemeClr val="accent3">
        <a:tint val="55000"/>
      </a:schemeClr>
    </dgm:linClrLst>
    <dgm:effectClrLst/>
    <dgm:txLinClrLst/>
    <dgm:txFillClrLst/>
    <dgm:txEffectClrLst/>
  </dgm:styleLbl>
  <dgm:styleLbl name="lnNode1">
    <dgm:fillClrLst meth="cycle">
      <a:schemeClr val="accent3">
        <a:shade val="50000"/>
      </a:schemeClr>
      <a:schemeClr val="accent3">
        <a:tint val="55000"/>
      </a:schemeClr>
    </dgm:fillClrLst>
    <dgm:linClrLst meth="repeat">
      <a:schemeClr val="lt1"/>
    </dgm:linClrLst>
    <dgm:effectClrLst/>
    <dgm:txLinClrLst/>
    <dgm:txFillClrLst/>
    <dgm:txEffectClrLst/>
  </dgm:styleLbl>
  <dgm:styleLbl name="vennNode1">
    <dgm:fillClrLst meth="cycle">
      <a:schemeClr val="accent3">
        <a:shade val="80000"/>
        <a:alpha val="50000"/>
      </a:schemeClr>
      <a:schemeClr val="accent3">
        <a:tint val="50000"/>
        <a:alpha val="50000"/>
      </a:schemeClr>
    </dgm:fillClrLst>
    <dgm:linClrLst meth="repeat">
      <a:schemeClr val="lt1"/>
    </dgm:linClrLst>
    <dgm:effectClrLst/>
    <dgm:txLinClrLst/>
    <dgm:txFillClrLst/>
    <dgm:txEffectClrLst/>
  </dgm:styleLbl>
  <dgm:styleLbl name="node2">
    <dgm:fillClrLst>
      <a:schemeClr val="accent3">
        <a:shade val="80000"/>
      </a:schemeClr>
    </dgm:fillClrLst>
    <dgm:linClrLst meth="repeat">
      <a:schemeClr val="lt1"/>
    </dgm:linClrLst>
    <dgm:effectClrLst/>
    <dgm:txLinClrLst/>
    <dgm:txFillClrLst/>
    <dgm:txEffectClrLst/>
  </dgm:styleLbl>
  <dgm:styleLbl name="node3">
    <dgm:fillClrLst>
      <a:schemeClr val="accent3">
        <a:tint val="99000"/>
      </a:schemeClr>
    </dgm:fillClrLst>
    <dgm:linClrLst meth="repeat">
      <a:schemeClr val="lt1"/>
    </dgm:linClrLst>
    <dgm:effectClrLst/>
    <dgm:txLinClrLst/>
    <dgm:txFillClrLst/>
    <dgm:txEffectClrLst/>
  </dgm:styleLbl>
  <dgm:styleLbl name="node4">
    <dgm:fillClrLst>
      <a:schemeClr val="accent3">
        <a:tint val="70000"/>
      </a:schemeClr>
    </dgm:fillClrLst>
    <dgm:linClrLst meth="repeat">
      <a:schemeClr val="lt1"/>
    </dgm:linClrLst>
    <dgm:effectClrLst/>
    <dgm:txLinClrLst/>
    <dgm:txFillClrLst/>
    <dgm:txEffectClrLst/>
  </dgm:styleLbl>
  <dgm:styleLbl name="fgImgPlace1">
    <dgm:fillClrLst>
      <a:schemeClr val="accent3">
        <a:tint val="50000"/>
      </a:schemeClr>
      <a:schemeClr val="accent3">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dgm:txEffectClrLst/>
  </dgm:styleLbl>
  <dgm:styleLbl name="fgSibTrans2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dgm:txEffectClrLst/>
  </dgm:styleLbl>
  <dgm:styleLbl name="bgSibTrans2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dgm:txEffectClrLst/>
  </dgm:styleLbl>
  <dgm:styleLbl name="sibTrans1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shade val="80000"/>
      </a:schemeClr>
    </dgm:fillClrLst>
    <dgm:linClrLst meth="repeat">
      <a:schemeClr val="lt1"/>
    </dgm:linClrLst>
    <dgm:effectClrLst/>
    <dgm:txLinClrLst/>
    <dgm:txFillClrLst/>
    <dgm:txEffectClrLst/>
  </dgm:styleLbl>
  <dgm:styleLbl name="asst1">
    <dgm:fillClrLst meth="repeat">
      <a:schemeClr val="accent3">
        <a:shade val="80000"/>
      </a:schemeClr>
    </dgm:fillClrLst>
    <dgm:linClrLst meth="repeat">
      <a:schemeClr val="lt1"/>
    </dgm:linClrLst>
    <dgm:effectClrLst/>
    <dgm:txLinClrLst/>
    <dgm:txFillClrLst/>
    <dgm:txEffectClrLst/>
  </dgm:styleLbl>
  <dgm:styleLbl name="asst2">
    <dgm:fillClrLst>
      <a:schemeClr val="accent3">
        <a:tint val="90000"/>
      </a:schemeClr>
    </dgm:fillClrLst>
    <dgm:linClrLst meth="repeat">
      <a:schemeClr val="lt1"/>
    </dgm:linClrLst>
    <dgm:effectClrLst/>
    <dgm:txLinClrLst/>
    <dgm:txFillClrLst/>
    <dgm:txEffectClrLst/>
  </dgm:styleLbl>
  <dgm:styleLbl name="asst3">
    <dgm:fillClrLst>
      <a:schemeClr val="accent3">
        <a:tint val="70000"/>
      </a:schemeClr>
    </dgm:fillClrLst>
    <dgm:linClrLst meth="repeat">
      <a:schemeClr val="lt1"/>
    </dgm:linClrLst>
    <dgm:effectClrLst/>
    <dgm:txLinClrLst/>
    <dgm:txFillClrLst/>
    <dgm:txEffectClrLst/>
  </dgm:styleLbl>
  <dgm:styleLbl name="asst4">
    <dgm:fillClrLst>
      <a:schemeClr val="accent3">
        <a:tint val="50000"/>
      </a:schemeClr>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shade val="80000"/>
      </a:schemeClr>
    </dgm:linClrLst>
    <dgm:effectClrLst/>
    <dgm:txLinClrLst/>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dk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3">
        <a:tint val="90000"/>
      </a:schemeClr>
    </dgm:linClrLst>
    <dgm:effectClrLst/>
    <dgm:txLinClrLst/>
    <dgm:txFillClrLst meth="repeat">
      <a:schemeClr val="tx1"/>
    </dgm:txFillClrLst>
    <dgm:txEffectClrLst/>
  </dgm:styleLbl>
  <dgm:styleLbl name="parChTrans1D3">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parChTrans1D4">
    <dgm:fillClrLst meth="repeat">
      <a:schemeClr val="accent3">
        <a:tint val="50000"/>
      </a:schemeClr>
    </dgm:fillClrLst>
    <dgm:linClrLst meth="repeat">
      <a:schemeClr val="accent3">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55000"/>
      </a:schemeClr>
    </dgm:fillClrLst>
    <dgm:linClrLst meth="repeat">
      <a:schemeClr val="accent3">
        <a:alpha val="90000"/>
        <a:tint val="55000"/>
      </a:schemeClr>
    </dgm:linClrLst>
    <dgm:effectClrLst/>
    <dgm:txLinClrLst/>
    <dgm:txFillClrLst meth="repeat">
      <a:schemeClr val="dk1"/>
    </dgm:txFillClrLst>
    <dgm:txEffectClrLst/>
  </dgm:styleLbl>
  <dgm:styleLbl name="alignAccFollowNode1">
    <dgm:fillClrLst meth="repeat">
      <a:schemeClr val="accent3">
        <a:alpha val="90000"/>
        <a:tint val="55000"/>
      </a:schemeClr>
    </dgm:fillClrLst>
    <dgm:linClrLst meth="repeat">
      <a:schemeClr val="accent3">
        <a:alpha val="90000"/>
        <a:tint val="55000"/>
      </a:schemeClr>
    </dgm:linClrLst>
    <dgm:effectClrLst/>
    <dgm:txLinClrLst/>
    <dgm:txFillClrLst meth="repeat">
      <a:schemeClr val="dk1"/>
    </dgm:txFillClrLst>
    <dgm:txEffectClrLst/>
  </dgm:styleLbl>
  <dgm:styleLbl name="bgAccFollowNode1">
    <dgm:fillClrLst meth="repeat">
      <a:schemeClr val="accent3">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50000"/>
      </a:schemeClr>
    </dgm:linClrLst>
    <dgm:effectClrLst/>
    <dgm:txLinClrLst/>
    <dgm:txFillClrLst meth="repeat">
      <a:schemeClr val="dk1"/>
    </dgm:txFillClrLst>
    <dgm:txEffectClrLst/>
  </dgm:styleLbl>
  <dgm:styleLbl name="bgShp">
    <dgm:fillClrLst meth="repeat">
      <a:schemeClr val="accent3">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55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976353C-9143-426E-B268-8DB42D4CF8CA}" type="doc">
      <dgm:prSet loTypeId="urn:microsoft.com/office/officeart/2005/8/layout/target1" loCatId="relationship" qsTypeId="urn:microsoft.com/office/officeart/2005/8/quickstyle/simple4" qsCatId="simple" csTypeId="urn:microsoft.com/office/officeart/2005/8/colors/accent3_4" csCatId="accent3" phldr="1"/>
      <dgm:spPr/>
    </dgm:pt>
    <dgm:pt modelId="{FE2E086A-CB75-407F-9CD2-094A9F4A6E41}">
      <dgm:prSet phldrT="[Text]" custT="1"/>
      <dgm:spPr/>
      <dgm:t>
        <a:bodyPr/>
        <a:lstStyle/>
        <a:p>
          <a:r>
            <a:rPr lang="en-IN" sz="1000" b="0" i="0" u="none" dirty="0"/>
            <a:t>Usage of Government Vehicles</a:t>
          </a:r>
          <a:endParaRPr lang="en-IN" sz="1000" dirty="0"/>
        </a:p>
      </dgm:t>
    </dgm:pt>
    <dgm:pt modelId="{04DDC853-608E-446B-9521-4D574405B7C3}" type="parTrans" cxnId="{5933543F-FAEC-4503-B19D-5DE0CCE3C898}">
      <dgm:prSet/>
      <dgm:spPr/>
      <dgm:t>
        <a:bodyPr/>
        <a:lstStyle/>
        <a:p>
          <a:endParaRPr lang="en-IN"/>
        </a:p>
      </dgm:t>
    </dgm:pt>
    <dgm:pt modelId="{3C612684-3338-41C6-B200-C29BC6502889}" type="sibTrans" cxnId="{5933543F-FAEC-4503-B19D-5DE0CCE3C898}">
      <dgm:prSet/>
      <dgm:spPr/>
      <dgm:t>
        <a:bodyPr/>
        <a:lstStyle/>
        <a:p>
          <a:endParaRPr lang="en-IN"/>
        </a:p>
      </dgm:t>
    </dgm:pt>
    <dgm:pt modelId="{42C5646F-07F5-4FA5-BEB7-15E65767E6B1}">
      <dgm:prSet phldrT="[Text]"/>
      <dgm:spPr/>
      <dgm:t>
        <a:bodyPr/>
        <a:lstStyle/>
        <a:p>
          <a:r>
            <a:rPr lang="en-IN"/>
            <a:t>Connected to Highway</a:t>
          </a:r>
        </a:p>
      </dgm:t>
    </dgm:pt>
    <dgm:pt modelId="{C8850AE3-3C22-4E37-9969-BDCBE59FF2E9}" type="parTrans" cxnId="{E5DA07B7-FEEE-4241-9F75-719C7133984E}">
      <dgm:prSet/>
      <dgm:spPr/>
      <dgm:t>
        <a:bodyPr/>
        <a:lstStyle/>
        <a:p>
          <a:endParaRPr lang="en-IN"/>
        </a:p>
      </dgm:t>
    </dgm:pt>
    <dgm:pt modelId="{5334E332-EFD9-43EF-A7FC-2D91FCF040EF}" type="sibTrans" cxnId="{E5DA07B7-FEEE-4241-9F75-719C7133984E}">
      <dgm:prSet/>
      <dgm:spPr/>
      <dgm:t>
        <a:bodyPr/>
        <a:lstStyle/>
        <a:p>
          <a:endParaRPr lang="en-IN"/>
        </a:p>
      </dgm:t>
    </dgm:pt>
    <dgm:pt modelId="{8FCF1F7E-C81E-46E9-8926-BFB1A0CDA762}">
      <dgm:prSet phldrT="[Text]"/>
      <dgm:spPr/>
      <dgm:t>
        <a:bodyPr/>
        <a:lstStyle/>
        <a:p>
          <a:r>
            <a:rPr lang="en-IN"/>
            <a:t>Overflow of Vehicle</a:t>
          </a:r>
        </a:p>
      </dgm:t>
    </dgm:pt>
    <dgm:pt modelId="{101734E0-D495-4D7D-9742-8AED56457A88}" type="parTrans" cxnId="{58C73174-3028-4139-839B-78C4D36CC7E9}">
      <dgm:prSet/>
      <dgm:spPr/>
      <dgm:t>
        <a:bodyPr/>
        <a:lstStyle/>
        <a:p>
          <a:endParaRPr lang="en-IN"/>
        </a:p>
      </dgm:t>
    </dgm:pt>
    <dgm:pt modelId="{53640B1D-1EAE-400C-AF2F-DD9676781800}" type="sibTrans" cxnId="{58C73174-3028-4139-839B-78C4D36CC7E9}">
      <dgm:prSet/>
      <dgm:spPr/>
      <dgm:t>
        <a:bodyPr/>
        <a:lstStyle/>
        <a:p>
          <a:endParaRPr lang="en-IN"/>
        </a:p>
      </dgm:t>
    </dgm:pt>
    <dgm:pt modelId="{3F3805B8-4084-42D5-B93F-9678A7917459}">
      <dgm:prSet phldrT="[Text]"/>
      <dgm:spPr/>
      <dgm:t>
        <a:bodyPr/>
        <a:lstStyle/>
        <a:p>
          <a:r>
            <a:rPr lang="en-IN"/>
            <a:t>More people near Mall and Metro Station</a:t>
          </a:r>
        </a:p>
      </dgm:t>
    </dgm:pt>
    <dgm:pt modelId="{66CD1A44-D708-4EE1-A931-3F9ACC16B908}" type="parTrans" cxnId="{BE1C5557-394C-4809-9451-780F012C7F23}">
      <dgm:prSet/>
      <dgm:spPr/>
      <dgm:t>
        <a:bodyPr/>
        <a:lstStyle/>
        <a:p>
          <a:endParaRPr lang="en-IN"/>
        </a:p>
      </dgm:t>
    </dgm:pt>
    <dgm:pt modelId="{80B6DFF1-225B-4B10-8C11-82EE0A7C618F}" type="sibTrans" cxnId="{BE1C5557-394C-4809-9451-780F012C7F23}">
      <dgm:prSet/>
      <dgm:spPr/>
      <dgm:t>
        <a:bodyPr/>
        <a:lstStyle/>
        <a:p>
          <a:endParaRPr lang="en-IN"/>
        </a:p>
      </dgm:t>
    </dgm:pt>
    <dgm:pt modelId="{4AA0CCC6-124C-4395-86E7-7206E911823A}">
      <dgm:prSet phldrT="[Text]"/>
      <dgm:spPr/>
      <dgm:t>
        <a:bodyPr/>
        <a:lstStyle/>
        <a:p>
          <a:r>
            <a:rPr lang="en-IN" dirty="0"/>
            <a:t>Road Design Issue</a:t>
          </a:r>
        </a:p>
      </dgm:t>
    </dgm:pt>
    <dgm:pt modelId="{0BD6C11C-69BB-42E7-B3BC-E2E6BF9A76E6}" type="parTrans" cxnId="{4F514761-A3E4-47DD-B921-938A60D7E22F}">
      <dgm:prSet/>
      <dgm:spPr/>
      <dgm:t>
        <a:bodyPr/>
        <a:lstStyle/>
        <a:p>
          <a:endParaRPr lang="en-IN"/>
        </a:p>
      </dgm:t>
    </dgm:pt>
    <dgm:pt modelId="{3FCCB0AC-C19A-4730-BCDE-7F2E2AE45807}" type="sibTrans" cxnId="{4F514761-A3E4-47DD-B921-938A60D7E22F}">
      <dgm:prSet/>
      <dgm:spPr/>
      <dgm:t>
        <a:bodyPr/>
        <a:lstStyle/>
        <a:p>
          <a:endParaRPr lang="en-IN"/>
        </a:p>
      </dgm:t>
    </dgm:pt>
    <dgm:pt modelId="{EAA6ABFB-E363-4E79-A17C-D0B092CD7CF6}" type="pres">
      <dgm:prSet presAssocID="{1976353C-9143-426E-B268-8DB42D4CF8CA}" presName="composite" presStyleCnt="0">
        <dgm:presLayoutVars>
          <dgm:chMax val="5"/>
          <dgm:dir/>
          <dgm:resizeHandles val="exact"/>
        </dgm:presLayoutVars>
      </dgm:prSet>
      <dgm:spPr/>
    </dgm:pt>
    <dgm:pt modelId="{4182155E-781E-4E54-89D7-BC8188F5A744}" type="pres">
      <dgm:prSet presAssocID="{FE2E086A-CB75-407F-9CD2-094A9F4A6E41}" presName="circle1" presStyleLbl="lnNode1" presStyleIdx="0" presStyleCnt="5"/>
      <dgm:spPr/>
    </dgm:pt>
    <dgm:pt modelId="{EE1FF1FD-A00B-4158-BFBB-28C61BE7E5AE}" type="pres">
      <dgm:prSet presAssocID="{FE2E086A-CB75-407F-9CD2-094A9F4A6E41}" presName="text1" presStyleLbl="revTx" presStyleIdx="0" presStyleCnt="5">
        <dgm:presLayoutVars>
          <dgm:bulletEnabled val="1"/>
        </dgm:presLayoutVars>
      </dgm:prSet>
      <dgm:spPr/>
    </dgm:pt>
    <dgm:pt modelId="{E88A4B30-6C86-46CA-B7F5-9CE85B2A6107}" type="pres">
      <dgm:prSet presAssocID="{FE2E086A-CB75-407F-9CD2-094A9F4A6E41}" presName="line1" presStyleLbl="callout" presStyleIdx="0" presStyleCnt="10"/>
      <dgm:spPr/>
    </dgm:pt>
    <dgm:pt modelId="{712153F9-D3AF-4B36-9EF6-4B42F8CE4409}" type="pres">
      <dgm:prSet presAssocID="{FE2E086A-CB75-407F-9CD2-094A9F4A6E41}" presName="d1" presStyleLbl="callout" presStyleIdx="1" presStyleCnt="10"/>
      <dgm:spPr/>
    </dgm:pt>
    <dgm:pt modelId="{7F7EE19A-8F3A-4724-BEAD-BD0ACF0F7A40}" type="pres">
      <dgm:prSet presAssocID="{4AA0CCC6-124C-4395-86E7-7206E911823A}" presName="circle2" presStyleLbl="lnNode1" presStyleIdx="1" presStyleCnt="5"/>
      <dgm:spPr/>
    </dgm:pt>
    <dgm:pt modelId="{941D03A2-2389-4FF9-954C-F97778503EC5}" type="pres">
      <dgm:prSet presAssocID="{4AA0CCC6-124C-4395-86E7-7206E911823A}" presName="text2" presStyleLbl="revTx" presStyleIdx="1" presStyleCnt="5">
        <dgm:presLayoutVars>
          <dgm:bulletEnabled val="1"/>
        </dgm:presLayoutVars>
      </dgm:prSet>
      <dgm:spPr/>
    </dgm:pt>
    <dgm:pt modelId="{3964FE6D-7437-43BB-A5E6-0DF6057B84DC}" type="pres">
      <dgm:prSet presAssocID="{4AA0CCC6-124C-4395-86E7-7206E911823A}" presName="line2" presStyleLbl="callout" presStyleIdx="2" presStyleCnt="10"/>
      <dgm:spPr/>
    </dgm:pt>
    <dgm:pt modelId="{345E58A7-7608-4639-9DD4-B0F5C5CD5C7F}" type="pres">
      <dgm:prSet presAssocID="{4AA0CCC6-124C-4395-86E7-7206E911823A}" presName="d2" presStyleLbl="callout" presStyleIdx="3" presStyleCnt="10"/>
      <dgm:spPr/>
    </dgm:pt>
    <dgm:pt modelId="{7EC9D168-5B12-4500-8F3B-DD07A695FE2C}" type="pres">
      <dgm:prSet presAssocID="{42C5646F-07F5-4FA5-BEB7-15E65767E6B1}" presName="circle3" presStyleLbl="lnNode1" presStyleIdx="2" presStyleCnt="5"/>
      <dgm:spPr/>
    </dgm:pt>
    <dgm:pt modelId="{6ED13BAF-2A87-4CDC-B2D7-C6265322572F}" type="pres">
      <dgm:prSet presAssocID="{42C5646F-07F5-4FA5-BEB7-15E65767E6B1}" presName="text3" presStyleLbl="revTx" presStyleIdx="2" presStyleCnt="5">
        <dgm:presLayoutVars>
          <dgm:bulletEnabled val="1"/>
        </dgm:presLayoutVars>
      </dgm:prSet>
      <dgm:spPr/>
    </dgm:pt>
    <dgm:pt modelId="{A9D7F001-DF4D-4A91-9217-5404D0AADDE7}" type="pres">
      <dgm:prSet presAssocID="{42C5646F-07F5-4FA5-BEB7-15E65767E6B1}" presName="line3" presStyleLbl="callout" presStyleIdx="4" presStyleCnt="10"/>
      <dgm:spPr/>
    </dgm:pt>
    <dgm:pt modelId="{9D926439-C174-42A6-935F-4E5707A48EDB}" type="pres">
      <dgm:prSet presAssocID="{42C5646F-07F5-4FA5-BEB7-15E65767E6B1}" presName="d3" presStyleLbl="callout" presStyleIdx="5" presStyleCnt="10"/>
      <dgm:spPr/>
    </dgm:pt>
    <dgm:pt modelId="{31E8C154-F23E-45A1-8F56-3CD6708C6E94}" type="pres">
      <dgm:prSet presAssocID="{3F3805B8-4084-42D5-B93F-9678A7917459}" presName="circle4" presStyleLbl="lnNode1" presStyleIdx="3" presStyleCnt="5" custLinFactNeighborX="-697" custLinFactNeighborY="2260"/>
      <dgm:spPr/>
    </dgm:pt>
    <dgm:pt modelId="{2ED57F88-9624-4790-ACD2-A386F6C7AF94}" type="pres">
      <dgm:prSet presAssocID="{3F3805B8-4084-42D5-B93F-9678A7917459}" presName="text4" presStyleLbl="revTx" presStyleIdx="3" presStyleCnt="5">
        <dgm:presLayoutVars>
          <dgm:bulletEnabled val="1"/>
        </dgm:presLayoutVars>
      </dgm:prSet>
      <dgm:spPr/>
    </dgm:pt>
    <dgm:pt modelId="{6793E932-34EE-48AB-BF33-6523F2872064}" type="pres">
      <dgm:prSet presAssocID="{3F3805B8-4084-42D5-B93F-9678A7917459}" presName="line4" presStyleLbl="callout" presStyleIdx="6" presStyleCnt="10"/>
      <dgm:spPr/>
    </dgm:pt>
    <dgm:pt modelId="{63B0CBA6-F5C4-4EC0-9397-2EC852EEDC6D}" type="pres">
      <dgm:prSet presAssocID="{3F3805B8-4084-42D5-B93F-9678A7917459}" presName="d4" presStyleLbl="callout" presStyleIdx="7" presStyleCnt="10"/>
      <dgm:spPr/>
    </dgm:pt>
    <dgm:pt modelId="{A00D715F-DD49-4EC8-B496-150C73084FEC}" type="pres">
      <dgm:prSet presAssocID="{8FCF1F7E-C81E-46E9-8926-BFB1A0CDA762}" presName="circle5" presStyleLbl="lnNode1" presStyleIdx="4" presStyleCnt="5"/>
      <dgm:spPr/>
    </dgm:pt>
    <dgm:pt modelId="{656E2D21-FB9A-4FE4-B325-6D939380968F}" type="pres">
      <dgm:prSet presAssocID="{8FCF1F7E-C81E-46E9-8926-BFB1A0CDA762}" presName="text5" presStyleLbl="revTx" presStyleIdx="4" presStyleCnt="5">
        <dgm:presLayoutVars>
          <dgm:bulletEnabled val="1"/>
        </dgm:presLayoutVars>
      </dgm:prSet>
      <dgm:spPr/>
    </dgm:pt>
    <dgm:pt modelId="{7D26EE35-CFB4-4FAB-82E0-96E4CF44DD70}" type="pres">
      <dgm:prSet presAssocID="{8FCF1F7E-C81E-46E9-8926-BFB1A0CDA762}" presName="line5" presStyleLbl="callout" presStyleIdx="8" presStyleCnt="10"/>
      <dgm:spPr/>
    </dgm:pt>
    <dgm:pt modelId="{EAC00EF4-7D2C-4972-8100-269A38B5C77B}" type="pres">
      <dgm:prSet presAssocID="{8FCF1F7E-C81E-46E9-8926-BFB1A0CDA762}" presName="d5" presStyleLbl="callout" presStyleIdx="9" presStyleCnt="10"/>
      <dgm:spPr/>
    </dgm:pt>
  </dgm:ptLst>
  <dgm:cxnLst>
    <dgm:cxn modelId="{EF6B7217-D246-4300-89C0-371952260F4A}" type="presOf" srcId="{1976353C-9143-426E-B268-8DB42D4CF8CA}" destId="{EAA6ABFB-E363-4E79-A17C-D0B092CD7CF6}" srcOrd="0" destOrd="0" presId="urn:microsoft.com/office/officeart/2005/8/layout/target1"/>
    <dgm:cxn modelId="{57D87735-7925-49E3-9042-5E16B62A9029}" type="presOf" srcId="{8FCF1F7E-C81E-46E9-8926-BFB1A0CDA762}" destId="{656E2D21-FB9A-4FE4-B325-6D939380968F}" srcOrd="0" destOrd="0" presId="urn:microsoft.com/office/officeart/2005/8/layout/target1"/>
    <dgm:cxn modelId="{5933543F-FAEC-4503-B19D-5DE0CCE3C898}" srcId="{1976353C-9143-426E-B268-8DB42D4CF8CA}" destId="{FE2E086A-CB75-407F-9CD2-094A9F4A6E41}" srcOrd="0" destOrd="0" parTransId="{04DDC853-608E-446B-9521-4D574405B7C3}" sibTransId="{3C612684-3338-41C6-B200-C29BC6502889}"/>
    <dgm:cxn modelId="{4F514761-A3E4-47DD-B921-938A60D7E22F}" srcId="{1976353C-9143-426E-B268-8DB42D4CF8CA}" destId="{4AA0CCC6-124C-4395-86E7-7206E911823A}" srcOrd="1" destOrd="0" parTransId="{0BD6C11C-69BB-42E7-B3BC-E2E6BF9A76E6}" sibTransId="{3FCCB0AC-C19A-4730-BCDE-7F2E2AE45807}"/>
    <dgm:cxn modelId="{06385948-3D47-48BA-BB7F-1397FD129D07}" type="presOf" srcId="{4AA0CCC6-124C-4395-86E7-7206E911823A}" destId="{941D03A2-2389-4FF9-954C-F97778503EC5}" srcOrd="0" destOrd="0" presId="urn:microsoft.com/office/officeart/2005/8/layout/target1"/>
    <dgm:cxn modelId="{1564424E-1097-4BD8-BD98-05EDCE487497}" type="presOf" srcId="{3F3805B8-4084-42D5-B93F-9678A7917459}" destId="{2ED57F88-9624-4790-ACD2-A386F6C7AF94}" srcOrd="0" destOrd="0" presId="urn:microsoft.com/office/officeart/2005/8/layout/target1"/>
    <dgm:cxn modelId="{58C73174-3028-4139-839B-78C4D36CC7E9}" srcId="{1976353C-9143-426E-B268-8DB42D4CF8CA}" destId="{8FCF1F7E-C81E-46E9-8926-BFB1A0CDA762}" srcOrd="4" destOrd="0" parTransId="{101734E0-D495-4D7D-9742-8AED56457A88}" sibTransId="{53640B1D-1EAE-400C-AF2F-DD9676781800}"/>
    <dgm:cxn modelId="{BE1C5557-394C-4809-9451-780F012C7F23}" srcId="{1976353C-9143-426E-B268-8DB42D4CF8CA}" destId="{3F3805B8-4084-42D5-B93F-9678A7917459}" srcOrd="3" destOrd="0" parTransId="{66CD1A44-D708-4EE1-A931-3F9ACC16B908}" sibTransId="{80B6DFF1-225B-4B10-8C11-82EE0A7C618F}"/>
    <dgm:cxn modelId="{E5DA07B7-FEEE-4241-9F75-719C7133984E}" srcId="{1976353C-9143-426E-B268-8DB42D4CF8CA}" destId="{42C5646F-07F5-4FA5-BEB7-15E65767E6B1}" srcOrd="2" destOrd="0" parTransId="{C8850AE3-3C22-4E37-9969-BDCBE59FF2E9}" sibTransId="{5334E332-EFD9-43EF-A7FC-2D91FCF040EF}"/>
    <dgm:cxn modelId="{630757CF-4EA5-4766-B4AA-E7031C947373}" type="presOf" srcId="{FE2E086A-CB75-407F-9CD2-094A9F4A6E41}" destId="{EE1FF1FD-A00B-4158-BFBB-28C61BE7E5AE}" srcOrd="0" destOrd="0" presId="urn:microsoft.com/office/officeart/2005/8/layout/target1"/>
    <dgm:cxn modelId="{58864DDF-9331-4524-A016-D18902980ECC}" type="presOf" srcId="{42C5646F-07F5-4FA5-BEB7-15E65767E6B1}" destId="{6ED13BAF-2A87-4CDC-B2D7-C6265322572F}" srcOrd="0" destOrd="0" presId="urn:microsoft.com/office/officeart/2005/8/layout/target1"/>
    <dgm:cxn modelId="{50CC9739-DB1D-4878-A968-EF6A8AF2C98B}" type="presParOf" srcId="{EAA6ABFB-E363-4E79-A17C-D0B092CD7CF6}" destId="{4182155E-781E-4E54-89D7-BC8188F5A744}" srcOrd="0" destOrd="0" presId="urn:microsoft.com/office/officeart/2005/8/layout/target1"/>
    <dgm:cxn modelId="{07F19F45-D8CE-426A-BF32-D477EEA519B0}" type="presParOf" srcId="{EAA6ABFB-E363-4E79-A17C-D0B092CD7CF6}" destId="{EE1FF1FD-A00B-4158-BFBB-28C61BE7E5AE}" srcOrd="1" destOrd="0" presId="urn:microsoft.com/office/officeart/2005/8/layout/target1"/>
    <dgm:cxn modelId="{83A46AFD-EC35-47C7-AD81-2D2E3F659BC7}" type="presParOf" srcId="{EAA6ABFB-E363-4E79-A17C-D0B092CD7CF6}" destId="{E88A4B30-6C86-46CA-B7F5-9CE85B2A6107}" srcOrd="2" destOrd="0" presId="urn:microsoft.com/office/officeart/2005/8/layout/target1"/>
    <dgm:cxn modelId="{590EC0C0-5100-4224-B2BB-423A43AB0C02}" type="presParOf" srcId="{EAA6ABFB-E363-4E79-A17C-D0B092CD7CF6}" destId="{712153F9-D3AF-4B36-9EF6-4B42F8CE4409}" srcOrd="3" destOrd="0" presId="urn:microsoft.com/office/officeart/2005/8/layout/target1"/>
    <dgm:cxn modelId="{A6ABB3A6-C683-4036-AF55-B7B68BC79B3F}" type="presParOf" srcId="{EAA6ABFB-E363-4E79-A17C-D0B092CD7CF6}" destId="{7F7EE19A-8F3A-4724-BEAD-BD0ACF0F7A40}" srcOrd="4" destOrd="0" presId="urn:microsoft.com/office/officeart/2005/8/layout/target1"/>
    <dgm:cxn modelId="{56382707-6C52-408B-9F20-B952C9F826AC}" type="presParOf" srcId="{EAA6ABFB-E363-4E79-A17C-D0B092CD7CF6}" destId="{941D03A2-2389-4FF9-954C-F97778503EC5}" srcOrd="5" destOrd="0" presId="urn:microsoft.com/office/officeart/2005/8/layout/target1"/>
    <dgm:cxn modelId="{F527445E-E5F4-4F7C-B374-B7C33788C670}" type="presParOf" srcId="{EAA6ABFB-E363-4E79-A17C-D0B092CD7CF6}" destId="{3964FE6D-7437-43BB-A5E6-0DF6057B84DC}" srcOrd="6" destOrd="0" presId="urn:microsoft.com/office/officeart/2005/8/layout/target1"/>
    <dgm:cxn modelId="{F442F554-07E3-48AD-B365-AA314D481665}" type="presParOf" srcId="{EAA6ABFB-E363-4E79-A17C-D0B092CD7CF6}" destId="{345E58A7-7608-4639-9DD4-B0F5C5CD5C7F}" srcOrd="7" destOrd="0" presId="urn:microsoft.com/office/officeart/2005/8/layout/target1"/>
    <dgm:cxn modelId="{BE5537FB-BBD5-4D67-81D9-30209A73B899}" type="presParOf" srcId="{EAA6ABFB-E363-4E79-A17C-D0B092CD7CF6}" destId="{7EC9D168-5B12-4500-8F3B-DD07A695FE2C}" srcOrd="8" destOrd="0" presId="urn:microsoft.com/office/officeart/2005/8/layout/target1"/>
    <dgm:cxn modelId="{997724CA-BFB9-48FF-A978-9CC29349F887}" type="presParOf" srcId="{EAA6ABFB-E363-4E79-A17C-D0B092CD7CF6}" destId="{6ED13BAF-2A87-4CDC-B2D7-C6265322572F}" srcOrd="9" destOrd="0" presId="urn:microsoft.com/office/officeart/2005/8/layout/target1"/>
    <dgm:cxn modelId="{11734A9A-C10E-42C0-8508-C572251FE6D1}" type="presParOf" srcId="{EAA6ABFB-E363-4E79-A17C-D0B092CD7CF6}" destId="{A9D7F001-DF4D-4A91-9217-5404D0AADDE7}" srcOrd="10" destOrd="0" presId="urn:microsoft.com/office/officeart/2005/8/layout/target1"/>
    <dgm:cxn modelId="{1F9BB679-75DA-486B-8B94-79F775FB2F26}" type="presParOf" srcId="{EAA6ABFB-E363-4E79-A17C-D0B092CD7CF6}" destId="{9D926439-C174-42A6-935F-4E5707A48EDB}" srcOrd="11" destOrd="0" presId="urn:microsoft.com/office/officeart/2005/8/layout/target1"/>
    <dgm:cxn modelId="{582B96D9-4957-4BF9-B75C-61832FDED16E}" type="presParOf" srcId="{EAA6ABFB-E363-4E79-A17C-D0B092CD7CF6}" destId="{31E8C154-F23E-45A1-8F56-3CD6708C6E94}" srcOrd="12" destOrd="0" presId="urn:microsoft.com/office/officeart/2005/8/layout/target1"/>
    <dgm:cxn modelId="{624764A0-691C-4784-B99C-87D8978859BC}" type="presParOf" srcId="{EAA6ABFB-E363-4E79-A17C-D0B092CD7CF6}" destId="{2ED57F88-9624-4790-ACD2-A386F6C7AF94}" srcOrd="13" destOrd="0" presId="urn:microsoft.com/office/officeart/2005/8/layout/target1"/>
    <dgm:cxn modelId="{338F69B0-C5F3-461B-A3B4-1308BB2D083A}" type="presParOf" srcId="{EAA6ABFB-E363-4E79-A17C-D0B092CD7CF6}" destId="{6793E932-34EE-48AB-BF33-6523F2872064}" srcOrd="14" destOrd="0" presId="urn:microsoft.com/office/officeart/2005/8/layout/target1"/>
    <dgm:cxn modelId="{36A6DA09-22F2-44D9-9EC9-4958ECF4BC14}" type="presParOf" srcId="{EAA6ABFB-E363-4E79-A17C-D0B092CD7CF6}" destId="{63B0CBA6-F5C4-4EC0-9397-2EC852EEDC6D}" srcOrd="15" destOrd="0" presId="urn:microsoft.com/office/officeart/2005/8/layout/target1"/>
    <dgm:cxn modelId="{19B3974D-42CB-40D8-89FE-F4485C52EA12}" type="presParOf" srcId="{EAA6ABFB-E363-4E79-A17C-D0B092CD7CF6}" destId="{A00D715F-DD49-4EC8-B496-150C73084FEC}" srcOrd="16" destOrd="0" presId="urn:microsoft.com/office/officeart/2005/8/layout/target1"/>
    <dgm:cxn modelId="{E1C4DCB6-6BE0-4AD4-910E-A7444D528053}" type="presParOf" srcId="{EAA6ABFB-E363-4E79-A17C-D0B092CD7CF6}" destId="{656E2D21-FB9A-4FE4-B325-6D939380968F}" srcOrd="17" destOrd="0" presId="urn:microsoft.com/office/officeart/2005/8/layout/target1"/>
    <dgm:cxn modelId="{AE7DD000-7147-4473-B6F4-7A34C3596CD3}" type="presParOf" srcId="{EAA6ABFB-E363-4E79-A17C-D0B092CD7CF6}" destId="{7D26EE35-CFB4-4FAB-82E0-96E4CF44DD70}" srcOrd="18" destOrd="0" presId="urn:microsoft.com/office/officeart/2005/8/layout/target1"/>
    <dgm:cxn modelId="{DD3F0AA0-FDB3-4ACA-8889-9F2646F97C06}" type="presParOf" srcId="{EAA6ABFB-E363-4E79-A17C-D0B092CD7CF6}" destId="{EAC00EF4-7D2C-4972-8100-269A38B5C77B}" srcOrd="19" destOrd="0" presId="urn:microsoft.com/office/officeart/2005/8/layout/targe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EEDDFD0-52EB-4A84-B5D0-5266D00D2848}" type="doc">
      <dgm:prSet loTypeId="urn:microsoft.com/office/officeart/2005/8/layout/cycle6" loCatId="cycle" qsTypeId="urn:microsoft.com/office/officeart/2005/8/quickstyle/simple3" qsCatId="simple" csTypeId="urn:microsoft.com/office/officeart/2005/8/colors/colorful3" csCatId="colorful" phldr="1"/>
      <dgm:spPr/>
      <dgm:t>
        <a:bodyPr/>
        <a:lstStyle/>
        <a:p>
          <a:endParaRPr lang="en-IN"/>
        </a:p>
      </dgm:t>
    </dgm:pt>
    <dgm:pt modelId="{366D24AD-12B3-484A-A1CF-ACF33780784E}">
      <dgm:prSet phldrT="[Text]"/>
      <dgm:spPr/>
      <dgm:t>
        <a:bodyPr/>
        <a:lstStyle/>
        <a:p>
          <a:r>
            <a:rPr lang="en-IN" b="0" i="0" u="none"/>
            <a:t>Increase in Travel Time</a:t>
          </a:r>
          <a:endParaRPr lang="en-IN"/>
        </a:p>
      </dgm:t>
    </dgm:pt>
    <dgm:pt modelId="{27D08F39-B2B6-479D-BC81-F475E10D2BEC}" type="parTrans" cxnId="{36EA5C13-A562-44F7-8131-7AD905D05586}">
      <dgm:prSet/>
      <dgm:spPr/>
      <dgm:t>
        <a:bodyPr/>
        <a:lstStyle/>
        <a:p>
          <a:endParaRPr lang="en-IN"/>
        </a:p>
      </dgm:t>
    </dgm:pt>
    <dgm:pt modelId="{54380DB9-72F4-47F2-8BAA-5FEE7A6057B7}" type="sibTrans" cxnId="{36EA5C13-A562-44F7-8131-7AD905D05586}">
      <dgm:prSet/>
      <dgm:spPr/>
      <dgm:t>
        <a:bodyPr/>
        <a:lstStyle/>
        <a:p>
          <a:endParaRPr lang="en-IN"/>
        </a:p>
      </dgm:t>
    </dgm:pt>
    <dgm:pt modelId="{0A26926F-87BB-4441-9D9B-FF05335227A3}">
      <dgm:prSet phldrT="[Text]"/>
      <dgm:spPr/>
      <dgm:t>
        <a:bodyPr/>
        <a:lstStyle/>
        <a:p>
          <a:r>
            <a:rPr lang="en-IN" b="0" i="0" u="none"/>
            <a:t>Increased Fuel Consumption</a:t>
          </a:r>
          <a:endParaRPr lang="en-IN"/>
        </a:p>
      </dgm:t>
    </dgm:pt>
    <dgm:pt modelId="{AC26F620-C98B-480E-B4B0-75D5808CB36A}" type="parTrans" cxnId="{9F8B2698-6AFB-4917-BE6E-2CA55D7A89C1}">
      <dgm:prSet/>
      <dgm:spPr/>
      <dgm:t>
        <a:bodyPr/>
        <a:lstStyle/>
        <a:p>
          <a:endParaRPr lang="en-IN"/>
        </a:p>
      </dgm:t>
    </dgm:pt>
    <dgm:pt modelId="{E4FB68D4-BC0B-4A05-9093-2088DF6DF026}" type="sibTrans" cxnId="{9F8B2698-6AFB-4917-BE6E-2CA55D7A89C1}">
      <dgm:prSet/>
      <dgm:spPr/>
      <dgm:t>
        <a:bodyPr/>
        <a:lstStyle/>
        <a:p>
          <a:endParaRPr lang="en-IN"/>
        </a:p>
      </dgm:t>
    </dgm:pt>
    <dgm:pt modelId="{78744172-5A20-4BEC-A3C1-F29F1F1DF4FB}">
      <dgm:prSet phldrT="[Text]"/>
      <dgm:spPr/>
      <dgm:t>
        <a:bodyPr/>
        <a:lstStyle/>
        <a:p>
          <a:r>
            <a:rPr lang="en-IN" b="0" i="0" u="none"/>
            <a:t>Risk of Accident</a:t>
          </a:r>
          <a:endParaRPr lang="en-IN"/>
        </a:p>
      </dgm:t>
    </dgm:pt>
    <dgm:pt modelId="{36DD4F3F-0AEB-49BD-ACAF-29CC3C05A0B9}" type="parTrans" cxnId="{2BBD3BBA-33F9-45D4-B76C-FE123254573C}">
      <dgm:prSet/>
      <dgm:spPr/>
      <dgm:t>
        <a:bodyPr/>
        <a:lstStyle/>
        <a:p>
          <a:endParaRPr lang="en-IN"/>
        </a:p>
      </dgm:t>
    </dgm:pt>
    <dgm:pt modelId="{C8E02581-082B-473E-A500-D3135C358706}" type="sibTrans" cxnId="{2BBD3BBA-33F9-45D4-B76C-FE123254573C}">
      <dgm:prSet/>
      <dgm:spPr/>
      <dgm:t>
        <a:bodyPr/>
        <a:lstStyle/>
        <a:p>
          <a:endParaRPr lang="en-IN"/>
        </a:p>
      </dgm:t>
    </dgm:pt>
    <dgm:pt modelId="{8933B155-ADAE-46DC-9674-D4FB85B4466E}">
      <dgm:prSet phldrT="[Text]"/>
      <dgm:spPr/>
      <dgm:t>
        <a:bodyPr/>
        <a:lstStyle/>
        <a:p>
          <a:r>
            <a:rPr lang="en-IN" b="0" i="0" u="none"/>
            <a:t>Misses appointment &amp; Events</a:t>
          </a:r>
          <a:endParaRPr lang="en-IN"/>
        </a:p>
      </dgm:t>
    </dgm:pt>
    <dgm:pt modelId="{116DDF67-6796-459D-986D-9DE05F565FEB}" type="parTrans" cxnId="{29484E48-CA6E-4FC6-A72F-46EC803DA878}">
      <dgm:prSet/>
      <dgm:spPr/>
      <dgm:t>
        <a:bodyPr/>
        <a:lstStyle/>
        <a:p>
          <a:endParaRPr lang="en-IN"/>
        </a:p>
      </dgm:t>
    </dgm:pt>
    <dgm:pt modelId="{2C9026DC-5D05-4DB7-B085-4CE30CA0A1B5}" type="sibTrans" cxnId="{29484E48-CA6E-4FC6-A72F-46EC803DA878}">
      <dgm:prSet/>
      <dgm:spPr/>
      <dgm:t>
        <a:bodyPr/>
        <a:lstStyle/>
        <a:p>
          <a:endParaRPr lang="en-IN"/>
        </a:p>
      </dgm:t>
    </dgm:pt>
    <dgm:pt modelId="{9F45DA80-B7C6-4EA3-8FED-828B03F04CA3}">
      <dgm:prSet/>
      <dgm:spPr/>
      <dgm:t>
        <a:bodyPr/>
        <a:lstStyle/>
        <a:p>
          <a:r>
            <a:rPr lang="en-IN" b="0" i="0" u="none"/>
            <a:t>Stress and Fatigue</a:t>
          </a:r>
          <a:endParaRPr lang="en-IN"/>
        </a:p>
      </dgm:t>
    </dgm:pt>
    <dgm:pt modelId="{23450B5A-0229-4477-B235-1A8AC3BF3A21}" type="parTrans" cxnId="{1EED3336-1C78-4A79-9C2F-65282031DC60}">
      <dgm:prSet/>
      <dgm:spPr/>
      <dgm:t>
        <a:bodyPr/>
        <a:lstStyle/>
        <a:p>
          <a:endParaRPr lang="en-IN"/>
        </a:p>
      </dgm:t>
    </dgm:pt>
    <dgm:pt modelId="{73A8D7E5-3AB4-4451-9CA3-FCDACC93EA40}" type="sibTrans" cxnId="{1EED3336-1C78-4A79-9C2F-65282031DC60}">
      <dgm:prSet/>
      <dgm:spPr/>
      <dgm:t>
        <a:bodyPr/>
        <a:lstStyle/>
        <a:p>
          <a:endParaRPr lang="en-IN"/>
        </a:p>
      </dgm:t>
    </dgm:pt>
    <dgm:pt modelId="{A067C389-9E49-47E2-809E-66950D23712A}" type="pres">
      <dgm:prSet presAssocID="{8EEDDFD0-52EB-4A84-B5D0-5266D00D2848}" presName="cycle" presStyleCnt="0">
        <dgm:presLayoutVars>
          <dgm:dir/>
          <dgm:resizeHandles val="exact"/>
        </dgm:presLayoutVars>
      </dgm:prSet>
      <dgm:spPr/>
    </dgm:pt>
    <dgm:pt modelId="{3C0D5F79-5AA0-4620-83D0-D865AC379E5F}" type="pres">
      <dgm:prSet presAssocID="{366D24AD-12B3-484A-A1CF-ACF33780784E}" presName="node" presStyleLbl="node1" presStyleIdx="0" presStyleCnt="5">
        <dgm:presLayoutVars>
          <dgm:bulletEnabled val="1"/>
        </dgm:presLayoutVars>
      </dgm:prSet>
      <dgm:spPr/>
    </dgm:pt>
    <dgm:pt modelId="{AFCCD5D9-137E-42C9-8755-217A489D9AB4}" type="pres">
      <dgm:prSet presAssocID="{366D24AD-12B3-484A-A1CF-ACF33780784E}" presName="spNode" presStyleCnt="0"/>
      <dgm:spPr/>
    </dgm:pt>
    <dgm:pt modelId="{7B11A38A-386E-4AEE-AE3A-D5CCB26EDF88}" type="pres">
      <dgm:prSet presAssocID="{54380DB9-72F4-47F2-8BAA-5FEE7A6057B7}" presName="sibTrans" presStyleLbl="sibTrans1D1" presStyleIdx="0" presStyleCnt="5"/>
      <dgm:spPr/>
    </dgm:pt>
    <dgm:pt modelId="{066AAAB8-C897-4B36-9691-0B56BEA9B91A}" type="pres">
      <dgm:prSet presAssocID="{9F45DA80-B7C6-4EA3-8FED-828B03F04CA3}" presName="node" presStyleLbl="node1" presStyleIdx="1" presStyleCnt="5">
        <dgm:presLayoutVars>
          <dgm:bulletEnabled val="1"/>
        </dgm:presLayoutVars>
      </dgm:prSet>
      <dgm:spPr/>
    </dgm:pt>
    <dgm:pt modelId="{5661C7C6-92AF-4B05-9C51-19CE41E40C72}" type="pres">
      <dgm:prSet presAssocID="{9F45DA80-B7C6-4EA3-8FED-828B03F04CA3}" presName="spNode" presStyleCnt="0"/>
      <dgm:spPr/>
    </dgm:pt>
    <dgm:pt modelId="{DD769DCA-579D-40A8-B738-0E68029D4876}" type="pres">
      <dgm:prSet presAssocID="{73A8D7E5-3AB4-4451-9CA3-FCDACC93EA40}" presName="sibTrans" presStyleLbl="sibTrans1D1" presStyleIdx="1" presStyleCnt="5"/>
      <dgm:spPr/>
    </dgm:pt>
    <dgm:pt modelId="{2692B1BA-0D23-4B08-B587-307B2A0D41BF}" type="pres">
      <dgm:prSet presAssocID="{0A26926F-87BB-4441-9D9B-FF05335227A3}" presName="node" presStyleLbl="node1" presStyleIdx="2" presStyleCnt="5">
        <dgm:presLayoutVars>
          <dgm:bulletEnabled val="1"/>
        </dgm:presLayoutVars>
      </dgm:prSet>
      <dgm:spPr/>
    </dgm:pt>
    <dgm:pt modelId="{EF37C297-7A79-41CA-8244-D43D7BFEC039}" type="pres">
      <dgm:prSet presAssocID="{0A26926F-87BB-4441-9D9B-FF05335227A3}" presName="spNode" presStyleCnt="0"/>
      <dgm:spPr/>
    </dgm:pt>
    <dgm:pt modelId="{6F4D6DC8-CBC0-4DD4-BF7A-1EB5C2490377}" type="pres">
      <dgm:prSet presAssocID="{E4FB68D4-BC0B-4A05-9093-2088DF6DF026}" presName="sibTrans" presStyleLbl="sibTrans1D1" presStyleIdx="2" presStyleCnt="5"/>
      <dgm:spPr/>
    </dgm:pt>
    <dgm:pt modelId="{AEA3CCAE-5B29-4489-97CE-109547790635}" type="pres">
      <dgm:prSet presAssocID="{78744172-5A20-4BEC-A3C1-F29F1F1DF4FB}" presName="node" presStyleLbl="node1" presStyleIdx="3" presStyleCnt="5">
        <dgm:presLayoutVars>
          <dgm:bulletEnabled val="1"/>
        </dgm:presLayoutVars>
      </dgm:prSet>
      <dgm:spPr/>
    </dgm:pt>
    <dgm:pt modelId="{E9B49E72-3DB4-4231-AAA0-B6611C84C6AA}" type="pres">
      <dgm:prSet presAssocID="{78744172-5A20-4BEC-A3C1-F29F1F1DF4FB}" presName="spNode" presStyleCnt="0"/>
      <dgm:spPr/>
    </dgm:pt>
    <dgm:pt modelId="{30642074-E8FF-4B61-8398-B4AB6072C0A0}" type="pres">
      <dgm:prSet presAssocID="{C8E02581-082B-473E-A500-D3135C358706}" presName="sibTrans" presStyleLbl="sibTrans1D1" presStyleIdx="3" presStyleCnt="5"/>
      <dgm:spPr/>
    </dgm:pt>
    <dgm:pt modelId="{6D91B09B-9215-413F-9487-2B2A9A5D7852}" type="pres">
      <dgm:prSet presAssocID="{8933B155-ADAE-46DC-9674-D4FB85B4466E}" presName="node" presStyleLbl="node1" presStyleIdx="4" presStyleCnt="5">
        <dgm:presLayoutVars>
          <dgm:bulletEnabled val="1"/>
        </dgm:presLayoutVars>
      </dgm:prSet>
      <dgm:spPr/>
    </dgm:pt>
    <dgm:pt modelId="{DB3086B4-FFE3-4133-961E-DE368F720C20}" type="pres">
      <dgm:prSet presAssocID="{8933B155-ADAE-46DC-9674-D4FB85B4466E}" presName="spNode" presStyleCnt="0"/>
      <dgm:spPr/>
    </dgm:pt>
    <dgm:pt modelId="{5220B9F4-31D4-4D88-B6E0-AD1E94B09176}" type="pres">
      <dgm:prSet presAssocID="{2C9026DC-5D05-4DB7-B085-4CE30CA0A1B5}" presName="sibTrans" presStyleLbl="sibTrans1D1" presStyleIdx="4" presStyleCnt="5"/>
      <dgm:spPr/>
    </dgm:pt>
  </dgm:ptLst>
  <dgm:cxnLst>
    <dgm:cxn modelId="{FC65B001-A0A5-4E0D-A69D-E3F2530327AF}" type="presOf" srcId="{8EEDDFD0-52EB-4A84-B5D0-5266D00D2848}" destId="{A067C389-9E49-47E2-809E-66950D23712A}" srcOrd="0" destOrd="0" presId="urn:microsoft.com/office/officeart/2005/8/layout/cycle6"/>
    <dgm:cxn modelId="{39178606-5DA2-4809-9176-2D5A83796445}" type="presOf" srcId="{8933B155-ADAE-46DC-9674-D4FB85B4466E}" destId="{6D91B09B-9215-413F-9487-2B2A9A5D7852}" srcOrd="0" destOrd="0" presId="urn:microsoft.com/office/officeart/2005/8/layout/cycle6"/>
    <dgm:cxn modelId="{36EA5C13-A562-44F7-8131-7AD905D05586}" srcId="{8EEDDFD0-52EB-4A84-B5D0-5266D00D2848}" destId="{366D24AD-12B3-484A-A1CF-ACF33780784E}" srcOrd="0" destOrd="0" parTransId="{27D08F39-B2B6-479D-BC81-F475E10D2BEC}" sibTransId="{54380DB9-72F4-47F2-8BAA-5FEE7A6057B7}"/>
    <dgm:cxn modelId="{1EED3336-1C78-4A79-9C2F-65282031DC60}" srcId="{8EEDDFD0-52EB-4A84-B5D0-5266D00D2848}" destId="{9F45DA80-B7C6-4EA3-8FED-828B03F04CA3}" srcOrd="1" destOrd="0" parTransId="{23450B5A-0229-4477-B235-1A8AC3BF3A21}" sibTransId="{73A8D7E5-3AB4-4451-9CA3-FCDACC93EA40}"/>
    <dgm:cxn modelId="{29484E48-CA6E-4FC6-A72F-46EC803DA878}" srcId="{8EEDDFD0-52EB-4A84-B5D0-5266D00D2848}" destId="{8933B155-ADAE-46DC-9674-D4FB85B4466E}" srcOrd="4" destOrd="0" parTransId="{116DDF67-6796-459D-986D-9DE05F565FEB}" sibTransId="{2C9026DC-5D05-4DB7-B085-4CE30CA0A1B5}"/>
    <dgm:cxn modelId="{1C85A36F-6977-47D6-B995-0DC8C0C99974}" type="presOf" srcId="{78744172-5A20-4BEC-A3C1-F29F1F1DF4FB}" destId="{AEA3CCAE-5B29-4489-97CE-109547790635}" srcOrd="0" destOrd="0" presId="urn:microsoft.com/office/officeart/2005/8/layout/cycle6"/>
    <dgm:cxn modelId="{49E0C46F-3305-49D0-AA86-D9E75B511E87}" type="presOf" srcId="{9F45DA80-B7C6-4EA3-8FED-828B03F04CA3}" destId="{066AAAB8-C897-4B36-9691-0B56BEA9B91A}" srcOrd="0" destOrd="0" presId="urn:microsoft.com/office/officeart/2005/8/layout/cycle6"/>
    <dgm:cxn modelId="{53DEDC50-040B-4C20-A059-5E8A03F528FD}" type="presOf" srcId="{366D24AD-12B3-484A-A1CF-ACF33780784E}" destId="{3C0D5F79-5AA0-4620-83D0-D865AC379E5F}" srcOrd="0" destOrd="0" presId="urn:microsoft.com/office/officeart/2005/8/layout/cycle6"/>
    <dgm:cxn modelId="{5DB5CD71-AA7A-4987-94CB-60E1C473E837}" type="presOf" srcId="{0A26926F-87BB-4441-9D9B-FF05335227A3}" destId="{2692B1BA-0D23-4B08-B587-307B2A0D41BF}" srcOrd="0" destOrd="0" presId="urn:microsoft.com/office/officeart/2005/8/layout/cycle6"/>
    <dgm:cxn modelId="{37426258-8A8A-4726-9C52-01356FA9EFF2}" type="presOf" srcId="{54380DB9-72F4-47F2-8BAA-5FEE7A6057B7}" destId="{7B11A38A-386E-4AEE-AE3A-D5CCB26EDF88}" srcOrd="0" destOrd="0" presId="urn:microsoft.com/office/officeart/2005/8/layout/cycle6"/>
    <dgm:cxn modelId="{5DBD7D94-FBB9-487D-B530-3AEC9B8698A6}" type="presOf" srcId="{C8E02581-082B-473E-A500-D3135C358706}" destId="{30642074-E8FF-4B61-8398-B4AB6072C0A0}" srcOrd="0" destOrd="0" presId="urn:microsoft.com/office/officeart/2005/8/layout/cycle6"/>
    <dgm:cxn modelId="{9F8B2698-6AFB-4917-BE6E-2CA55D7A89C1}" srcId="{8EEDDFD0-52EB-4A84-B5D0-5266D00D2848}" destId="{0A26926F-87BB-4441-9D9B-FF05335227A3}" srcOrd="2" destOrd="0" parTransId="{AC26F620-C98B-480E-B4B0-75D5808CB36A}" sibTransId="{E4FB68D4-BC0B-4A05-9093-2088DF6DF026}"/>
    <dgm:cxn modelId="{977898B5-D640-4326-8B37-6D22494F5B4D}" type="presOf" srcId="{73A8D7E5-3AB4-4451-9CA3-FCDACC93EA40}" destId="{DD769DCA-579D-40A8-B738-0E68029D4876}" srcOrd="0" destOrd="0" presId="urn:microsoft.com/office/officeart/2005/8/layout/cycle6"/>
    <dgm:cxn modelId="{2BBD3BBA-33F9-45D4-B76C-FE123254573C}" srcId="{8EEDDFD0-52EB-4A84-B5D0-5266D00D2848}" destId="{78744172-5A20-4BEC-A3C1-F29F1F1DF4FB}" srcOrd="3" destOrd="0" parTransId="{36DD4F3F-0AEB-49BD-ACAF-29CC3C05A0B9}" sibTransId="{C8E02581-082B-473E-A500-D3135C358706}"/>
    <dgm:cxn modelId="{05816BDF-86C6-4D63-A1BB-E9C5CFB25597}" type="presOf" srcId="{E4FB68D4-BC0B-4A05-9093-2088DF6DF026}" destId="{6F4D6DC8-CBC0-4DD4-BF7A-1EB5C2490377}" srcOrd="0" destOrd="0" presId="urn:microsoft.com/office/officeart/2005/8/layout/cycle6"/>
    <dgm:cxn modelId="{21AD6DEA-D82A-4AD6-9579-02662C9DF67E}" type="presOf" srcId="{2C9026DC-5D05-4DB7-B085-4CE30CA0A1B5}" destId="{5220B9F4-31D4-4D88-B6E0-AD1E94B09176}" srcOrd="0" destOrd="0" presId="urn:microsoft.com/office/officeart/2005/8/layout/cycle6"/>
    <dgm:cxn modelId="{44329007-EFBF-4B89-97EB-B68E275141C0}" type="presParOf" srcId="{A067C389-9E49-47E2-809E-66950D23712A}" destId="{3C0D5F79-5AA0-4620-83D0-D865AC379E5F}" srcOrd="0" destOrd="0" presId="urn:microsoft.com/office/officeart/2005/8/layout/cycle6"/>
    <dgm:cxn modelId="{F98EEF24-92FD-4F5F-B04F-2A2B59C12797}" type="presParOf" srcId="{A067C389-9E49-47E2-809E-66950D23712A}" destId="{AFCCD5D9-137E-42C9-8755-217A489D9AB4}" srcOrd="1" destOrd="0" presId="urn:microsoft.com/office/officeart/2005/8/layout/cycle6"/>
    <dgm:cxn modelId="{2DBDF30F-8AD5-4F97-912F-E2F4ABB50E48}" type="presParOf" srcId="{A067C389-9E49-47E2-809E-66950D23712A}" destId="{7B11A38A-386E-4AEE-AE3A-D5CCB26EDF88}" srcOrd="2" destOrd="0" presId="urn:microsoft.com/office/officeart/2005/8/layout/cycle6"/>
    <dgm:cxn modelId="{E4FED08C-DD4D-4E77-94E2-B15CAC099BDA}" type="presParOf" srcId="{A067C389-9E49-47E2-809E-66950D23712A}" destId="{066AAAB8-C897-4B36-9691-0B56BEA9B91A}" srcOrd="3" destOrd="0" presId="urn:microsoft.com/office/officeart/2005/8/layout/cycle6"/>
    <dgm:cxn modelId="{AE9FC63B-9DE6-4353-9F74-409FC2203EEB}" type="presParOf" srcId="{A067C389-9E49-47E2-809E-66950D23712A}" destId="{5661C7C6-92AF-4B05-9C51-19CE41E40C72}" srcOrd="4" destOrd="0" presId="urn:microsoft.com/office/officeart/2005/8/layout/cycle6"/>
    <dgm:cxn modelId="{EF814630-CB73-4B61-8DEA-A7B99672D18E}" type="presParOf" srcId="{A067C389-9E49-47E2-809E-66950D23712A}" destId="{DD769DCA-579D-40A8-B738-0E68029D4876}" srcOrd="5" destOrd="0" presId="urn:microsoft.com/office/officeart/2005/8/layout/cycle6"/>
    <dgm:cxn modelId="{28FBFC0E-5058-4285-B278-B96178375214}" type="presParOf" srcId="{A067C389-9E49-47E2-809E-66950D23712A}" destId="{2692B1BA-0D23-4B08-B587-307B2A0D41BF}" srcOrd="6" destOrd="0" presId="urn:microsoft.com/office/officeart/2005/8/layout/cycle6"/>
    <dgm:cxn modelId="{FD0347F1-9161-4C80-B116-DEBC24FD5BEE}" type="presParOf" srcId="{A067C389-9E49-47E2-809E-66950D23712A}" destId="{EF37C297-7A79-41CA-8244-D43D7BFEC039}" srcOrd="7" destOrd="0" presId="urn:microsoft.com/office/officeart/2005/8/layout/cycle6"/>
    <dgm:cxn modelId="{08391D21-575A-4C8E-92B9-25B8A5665EAB}" type="presParOf" srcId="{A067C389-9E49-47E2-809E-66950D23712A}" destId="{6F4D6DC8-CBC0-4DD4-BF7A-1EB5C2490377}" srcOrd="8" destOrd="0" presId="urn:microsoft.com/office/officeart/2005/8/layout/cycle6"/>
    <dgm:cxn modelId="{662D0A82-DEBF-49E1-9CDC-86F0A4729CA8}" type="presParOf" srcId="{A067C389-9E49-47E2-809E-66950D23712A}" destId="{AEA3CCAE-5B29-4489-97CE-109547790635}" srcOrd="9" destOrd="0" presId="urn:microsoft.com/office/officeart/2005/8/layout/cycle6"/>
    <dgm:cxn modelId="{A9AC27DC-4073-4CA3-9C57-962905CFC2FE}" type="presParOf" srcId="{A067C389-9E49-47E2-809E-66950D23712A}" destId="{E9B49E72-3DB4-4231-AAA0-B6611C84C6AA}" srcOrd="10" destOrd="0" presId="urn:microsoft.com/office/officeart/2005/8/layout/cycle6"/>
    <dgm:cxn modelId="{0637EF84-13D3-4BBC-BA00-D7C2E26F723B}" type="presParOf" srcId="{A067C389-9E49-47E2-809E-66950D23712A}" destId="{30642074-E8FF-4B61-8398-B4AB6072C0A0}" srcOrd="11" destOrd="0" presId="urn:microsoft.com/office/officeart/2005/8/layout/cycle6"/>
    <dgm:cxn modelId="{9FEC1B75-C365-4A1A-A30A-D05EB45DF0EC}" type="presParOf" srcId="{A067C389-9E49-47E2-809E-66950D23712A}" destId="{6D91B09B-9215-413F-9487-2B2A9A5D7852}" srcOrd="12" destOrd="0" presId="urn:microsoft.com/office/officeart/2005/8/layout/cycle6"/>
    <dgm:cxn modelId="{E5792C2D-F698-4DEA-A563-32928CB0BCC1}" type="presParOf" srcId="{A067C389-9E49-47E2-809E-66950D23712A}" destId="{DB3086B4-FFE3-4133-961E-DE368F720C20}" srcOrd="13" destOrd="0" presId="urn:microsoft.com/office/officeart/2005/8/layout/cycle6"/>
    <dgm:cxn modelId="{DC5A06EA-0CE2-4CD1-A6F1-05F526386989}" type="presParOf" srcId="{A067C389-9E49-47E2-809E-66950D23712A}" destId="{5220B9F4-31D4-4D88-B6E0-AD1E94B09176}" srcOrd="14" destOrd="0" presId="urn:microsoft.com/office/officeart/2005/8/layout/cycle6"/>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7E9E028-44EE-4BF0-BEA0-5FEE377E6704}" type="doc">
      <dgm:prSet loTypeId="urn:microsoft.com/office/officeart/2005/8/layout/arrow3" loCatId="relationship" qsTypeId="urn:microsoft.com/office/officeart/2005/8/quickstyle/simple1" qsCatId="simple" csTypeId="urn:microsoft.com/office/officeart/2005/8/colors/colorful2" csCatId="colorful" phldr="1"/>
      <dgm:spPr/>
      <dgm:t>
        <a:bodyPr/>
        <a:lstStyle/>
        <a:p>
          <a:endParaRPr lang="en-IN"/>
        </a:p>
      </dgm:t>
    </dgm:pt>
    <dgm:pt modelId="{C6E75A12-ADCF-4299-8342-7B6C4D432C07}">
      <dgm:prSet phldrT="[Text]"/>
      <dgm:spPr/>
      <dgm:t>
        <a:bodyPr/>
        <a:lstStyle/>
        <a:p>
          <a:r>
            <a:rPr lang="en-IN" dirty="0"/>
            <a:t>Electric Vehicle</a:t>
          </a:r>
        </a:p>
      </dgm:t>
    </dgm:pt>
    <dgm:pt modelId="{D9497BDD-5D0D-44F1-8FEA-21D0714996EC}" type="parTrans" cxnId="{A418848B-48C2-4E49-8A22-917449371BCF}">
      <dgm:prSet/>
      <dgm:spPr/>
      <dgm:t>
        <a:bodyPr/>
        <a:lstStyle/>
        <a:p>
          <a:endParaRPr lang="en-IN"/>
        </a:p>
      </dgm:t>
    </dgm:pt>
    <dgm:pt modelId="{B28DBA6F-8C02-4140-9D96-B221B078F4FF}" type="sibTrans" cxnId="{A418848B-48C2-4E49-8A22-917449371BCF}">
      <dgm:prSet/>
      <dgm:spPr/>
      <dgm:t>
        <a:bodyPr/>
        <a:lstStyle/>
        <a:p>
          <a:endParaRPr lang="en-IN"/>
        </a:p>
      </dgm:t>
    </dgm:pt>
    <dgm:pt modelId="{36FF15A2-CFEB-429A-A17C-32BE9238A7CC}">
      <dgm:prSet phldrT="[Text]"/>
      <dgm:spPr/>
      <dgm:t>
        <a:bodyPr/>
        <a:lstStyle/>
        <a:p>
          <a:r>
            <a:rPr lang="en-IN"/>
            <a:t>Convetional Vehicle</a:t>
          </a:r>
        </a:p>
      </dgm:t>
    </dgm:pt>
    <dgm:pt modelId="{D67DFCE6-83AB-48EC-AF61-1F5AE19A54A9}" type="parTrans" cxnId="{65E91E03-0F25-4ACF-A437-5AA872C76170}">
      <dgm:prSet/>
      <dgm:spPr/>
      <dgm:t>
        <a:bodyPr/>
        <a:lstStyle/>
        <a:p>
          <a:endParaRPr lang="en-IN"/>
        </a:p>
      </dgm:t>
    </dgm:pt>
    <dgm:pt modelId="{4F8A7363-C484-49C4-B0C4-D3D7F3098CEF}" type="sibTrans" cxnId="{65E91E03-0F25-4ACF-A437-5AA872C76170}">
      <dgm:prSet/>
      <dgm:spPr/>
      <dgm:t>
        <a:bodyPr/>
        <a:lstStyle/>
        <a:p>
          <a:endParaRPr lang="en-IN"/>
        </a:p>
      </dgm:t>
    </dgm:pt>
    <dgm:pt modelId="{B2D84227-22F3-42EC-9D7E-E29205C6E484}" type="pres">
      <dgm:prSet presAssocID="{77E9E028-44EE-4BF0-BEA0-5FEE377E6704}" presName="compositeShape" presStyleCnt="0">
        <dgm:presLayoutVars>
          <dgm:chMax val="2"/>
          <dgm:dir/>
          <dgm:resizeHandles val="exact"/>
        </dgm:presLayoutVars>
      </dgm:prSet>
      <dgm:spPr/>
    </dgm:pt>
    <dgm:pt modelId="{42F1296A-2643-4119-9AB9-B4A4AC015553}" type="pres">
      <dgm:prSet presAssocID="{77E9E028-44EE-4BF0-BEA0-5FEE377E6704}" presName="divider" presStyleLbl="fgShp" presStyleIdx="0" presStyleCnt="1"/>
      <dgm:spPr/>
    </dgm:pt>
    <dgm:pt modelId="{E04D3113-477E-48C1-A814-084FF89DDB09}" type="pres">
      <dgm:prSet presAssocID="{C6E75A12-ADCF-4299-8342-7B6C4D432C07}" presName="downArrow" presStyleLbl="node1" presStyleIdx="0" presStyleCnt="2" custLinFactNeighborX="-1281" custLinFactNeighborY="-5998"/>
      <dgm:spPr/>
    </dgm:pt>
    <dgm:pt modelId="{ADC1BDFA-4B42-44D4-951D-24B854A266EB}" type="pres">
      <dgm:prSet presAssocID="{C6E75A12-ADCF-4299-8342-7B6C4D432C07}" presName="downArrowText" presStyleLbl="revTx" presStyleIdx="0" presStyleCnt="2">
        <dgm:presLayoutVars>
          <dgm:bulletEnabled val="1"/>
        </dgm:presLayoutVars>
      </dgm:prSet>
      <dgm:spPr/>
    </dgm:pt>
    <dgm:pt modelId="{E63EA563-F94A-4466-8745-C2BE22800F09}" type="pres">
      <dgm:prSet presAssocID="{36FF15A2-CFEB-429A-A17C-32BE9238A7CC}" presName="upArrow" presStyleLbl="node1" presStyleIdx="1" presStyleCnt="2"/>
      <dgm:spPr/>
    </dgm:pt>
    <dgm:pt modelId="{19E86CF1-D44D-4F78-BEEF-F7B847CF5419}" type="pres">
      <dgm:prSet presAssocID="{36FF15A2-CFEB-429A-A17C-32BE9238A7CC}" presName="upArrowText" presStyleLbl="revTx" presStyleIdx="1" presStyleCnt="2">
        <dgm:presLayoutVars>
          <dgm:bulletEnabled val="1"/>
        </dgm:presLayoutVars>
      </dgm:prSet>
      <dgm:spPr/>
    </dgm:pt>
  </dgm:ptLst>
  <dgm:cxnLst>
    <dgm:cxn modelId="{65E91E03-0F25-4ACF-A437-5AA872C76170}" srcId="{77E9E028-44EE-4BF0-BEA0-5FEE377E6704}" destId="{36FF15A2-CFEB-429A-A17C-32BE9238A7CC}" srcOrd="1" destOrd="0" parTransId="{D67DFCE6-83AB-48EC-AF61-1F5AE19A54A9}" sibTransId="{4F8A7363-C484-49C4-B0C4-D3D7F3098CEF}"/>
    <dgm:cxn modelId="{AF01420E-5C0A-4415-B89B-D238A2121F44}" type="presOf" srcId="{C6E75A12-ADCF-4299-8342-7B6C4D432C07}" destId="{ADC1BDFA-4B42-44D4-951D-24B854A266EB}" srcOrd="0" destOrd="0" presId="urn:microsoft.com/office/officeart/2005/8/layout/arrow3"/>
    <dgm:cxn modelId="{A418848B-48C2-4E49-8A22-917449371BCF}" srcId="{77E9E028-44EE-4BF0-BEA0-5FEE377E6704}" destId="{C6E75A12-ADCF-4299-8342-7B6C4D432C07}" srcOrd="0" destOrd="0" parTransId="{D9497BDD-5D0D-44F1-8FEA-21D0714996EC}" sibTransId="{B28DBA6F-8C02-4140-9D96-B221B078F4FF}"/>
    <dgm:cxn modelId="{63A33A96-1613-458A-9D56-DECE10CA5AFB}" type="presOf" srcId="{77E9E028-44EE-4BF0-BEA0-5FEE377E6704}" destId="{B2D84227-22F3-42EC-9D7E-E29205C6E484}" srcOrd="0" destOrd="0" presId="urn:microsoft.com/office/officeart/2005/8/layout/arrow3"/>
    <dgm:cxn modelId="{4AB226B5-0619-40E1-8C68-D6A9C4634A12}" type="presOf" srcId="{36FF15A2-CFEB-429A-A17C-32BE9238A7CC}" destId="{19E86CF1-D44D-4F78-BEEF-F7B847CF5419}" srcOrd="0" destOrd="0" presId="urn:microsoft.com/office/officeart/2005/8/layout/arrow3"/>
    <dgm:cxn modelId="{801AACA6-E896-4C93-978A-92C1DAEB494A}" type="presParOf" srcId="{B2D84227-22F3-42EC-9D7E-E29205C6E484}" destId="{42F1296A-2643-4119-9AB9-B4A4AC015553}" srcOrd="0" destOrd="0" presId="urn:microsoft.com/office/officeart/2005/8/layout/arrow3"/>
    <dgm:cxn modelId="{B7734F55-EF32-48B7-8297-0D90C33F8A38}" type="presParOf" srcId="{B2D84227-22F3-42EC-9D7E-E29205C6E484}" destId="{E04D3113-477E-48C1-A814-084FF89DDB09}" srcOrd="1" destOrd="0" presId="urn:microsoft.com/office/officeart/2005/8/layout/arrow3"/>
    <dgm:cxn modelId="{0AFBDE26-99F9-4079-98B9-3F54F59C093D}" type="presParOf" srcId="{B2D84227-22F3-42EC-9D7E-E29205C6E484}" destId="{ADC1BDFA-4B42-44D4-951D-24B854A266EB}" srcOrd="2" destOrd="0" presId="urn:microsoft.com/office/officeart/2005/8/layout/arrow3"/>
    <dgm:cxn modelId="{03227071-C8FA-4B9B-84F0-EF34AEAA5890}" type="presParOf" srcId="{B2D84227-22F3-42EC-9D7E-E29205C6E484}" destId="{E63EA563-F94A-4466-8745-C2BE22800F09}" srcOrd="3" destOrd="0" presId="urn:microsoft.com/office/officeart/2005/8/layout/arrow3"/>
    <dgm:cxn modelId="{501B9BD5-A9C7-407B-8FBF-0763B1910980}" type="presParOf" srcId="{B2D84227-22F3-42EC-9D7E-E29205C6E484}" destId="{19E86CF1-D44D-4F78-BEEF-F7B847CF5419}" srcOrd="4" destOrd="0" presId="urn:microsoft.com/office/officeart/2005/8/layout/arrow3"/>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0D715F-DD49-4EC8-B496-150C73084FEC}">
      <dsp:nvSpPr>
        <dsp:cNvPr id="0" name=""/>
        <dsp:cNvSpPr/>
      </dsp:nvSpPr>
      <dsp:spPr>
        <a:xfrm>
          <a:off x="0" y="846189"/>
          <a:ext cx="2596515" cy="2596515"/>
        </a:xfrm>
        <a:prstGeom prst="ellipse">
          <a:avLst/>
        </a:prstGeom>
        <a:gradFill rotWithShape="0">
          <a:gsLst>
            <a:gs pos="0">
              <a:schemeClr val="accent3">
                <a:shade val="50000"/>
                <a:hueOff val="41401"/>
                <a:satOff val="13007"/>
                <a:lumOff val="12737"/>
                <a:alphaOff val="0"/>
                <a:satMod val="103000"/>
                <a:lumMod val="102000"/>
                <a:tint val="94000"/>
              </a:schemeClr>
            </a:gs>
            <a:gs pos="50000">
              <a:schemeClr val="accent3">
                <a:shade val="50000"/>
                <a:hueOff val="41401"/>
                <a:satOff val="13007"/>
                <a:lumOff val="12737"/>
                <a:alphaOff val="0"/>
                <a:satMod val="110000"/>
                <a:lumMod val="100000"/>
                <a:shade val="100000"/>
              </a:schemeClr>
            </a:gs>
            <a:gs pos="100000">
              <a:schemeClr val="accent3">
                <a:shade val="50000"/>
                <a:hueOff val="41401"/>
                <a:satOff val="13007"/>
                <a:lumOff val="12737"/>
                <a:alphaOff val="0"/>
                <a:lumMod val="99000"/>
                <a:satMod val="120000"/>
                <a:shade val="78000"/>
              </a:schemeClr>
            </a:gs>
          </a:gsLst>
          <a:lin ang="5400000" scaled="0"/>
        </a:gradFill>
        <a:ln w="6350" cap="flat" cmpd="sng" algn="ctr">
          <a:solidFill>
            <a:schemeClr val="l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31E8C154-F23E-45A1-8F56-3CD6708C6E94}">
      <dsp:nvSpPr>
        <dsp:cNvPr id="0" name=""/>
        <dsp:cNvSpPr/>
      </dsp:nvSpPr>
      <dsp:spPr>
        <a:xfrm>
          <a:off x="274352" y="1180262"/>
          <a:ext cx="2019655" cy="2019655"/>
        </a:xfrm>
        <a:prstGeom prst="ellipse">
          <a:avLst/>
        </a:prstGeom>
        <a:gradFill rotWithShape="0">
          <a:gsLst>
            <a:gs pos="0">
              <a:schemeClr val="accent3">
                <a:shade val="50000"/>
                <a:hueOff val="82802"/>
                <a:satOff val="26014"/>
                <a:lumOff val="25474"/>
                <a:alphaOff val="0"/>
                <a:satMod val="103000"/>
                <a:lumMod val="102000"/>
                <a:tint val="94000"/>
              </a:schemeClr>
            </a:gs>
            <a:gs pos="50000">
              <a:schemeClr val="accent3">
                <a:shade val="50000"/>
                <a:hueOff val="82802"/>
                <a:satOff val="26014"/>
                <a:lumOff val="25474"/>
                <a:alphaOff val="0"/>
                <a:satMod val="110000"/>
                <a:lumMod val="100000"/>
                <a:shade val="100000"/>
              </a:schemeClr>
            </a:gs>
            <a:gs pos="100000">
              <a:schemeClr val="accent3">
                <a:shade val="50000"/>
                <a:hueOff val="82802"/>
                <a:satOff val="26014"/>
                <a:lumOff val="25474"/>
                <a:alphaOff val="0"/>
                <a:lumMod val="99000"/>
                <a:satMod val="120000"/>
                <a:shade val="78000"/>
              </a:schemeClr>
            </a:gs>
          </a:gsLst>
          <a:lin ang="5400000" scaled="0"/>
        </a:gradFill>
        <a:ln w="6350" cap="flat" cmpd="sng" algn="ctr">
          <a:solidFill>
            <a:schemeClr val="l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7EC9D168-5B12-4500-8F3B-DD07A695FE2C}">
      <dsp:nvSpPr>
        <dsp:cNvPr id="0" name=""/>
        <dsp:cNvSpPr/>
      </dsp:nvSpPr>
      <dsp:spPr>
        <a:xfrm>
          <a:off x="576859" y="1423048"/>
          <a:ext cx="1442796" cy="1442796"/>
        </a:xfrm>
        <a:prstGeom prst="ellipse">
          <a:avLst/>
        </a:prstGeom>
        <a:gradFill rotWithShape="0">
          <a:gsLst>
            <a:gs pos="0">
              <a:schemeClr val="accent3">
                <a:shade val="50000"/>
                <a:hueOff val="82802"/>
                <a:satOff val="26014"/>
                <a:lumOff val="25474"/>
                <a:alphaOff val="0"/>
                <a:satMod val="103000"/>
                <a:lumMod val="102000"/>
                <a:tint val="94000"/>
              </a:schemeClr>
            </a:gs>
            <a:gs pos="50000">
              <a:schemeClr val="accent3">
                <a:shade val="50000"/>
                <a:hueOff val="82802"/>
                <a:satOff val="26014"/>
                <a:lumOff val="25474"/>
                <a:alphaOff val="0"/>
                <a:satMod val="110000"/>
                <a:lumMod val="100000"/>
                <a:shade val="100000"/>
              </a:schemeClr>
            </a:gs>
            <a:gs pos="100000">
              <a:schemeClr val="accent3">
                <a:shade val="50000"/>
                <a:hueOff val="82802"/>
                <a:satOff val="26014"/>
                <a:lumOff val="25474"/>
                <a:alphaOff val="0"/>
                <a:lumMod val="99000"/>
                <a:satMod val="120000"/>
                <a:shade val="78000"/>
              </a:schemeClr>
            </a:gs>
          </a:gsLst>
          <a:lin ang="5400000" scaled="0"/>
        </a:gradFill>
        <a:ln w="6350" cap="flat" cmpd="sng" algn="ctr">
          <a:solidFill>
            <a:schemeClr val="l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7F7EE19A-8F3A-4724-BEAD-BD0ACF0F7A40}">
      <dsp:nvSpPr>
        <dsp:cNvPr id="0" name=""/>
        <dsp:cNvSpPr/>
      </dsp:nvSpPr>
      <dsp:spPr>
        <a:xfrm>
          <a:off x="865505" y="1711694"/>
          <a:ext cx="865505" cy="865505"/>
        </a:xfrm>
        <a:prstGeom prst="ellipse">
          <a:avLst/>
        </a:prstGeom>
        <a:gradFill rotWithShape="0">
          <a:gsLst>
            <a:gs pos="0">
              <a:schemeClr val="accent3">
                <a:shade val="50000"/>
                <a:hueOff val="41401"/>
                <a:satOff val="13007"/>
                <a:lumOff val="12737"/>
                <a:alphaOff val="0"/>
                <a:satMod val="103000"/>
                <a:lumMod val="102000"/>
                <a:tint val="94000"/>
              </a:schemeClr>
            </a:gs>
            <a:gs pos="50000">
              <a:schemeClr val="accent3">
                <a:shade val="50000"/>
                <a:hueOff val="41401"/>
                <a:satOff val="13007"/>
                <a:lumOff val="12737"/>
                <a:alphaOff val="0"/>
                <a:satMod val="110000"/>
                <a:lumMod val="100000"/>
                <a:shade val="100000"/>
              </a:schemeClr>
            </a:gs>
            <a:gs pos="100000">
              <a:schemeClr val="accent3">
                <a:shade val="50000"/>
                <a:hueOff val="41401"/>
                <a:satOff val="13007"/>
                <a:lumOff val="12737"/>
                <a:alphaOff val="0"/>
                <a:lumMod val="99000"/>
                <a:satMod val="120000"/>
                <a:shade val="78000"/>
              </a:schemeClr>
            </a:gs>
          </a:gsLst>
          <a:lin ang="5400000" scaled="0"/>
        </a:gradFill>
        <a:ln w="6350" cap="flat" cmpd="sng" algn="ctr">
          <a:solidFill>
            <a:schemeClr val="l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4182155E-781E-4E54-89D7-BC8188F5A744}">
      <dsp:nvSpPr>
        <dsp:cNvPr id="0" name=""/>
        <dsp:cNvSpPr/>
      </dsp:nvSpPr>
      <dsp:spPr>
        <a:xfrm>
          <a:off x="1153934" y="2000123"/>
          <a:ext cx="288645" cy="288645"/>
        </a:xfrm>
        <a:prstGeom prst="ellipse">
          <a:avLst/>
        </a:prstGeom>
        <a:gradFill rotWithShape="0">
          <a:gsLst>
            <a:gs pos="0">
              <a:schemeClr val="accent3">
                <a:shade val="50000"/>
                <a:hueOff val="0"/>
                <a:satOff val="0"/>
                <a:lumOff val="0"/>
                <a:alphaOff val="0"/>
                <a:satMod val="103000"/>
                <a:lumMod val="102000"/>
                <a:tint val="94000"/>
              </a:schemeClr>
            </a:gs>
            <a:gs pos="50000">
              <a:schemeClr val="accent3">
                <a:shade val="50000"/>
                <a:hueOff val="0"/>
                <a:satOff val="0"/>
                <a:lumOff val="0"/>
                <a:alphaOff val="0"/>
                <a:satMod val="110000"/>
                <a:lumMod val="100000"/>
                <a:shade val="100000"/>
              </a:schemeClr>
            </a:gs>
            <a:gs pos="100000">
              <a:schemeClr val="accent3">
                <a:shade val="50000"/>
                <a:hueOff val="0"/>
                <a:satOff val="0"/>
                <a:lumOff val="0"/>
                <a:alphaOff val="0"/>
                <a:lumMod val="99000"/>
                <a:satMod val="120000"/>
                <a:shade val="78000"/>
              </a:schemeClr>
            </a:gs>
          </a:gsLst>
          <a:lin ang="5400000" scaled="0"/>
        </a:gradFill>
        <a:ln w="6350" cap="flat" cmpd="sng" algn="ctr">
          <a:solidFill>
            <a:schemeClr val="l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EE1FF1FD-A00B-4158-BFBB-28C61BE7E5AE}">
      <dsp:nvSpPr>
        <dsp:cNvPr id="0" name=""/>
        <dsp:cNvSpPr/>
      </dsp:nvSpPr>
      <dsp:spPr>
        <a:xfrm>
          <a:off x="3029267" y="201560"/>
          <a:ext cx="1298257" cy="4583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120" tIns="12700" rIns="12700" bIns="12700" numCol="1" spcCol="1270" anchor="ctr" anchorCtr="0">
          <a:noAutofit/>
        </a:bodyPr>
        <a:lstStyle/>
        <a:p>
          <a:pPr marL="0" lvl="0" indent="0" algn="l" defTabSz="444500">
            <a:lnSpc>
              <a:spcPct val="90000"/>
            </a:lnSpc>
            <a:spcBef>
              <a:spcPct val="0"/>
            </a:spcBef>
            <a:spcAft>
              <a:spcPct val="35000"/>
            </a:spcAft>
            <a:buNone/>
          </a:pPr>
          <a:r>
            <a:rPr lang="en-IN" sz="1000" b="0" i="0" u="none" kern="1200" dirty="0"/>
            <a:t>Usage of Government Vehicles</a:t>
          </a:r>
          <a:endParaRPr lang="en-IN" sz="1000" kern="1200" dirty="0"/>
        </a:p>
      </dsp:txBody>
      <dsp:txXfrm>
        <a:off x="3029267" y="201560"/>
        <a:ext cx="1298257" cy="458371"/>
      </dsp:txXfrm>
    </dsp:sp>
    <dsp:sp modelId="{E88A4B30-6C86-46CA-B7F5-9CE85B2A6107}">
      <dsp:nvSpPr>
        <dsp:cNvPr id="0" name=""/>
        <dsp:cNvSpPr/>
      </dsp:nvSpPr>
      <dsp:spPr>
        <a:xfrm>
          <a:off x="2704703" y="430746"/>
          <a:ext cx="324564"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dsp:style>
    </dsp:sp>
    <dsp:sp modelId="{712153F9-D3AF-4B36-9EF6-4B42F8CE4409}">
      <dsp:nvSpPr>
        <dsp:cNvPr id="0" name=""/>
        <dsp:cNvSpPr/>
      </dsp:nvSpPr>
      <dsp:spPr>
        <a:xfrm rot="5400000">
          <a:off x="1143548" y="585455"/>
          <a:ext cx="1713699" cy="1404281"/>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dsp:style>
    </dsp:sp>
    <dsp:sp modelId="{941D03A2-2389-4FF9-954C-F97778503EC5}">
      <dsp:nvSpPr>
        <dsp:cNvPr id="0" name=""/>
        <dsp:cNvSpPr/>
      </dsp:nvSpPr>
      <dsp:spPr>
        <a:xfrm>
          <a:off x="3029267" y="686243"/>
          <a:ext cx="1298257" cy="4583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008" tIns="11430" rIns="11430" bIns="11430" numCol="1" spcCol="1270" anchor="ctr" anchorCtr="0">
          <a:noAutofit/>
        </a:bodyPr>
        <a:lstStyle/>
        <a:p>
          <a:pPr marL="0" lvl="0" indent="0" algn="l" defTabSz="400050">
            <a:lnSpc>
              <a:spcPct val="90000"/>
            </a:lnSpc>
            <a:spcBef>
              <a:spcPct val="0"/>
            </a:spcBef>
            <a:spcAft>
              <a:spcPct val="35000"/>
            </a:spcAft>
            <a:buNone/>
          </a:pPr>
          <a:r>
            <a:rPr lang="en-IN" sz="900" kern="1200" dirty="0"/>
            <a:t>Road Design Issue</a:t>
          </a:r>
        </a:p>
      </dsp:txBody>
      <dsp:txXfrm>
        <a:off x="3029267" y="686243"/>
        <a:ext cx="1298257" cy="458371"/>
      </dsp:txXfrm>
    </dsp:sp>
    <dsp:sp modelId="{3964FE6D-7437-43BB-A5E6-0DF6057B84DC}">
      <dsp:nvSpPr>
        <dsp:cNvPr id="0" name=""/>
        <dsp:cNvSpPr/>
      </dsp:nvSpPr>
      <dsp:spPr>
        <a:xfrm>
          <a:off x="2704703" y="915429"/>
          <a:ext cx="324564"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dsp:style>
    </dsp:sp>
    <dsp:sp modelId="{345E58A7-7608-4639-9DD4-B0F5C5CD5C7F}">
      <dsp:nvSpPr>
        <dsp:cNvPr id="0" name=""/>
        <dsp:cNvSpPr/>
      </dsp:nvSpPr>
      <dsp:spPr>
        <a:xfrm rot="5400000">
          <a:off x="1395367" y="1033311"/>
          <a:ext cx="1426871" cy="1190069"/>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dsp:style>
    </dsp:sp>
    <dsp:sp modelId="{6ED13BAF-2A87-4CDC-B2D7-C6265322572F}">
      <dsp:nvSpPr>
        <dsp:cNvPr id="0" name=""/>
        <dsp:cNvSpPr/>
      </dsp:nvSpPr>
      <dsp:spPr>
        <a:xfrm>
          <a:off x="3029267" y="1170926"/>
          <a:ext cx="1298257" cy="4583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008" tIns="11430" rIns="11430" bIns="11430" numCol="1" spcCol="1270" anchor="ctr" anchorCtr="0">
          <a:noAutofit/>
        </a:bodyPr>
        <a:lstStyle/>
        <a:p>
          <a:pPr marL="0" lvl="0" indent="0" algn="l" defTabSz="400050">
            <a:lnSpc>
              <a:spcPct val="90000"/>
            </a:lnSpc>
            <a:spcBef>
              <a:spcPct val="0"/>
            </a:spcBef>
            <a:spcAft>
              <a:spcPct val="35000"/>
            </a:spcAft>
            <a:buNone/>
          </a:pPr>
          <a:r>
            <a:rPr lang="en-IN" sz="900" kern="1200"/>
            <a:t>Connected to Highway</a:t>
          </a:r>
        </a:p>
      </dsp:txBody>
      <dsp:txXfrm>
        <a:off x="3029267" y="1170926"/>
        <a:ext cx="1298257" cy="458371"/>
      </dsp:txXfrm>
    </dsp:sp>
    <dsp:sp modelId="{A9D7F001-DF4D-4A91-9217-5404D0AADDE7}">
      <dsp:nvSpPr>
        <dsp:cNvPr id="0" name=""/>
        <dsp:cNvSpPr/>
      </dsp:nvSpPr>
      <dsp:spPr>
        <a:xfrm>
          <a:off x="2704703" y="1400112"/>
          <a:ext cx="324564"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dsp:style>
    </dsp:sp>
    <dsp:sp modelId="{9D926439-C174-42A6-935F-4E5707A48EDB}">
      <dsp:nvSpPr>
        <dsp:cNvPr id="0" name=""/>
        <dsp:cNvSpPr/>
      </dsp:nvSpPr>
      <dsp:spPr>
        <a:xfrm rot="5400000">
          <a:off x="1642295" y="1462861"/>
          <a:ext cx="1125156" cy="999658"/>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dsp:style>
    </dsp:sp>
    <dsp:sp modelId="{2ED57F88-9624-4790-ACD2-A386F6C7AF94}">
      <dsp:nvSpPr>
        <dsp:cNvPr id="0" name=""/>
        <dsp:cNvSpPr/>
      </dsp:nvSpPr>
      <dsp:spPr>
        <a:xfrm>
          <a:off x="3029267" y="1645223"/>
          <a:ext cx="1298257" cy="4583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008" tIns="11430" rIns="11430" bIns="11430" numCol="1" spcCol="1270" anchor="ctr" anchorCtr="0">
          <a:noAutofit/>
        </a:bodyPr>
        <a:lstStyle/>
        <a:p>
          <a:pPr marL="0" lvl="0" indent="0" algn="l" defTabSz="400050">
            <a:lnSpc>
              <a:spcPct val="90000"/>
            </a:lnSpc>
            <a:spcBef>
              <a:spcPct val="0"/>
            </a:spcBef>
            <a:spcAft>
              <a:spcPct val="35000"/>
            </a:spcAft>
            <a:buNone/>
          </a:pPr>
          <a:r>
            <a:rPr lang="en-IN" sz="900" kern="1200"/>
            <a:t>More people near Mall and Metro Station</a:t>
          </a:r>
        </a:p>
      </dsp:txBody>
      <dsp:txXfrm>
        <a:off x="3029267" y="1645223"/>
        <a:ext cx="1298257" cy="458371"/>
      </dsp:txXfrm>
    </dsp:sp>
    <dsp:sp modelId="{6793E932-34EE-48AB-BF33-6523F2872064}">
      <dsp:nvSpPr>
        <dsp:cNvPr id="0" name=""/>
        <dsp:cNvSpPr/>
      </dsp:nvSpPr>
      <dsp:spPr>
        <a:xfrm>
          <a:off x="2704703" y="1874409"/>
          <a:ext cx="324564"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dsp:style>
    </dsp:sp>
    <dsp:sp modelId="{63B0CBA6-F5C4-4EC0-9397-2EC852EEDC6D}">
      <dsp:nvSpPr>
        <dsp:cNvPr id="0" name=""/>
        <dsp:cNvSpPr/>
      </dsp:nvSpPr>
      <dsp:spPr>
        <a:xfrm rot="5400000">
          <a:off x="1888099" y="1916385"/>
          <a:ext cx="858580" cy="774626"/>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dsp:style>
    </dsp:sp>
    <dsp:sp modelId="{656E2D21-FB9A-4FE4-B325-6D939380968F}">
      <dsp:nvSpPr>
        <dsp:cNvPr id="0" name=""/>
        <dsp:cNvSpPr/>
      </dsp:nvSpPr>
      <dsp:spPr>
        <a:xfrm>
          <a:off x="3029267" y="2105671"/>
          <a:ext cx="1298257" cy="4583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008" tIns="11430" rIns="11430" bIns="11430" numCol="1" spcCol="1270" anchor="ctr" anchorCtr="0">
          <a:noAutofit/>
        </a:bodyPr>
        <a:lstStyle/>
        <a:p>
          <a:pPr marL="0" lvl="0" indent="0" algn="l" defTabSz="400050">
            <a:lnSpc>
              <a:spcPct val="90000"/>
            </a:lnSpc>
            <a:spcBef>
              <a:spcPct val="0"/>
            </a:spcBef>
            <a:spcAft>
              <a:spcPct val="35000"/>
            </a:spcAft>
            <a:buNone/>
          </a:pPr>
          <a:r>
            <a:rPr lang="en-IN" sz="900" kern="1200"/>
            <a:t>Overflow of Vehicle</a:t>
          </a:r>
        </a:p>
      </dsp:txBody>
      <dsp:txXfrm>
        <a:off x="3029267" y="2105671"/>
        <a:ext cx="1298257" cy="458371"/>
      </dsp:txXfrm>
    </dsp:sp>
    <dsp:sp modelId="{7D26EE35-CFB4-4FAB-82E0-96E4CF44DD70}">
      <dsp:nvSpPr>
        <dsp:cNvPr id="0" name=""/>
        <dsp:cNvSpPr/>
      </dsp:nvSpPr>
      <dsp:spPr>
        <a:xfrm>
          <a:off x="2704703" y="2334857"/>
          <a:ext cx="324564"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dsp:style>
    </dsp:sp>
    <dsp:sp modelId="{EAC00EF4-7D2C-4972-8100-269A38B5C77B}">
      <dsp:nvSpPr>
        <dsp:cNvPr id="0" name=""/>
        <dsp:cNvSpPr/>
      </dsp:nvSpPr>
      <dsp:spPr>
        <a:xfrm rot="5400000">
          <a:off x="2120487" y="2356495"/>
          <a:ext cx="605853" cy="562578"/>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C0D5F79-5AA0-4620-83D0-D865AC379E5F}">
      <dsp:nvSpPr>
        <dsp:cNvPr id="0" name=""/>
        <dsp:cNvSpPr/>
      </dsp:nvSpPr>
      <dsp:spPr>
        <a:xfrm>
          <a:off x="2062098" y="737"/>
          <a:ext cx="1108984" cy="720840"/>
        </a:xfrm>
        <a:prstGeom prst="roundRect">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IN" sz="1100" b="0" i="0" u="none" kern="1200"/>
            <a:t>Increase in Travel Time</a:t>
          </a:r>
          <a:endParaRPr lang="en-IN" sz="1100" kern="1200"/>
        </a:p>
      </dsp:txBody>
      <dsp:txXfrm>
        <a:off x="2097287" y="35926"/>
        <a:ext cx="1038606" cy="650462"/>
      </dsp:txXfrm>
    </dsp:sp>
    <dsp:sp modelId="{7B11A38A-386E-4AEE-AE3A-D5CCB26EDF88}">
      <dsp:nvSpPr>
        <dsp:cNvPr id="0" name=""/>
        <dsp:cNvSpPr/>
      </dsp:nvSpPr>
      <dsp:spPr>
        <a:xfrm>
          <a:off x="1176272" y="361157"/>
          <a:ext cx="2880637" cy="2880637"/>
        </a:xfrm>
        <a:custGeom>
          <a:avLst/>
          <a:gdLst/>
          <a:ahLst/>
          <a:cxnLst/>
          <a:rect l="0" t="0" r="0" b="0"/>
          <a:pathLst>
            <a:path>
              <a:moveTo>
                <a:pt x="2002431" y="114216"/>
              </a:moveTo>
              <a:arcTo wR="1440318" hR="1440318" stAng="17578277" swAng="1961742"/>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066AAAB8-C897-4B36-9691-0B56BEA9B91A}">
      <dsp:nvSpPr>
        <dsp:cNvPr id="0" name=""/>
        <dsp:cNvSpPr/>
      </dsp:nvSpPr>
      <dsp:spPr>
        <a:xfrm>
          <a:off x="3431923" y="995973"/>
          <a:ext cx="1108984" cy="720840"/>
        </a:xfrm>
        <a:prstGeom prst="roundRect">
          <a:avLst/>
        </a:prstGeom>
        <a:gradFill rotWithShape="0">
          <a:gsLst>
            <a:gs pos="0">
              <a:schemeClr val="accent3">
                <a:hueOff val="-2296807"/>
                <a:satOff val="-3259"/>
                <a:lumOff val="-2108"/>
                <a:alphaOff val="0"/>
                <a:lumMod val="110000"/>
                <a:satMod val="105000"/>
                <a:tint val="67000"/>
              </a:schemeClr>
            </a:gs>
            <a:gs pos="50000">
              <a:schemeClr val="accent3">
                <a:hueOff val="-2296807"/>
                <a:satOff val="-3259"/>
                <a:lumOff val="-2108"/>
                <a:alphaOff val="0"/>
                <a:lumMod val="105000"/>
                <a:satMod val="103000"/>
                <a:tint val="73000"/>
              </a:schemeClr>
            </a:gs>
            <a:gs pos="100000">
              <a:schemeClr val="accent3">
                <a:hueOff val="-2296807"/>
                <a:satOff val="-3259"/>
                <a:lumOff val="-2108"/>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IN" sz="1100" b="0" i="0" u="none" kern="1200"/>
            <a:t>Stress and Fatigue</a:t>
          </a:r>
          <a:endParaRPr lang="en-IN" sz="1100" kern="1200"/>
        </a:p>
      </dsp:txBody>
      <dsp:txXfrm>
        <a:off x="3467112" y="1031162"/>
        <a:ext cx="1038606" cy="650462"/>
      </dsp:txXfrm>
    </dsp:sp>
    <dsp:sp modelId="{DD769DCA-579D-40A8-B738-0E68029D4876}">
      <dsp:nvSpPr>
        <dsp:cNvPr id="0" name=""/>
        <dsp:cNvSpPr/>
      </dsp:nvSpPr>
      <dsp:spPr>
        <a:xfrm>
          <a:off x="1176272" y="361157"/>
          <a:ext cx="2880637" cy="2880637"/>
        </a:xfrm>
        <a:custGeom>
          <a:avLst/>
          <a:gdLst/>
          <a:ahLst/>
          <a:cxnLst/>
          <a:rect l="0" t="0" r="0" b="0"/>
          <a:pathLst>
            <a:path>
              <a:moveTo>
                <a:pt x="2878659" y="1364863"/>
              </a:moveTo>
              <a:arcTo wR="1440318" hR="1440318" stAng="21419821" swAng="2196460"/>
            </a:path>
          </a:pathLst>
        </a:custGeom>
        <a:noFill/>
        <a:ln w="6350" cap="flat" cmpd="sng" algn="ctr">
          <a:solidFill>
            <a:schemeClr val="accent3">
              <a:hueOff val="-2296807"/>
              <a:satOff val="-3259"/>
              <a:lumOff val="-2108"/>
              <a:alphaOff val="0"/>
            </a:schemeClr>
          </a:solidFill>
          <a:prstDash val="solid"/>
          <a:miter lim="800000"/>
        </a:ln>
        <a:effectLst/>
      </dsp:spPr>
      <dsp:style>
        <a:lnRef idx="1">
          <a:scrgbClr r="0" g="0" b="0"/>
        </a:lnRef>
        <a:fillRef idx="0">
          <a:scrgbClr r="0" g="0" b="0"/>
        </a:fillRef>
        <a:effectRef idx="0">
          <a:scrgbClr r="0" g="0" b="0"/>
        </a:effectRef>
        <a:fontRef idx="minor"/>
      </dsp:style>
    </dsp:sp>
    <dsp:sp modelId="{2692B1BA-0D23-4B08-B587-307B2A0D41BF}">
      <dsp:nvSpPr>
        <dsp:cNvPr id="0" name=""/>
        <dsp:cNvSpPr/>
      </dsp:nvSpPr>
      <dsp:spPr>
        <a:xfrm>
          <a:off x="2908696" y="2606298"/>
          <a:ext cx="1108984" cy="720840"/>
        </a:xfrm>
        <a:prstGeom prst="roundRect">
          <a:avLst/>
        </a:prstGeom>
        <a:gradFill rotWithShape="0">
          <a:gsLst>
            <a:gs pos="0">
              <a:schemeClr val="accent3">
                <a:hueOff val="-4593614"/>
                <a:satOff val="-6518"/>
                <a:lumOff val="-4216"/>
                <a:alphaOff val="0"/>
                <a:lumMod val="110000"/>
                <a:satMod val="105000"/>
                <a:tint val="67000"/>
              </a:schemeClr>
            </a:gs>
            <a:gs pos="50000">
              <a:schemeClr val="accent3">
                <a:hueOff val="-4593614"/>
                <a:satOff val="-6518"/>
                <a:lumOff val="-4216"/>
                <a:alphaOff val="0"/>
                <a:lumMod val="105000"/>
                <a:satMod val="103000"/>
                <a:tint val="73000"/>
              </a:schemeClr>
            </a:gs>
            <a:gs pos="100000">
              <a:schemeClr val="accent3">
                <a:hueOff val="-4593614"/>
                <a:satOff val="-6518"/>
                <a:lumOff val="-4216"/>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IN" sz="1100" b="0" i="0" u="none" kern="1200"/>
            <a:t>Increased Fuel Consumption</a:t>
          </a:r>
          <a:endParaRPr lang="en-IN" sz="1100" kern="1200"/>
        </a:p>
      </dsp:txBody>
      <dsp:txXfrm>
        <a:off x="2943885" y="2641487"/>
        <a:ext cx="1038606" cy="650462"/>
      </dsp:txXfrm>
    </dsp:sp>
    <dsp:sp modelId="{6F4D6DC8-CBC0-4DD4-BF7A-1EB5C2490377}">
      <dsp:nvSpPr>
        <dsp:cNvPr id="0" name=""/>
        <dsp:cNvSpPr/>
      </dsp:nvSpPr>
      <dsp:spPr>
        <a:xfrm>
          <a:off x="1176272" y="361157"/>
          <a:ext cx="2880637" cy="2880637"/>
        </a:xfrm>
        <a:custGeom>
          <a:avLst/>
          <a:gdLst/>
          <a:ahLst/>
          <a:cxnLst/>
          <a:rect l="0" t="0" r="0" b="0"/>
          <a:pathLst>
            <a:path>
              <a:moveTo>
                <a:pt x="1726701" y="2851879"/>
              </a:moveTo>
              <a:arcTo wR="1440318" hR="1440318" stAng="4711877" swAng="1376245"/>
            </a:path>
          </a:pathLst>
        </a:custGeom>
        <a:noFill/>
        <a:ln w="6350" cap="flat" cmpd="sng" algn="ctr">
          <a:solidFill>
            <a:schemeClr val="accent3">
              <a:hueOff val="-4593614"/>
              <a:satOff val="-6518"/>
              <a:lumOff val="-4216"/>
              <a:alphaOff val="0"/>
            </a:schemeClr>
          </a:solidFill>
          <a:prstDash val="solid"/>
          <a:miter lim="800000"/>
        </a:ln>
        <a:effectLst/>
      </dsp:spPr>
      <dsp:style>
        <a:lnRef idx="1">
          <a:scrgbClr r="0" g="0" b="0"/>
        </a:lnRef>
        <a:fillRef idx="0">
          <a:scrgbClr r="0" g="0" b="0"/>
        </a:fillRef>
        <a:effectRef idx="0">
          <a:scrgbClr r="0" g="0" b="0"/>
        </a:effectRef>
        <a:fontRef idx="minor"/>
      </dsp:style>
    </dsp:sp>
    <dsp:sp modelId="{AEA3CCAE-5B29-4489-97CE-109547790635}">
      <dsp:nvSpPr>
        <dsp:cNvPr id="0" name=""/>
        <dsp:cNvSpPr/>
      </dsp:nvSpPr>
      <dsp:spPr>
        <a:xfrm>
          <a:off x="1215500" y="2606298"/>
          <a:ext cx="1108984" cy="720840"/>
        </a:xfrm>
        <a:prstGeom prst="roundRect">
          <a:avLst/>
        </a:prstGeom>
        <a:gradFill rotWithShape="0">
          <a:gsLst>
            <a:gs pos="0">
              <a:schemeClr val="accent3">
                <a:hueOff val="-6890420"/>
                <a:satOff val="-9777"/>
                <a:lumOff val="-6324"/>
                <a:alphaOff val="0"/>
                <a:lumMod val="110000"/>
                <a:satMod val="105000"/>
                <a:tint val="67000"/>
              </a:schemeClr>
            </a:gs>
            <a:gs pos="50000">
              <a:schemeClr val="accent3">
                <a:hueOff val="-6890420"/>
                <a:satOff val="-9777"/>
                <a:lumOff val="-6324"/>
                <a:alphaOff val="0"/>
                <a:lumMod val="105000"/>
                <a:satMod val="103000"/>
                <a:tint val="73000"/>
              </a:schemeClr>
            </a:gs>
            <a:gs pos="100000">
              <a:schemeClr val="accent3">
                <a:hueOff val="-6890420"/>
                <a:satOff val="-9777"/>
                <a:lumOff val="-6324"/>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IN" sz="1100" b="0" i="0" u="none" kern="1200"/>
            <a:t>Risk of Accident</a:t>
          </a:r>
          <a:endParaRPr lang="en-IN" sz="1100" kern="1200"/>
        </a:p>
      </dsp:txBody>
      <dsp:txXfrm>
        <a:off x="1250689" y="2641487"/>
        <a:ext cx="1038606" cy="650462"/>
      </dsp:txXfrm>
    </dsp:sp>
    <dsp:sp modelId="{30642074-E8FF-4B61-8398-B4AB6072C0A0}">
      <dsp:nvSpPr>
        <dsp:cNvPr id="0" name=""/>
        <dsp:cNvSpPr/>
      </dsp:nvSpPr>
      <dsp:spPr>
        <a:xfrm>
          <a:off x="1176272" y="361157"/>
          <a:ext cx="2880637" cy="2880637"/>
        </a:xfrm>
        <a:custGeom>
          <a:avLst/>
          <a:gdLst/>
          <a:ahLst/>
          <a:cxnLst/>
          <a:rect l="0" t="0" r="0" b="0"/>
          <a:pathLst>
            <a:path>
              <a:moveTo>
                <a:pt x="240711" y="2237476"/>
              </a:moveTo>
              <a:arcTo wR="1440318" hR="1440318" stAng="8783720" swAng="2196460"/>
            </a:path>
          </a:pathLst>
        </a:custGeom>
        <a:noFill/>
        <a:ln w="6350" cap="flat" cmpd="sng" algn="ctr">
          <a:solidFill>
            <a:schemeClr val="accent3">
              <a:hueOff val="-6890420"/>
              <a:satOff val="-9777"/>
              <a:lumOff val="-6324"/>
              <a:alphaOff val="0"/>
            </a:schemeClr>
          </a:solidFill>
          <a:prstDash val="solid"/>
          <a:miter lim="800000"/>
        </a:ln>
        <a:effectLst/>
      </dsp:spPr>
      <dsp:style>
        <a:lnRef idx="1">
          <a:scrgbClr r="0" g="0" b="0"/>
        </a:lnRef>
        <a:fillRef idx="0">
          <a:scrgbClr r="0" g="0" b="0"/>
        </a:fillRef>
        <a:effectRef idx="0">
          <a:scrgbClr r="0" g="0" b="0"/>
        </a:effectRef>
        <a:fontRef idx="minor"/>
      </dsp:style>
    </dsp:sp>
    <dsp:sp modelId="{6D91B09B-9215-413F-9487-2B2A9A5D7852}">
      <dsp:nvSpPr>
        <dsp:cNvPr id="0" name=""/>
        <dsp:cNvSpPr/>
      </dsp:nvSpPr>
      <dsp:spPr>
        <a:xfrm>
          <a:off x="692274" y="995973"/>
          <a:ext cx="1108984" cy="720840"/>
        </a:xfrm>
        <a:prstGeom prst="roundRect">
          <a:avLst/>
        </a:prstGeom>
        <a:gradFill rotWithShape="0">
          <a:gsLst>
            <a:gs pos="0">
              <a:schemeClr val="accent3">
                <a:hueOff val="-9187227"/>
                <a:satOff val="-13036"/>
                <a:lumOff val="-8432"/>
                <a:alphaOff val="0"/>
                <a:lumMod val="110000"/>
                <a:satMod val="105000"/>
                <a:tint val="67000"/>
              </a:schemeClr>
            </a:gs>
            <a:gs pos="50000">
              <a:schemeClr val="accent3">
                <a:hueOff val="-9187227"/>
                <a:satOff val="-13036"/>
                <a:lumOff val="-8432"/>
                <a:alphaOff val="0"/>
                <a:lumMod val="105000"/>
                <a:satMod val="103000"/>
                <a:tint val="73000"/>
              </a:schemeClr>
            </a:gs>
            <a:gs pos="100000">
              <a:schemeClr val="accent3">
                <a:hueOff val="-9187227"/>
                <a:satOff val="-13036"/>
                <a:lumOff val="-8432"/>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IN" sz="1100" b="0" i="0" u="none" kern="1200"/>
            <a:t>Misses appointment &amp; Events</a:t>
          </a:r>
          <a:endParaRPr lang="en-IN" sz="1100" kern="1200"/>
        </a:p>
      </dsp:txBody>
      <dsp:txXfrm>
        <a:off x="727463" y="1031162"/>
        <a:ext cx="1038606" cy="650462"/>
      </dsp:txXfrm>
    </dsp:sp>
    <dsp:sp modelId="{5220B9F4-31D4-4D88-B6E0-AD1E94B09176}">
      <dsp:nvSpPr>
        <dsp:cNvPr id="0" name=""/>
        <dsp:cNvSpPr/>
      </dsp:nvSpPr>
      <dsp:spPr>
        <a:xfrm>
          <a:off x="1176272" y="361157"/>
          <a:ext cx="2880637" cy="2880637"/>
        </a:xfrm>
        <a:custGeom>
          <a:avLst/>
          <a:gdLst/>
          <a:ahLst/>
          <a:cxnLst/>
          <a:rect l="0" t="0" r="0" b="0"/>
          <a:pathLst>
            <a:path>
              <a:moveTo>
                <a:pt x="250941" y="627976"/>
              </a:moveTo>
              <a:arcTo wR="1440318" hR="1440318" stAng="12859981" swAng="1961742"/>
            </a:path>
          </a:pathLst>
        </a:custGeom>
        <a:noFill/>
        <a:ln w="6350" cap="flat" cmpd="sng" algn="ctr">
          <a:solidFill>
            <a:schemeClr val="accent3">
              <a:hueOff val="-9187227"/>
              <a:satOff val="-13036"/>
              <a:lumOff val="-8432"/>
              <a:alphaOff val="0"/>
            </a:schemeClr>
          </a:solidFill>
          <a:prstDash val="solid"/>
          <a:miter lim="800000"/>
        </a:ln>
        <a:effectLst/>
      </dsp:spPr>
      <dsp:style>
        <a:lnRef idx="1">
          <a:scrgbClr r="0" g="0" b="0"/>
        </a:lnRef>
        <a:fillRef idx="0">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F1296A-2643-4119-9AB9-B4A4AC015553}">
      <dsp:nvSpPr>
        <dsp:cNvPr id="0" name=""/>
        <dsp:cNvSpPr/>
      </dsp:nvSpPr>
      <dsp:spPr>
        <a:xfrm rot="21300000">
          <a:off x="14859" y="1142515"/>
          <a:ext cx="4812425" cy="551095"/>
        </a:xfrm>
        <a:prstGeom prst="mathMinus">
          <a:avLst/>
        </a:prstGeom>
        <a:solidFill>
          <a:schemeClr val="accent2">
            <a:tint val="4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04D3113-477E-48C1-A814-084FF89DDB09}">
      <dsp:nvSpPr>
        <dsp:cNvPr id="0" name=""/>
        <dsp:cNvSpPr/>
      </dsp:nvSpPr>
      <dsp:spPr>
        <a:xfrm>
          <a:off x="562448" y="73761"/>
          <a:ext cx="1452643" cy="1134450"/>
        </a:xfrm>
        <a:prstGeom prst="downArrow">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DC1BDFA-4B42-44D4-951D-24B854A266EB}">
      <dsp:nvSpPr>
        <dsp:cNvPr id="0" name=""/>
        <dsp:cNvSpPr/>
      </dsp:nvSpPr>
      <dsp:spPr>
        <a:xfrm>
          <a:off x="2566336" y="0"/>
          <a:ext cx="1549486" cy="11911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128" tIns="135128" rIns="135128" bIns="135128" numCol="1" spcCol="1270" anchor="ctr" anchorCtr="0">
          <a:noAutofit/>
        </a:bodyPr>
        <a:lstStyle/>
        <a:p>
          <a:pPr marL="0" lvl="0" indent="0" algn="ctr" defTabSz="844550">
            <a:lnSpc>
              <a:spcPct val="90000"/>
            </a:lnSpc>
            <a:spcBef>
              <a:spcPct val="0"/>
            </a:spcBef>
            <a:spcAft>
              <a:spcPct val="35000"/>
            </a:spcAft>
            <a:buNone/>
          </a:pPr>
          <a:r>
            <a:rPr lang="en-IN" sz="1900" kern="1200" dirty="0"/>
            <a:t>Electric Vehicle</a:t>
          </a:r>
        </a:p>
      </dsp:txBody>
      <dsp:txXfrm>
        <a:off x="2566336" y="0"/>
        <a:ext cx="1549486" cy="1191173"/>
      </dsp:txXfrm>
    </dsp:sp>
    <dsp:sp modelId="{E63EA563-F94A-4466-8745-C2BE22800F09}">
      <dsp:nvSpPr>
        <dsp:cNvPr id="0" name=""/>
        <dsp:cNvSpPr/>
      </dsp:nvSpPr>
      <dsp:spPr>
        <a:xfrm>
          <a:off x="2808443" y="1559869"/>
          <a:ext cx="1452643" cy="1134450"/>
        </a:xfrm>
        <a:prstGeom prst="upArrow">
          <a:avLst/>
        </a:prstGeom>
        <a:solidFill>
          <a:schemeClr val="accent2">
            <a:hueOff val="12948438"/>
            <a:satOff val="2002"/>
            <a:lumOff val="784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9E86CF1-D44D-4F78-BEEF-F7B847CF5419}">
      <dsp:nvSpPr>
        <dsp:cNvPr id="0" name=""/>
        <dsp:cNvSpPr/>
      </dsp:nvSpPr>
      <dsp:spPr>
        <a:xfrm>
          <a:off x="726321" y="1644953"/>
          <a:ext cx="1549486" cy="11911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128" tIns="135128" rIns="135128" bIns="135128" numCol="1" spcCol="1270" anchor="ctr" anchorCtr="0">
          <a:noAutofit/>
        </a:bodyPr>
        <a:lstStyle/>
        <a:p>
          <a:pPr marL="0" lvl="0" indent="0" algn="ctr" defTabSz="844550">
            <a:lnSpc>
              <a:spcPct val="90000"/>
            </a:lnSpc>
            <a:spcBef>
              <a:spcPct val="0"/>
            </a:spcBef>
            <a:spcAft>
              <a:spcPct val="35000"/>
            </a:spcAft>
            <a:buNone/>
          </a:pPr>
          <a:r>
            <a:rPr lang="en-IN" sz="1900" kern="1200"/>
            <a:t>Convetional Vehicle</a:t>
          </a:r>
        </a:p>
      </dsp:txBody>
      <dsp:txXfrm>
        <a:off x="726321" y="1644953"/>
        <a:ext cx="1549486" cy="1191173"/>
      </dsp:txXfrm>
    </dsp:sp>
  </dsp:spTree>
</dsp:drawing>
</file>

<file path=ppt/diagrams/layout1.xml><?xml version="1.0" encoding="utf-8"?>
<dgm:layoutDef xmlns:dgm="http://schemas.openxmlformats.org/drawingml/2006/diagram" xmlns:a="http://schemas.openxmlformats.org/drawingml/2006/main" uniqueId="urn:microsoft.com/office/officeart/2005/8/layout/target1">
  <dgm:title val=""/>
  <dgm:desc val=""/>
  <dgm:catLst>
    <dgm:cat type="relationship" pri="25000"/>
    <dgm:cat type="convert" pri="2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ite">
    <dgm:varLst>
      <dgm:chMax val="5"/>
      <dgm:dir/>
      <dgm:resizeHandles val="exact"/>
    </dgm:varLst>
    <dgm:alg type="composite">
      <dgm:param type="ar" val="1.25"/>
    </dgm:alg>
    <dgm:shape xmlns:r="http://schemas.openxmlformats.org/officeDocument/2006/relationships" r:blip="">
      <dgm:adjLst/>
    </dgm:shape>
    <dgm:presOf/>
    <dgm:choose name="Name0">
      <dgm:if name="Name1" func="var" arg="dir" op="equ" val="norm">
        <dgm:choose name="Name2">
          <dgm:if name="Name3" axis="ch" ptType="node" func="cnt" op="equ" val="0">
            <dgm:constrLst/>
          </dgm:if>
          <dgm:if name="Name4" axis="ch" ptType="node" func="cnt" op="equ" val="1">
            <dgm:constrLst>
              <dgm:constr type="primFontSz" for="des" ptType="node" op="equ" val="65"/>
              <dgm:constr type="w" for="ch" forName="circle1" refType="w" fact="0.6"/>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3125"/>
              <dgm:constr type="r" for="ch" forName="text1" refType="w"/>
              <dgm:constr type="t" for="ch" forName="text1"/>
              <dgm:constr type="l" for="ch" forName="line1" refType="w" fact="0.625"/>
              <dgm:constr type="ctrY" for="ch" forName="line1" refType="ctrY" refFor="ch" refForName="text1"/>
              <dgm:constr type="r" for="ch" forName="line1" refType="l" refFor="ch" refForName="text1"/>
              <dgm:constr type="h" for="ch" forName="line1"/>
              <dgm:constr type="l" for="ch" forName="d1" refType="w" fact="0.3"/>
              <dgm:constr type="b" for="ch" forName="d1" refType="h" fact="0.625"/>
              <dgm:constr type="w" for="ch" forName="d1" refType="w" fact="0.32475"/>
              <dgm:constr type="h" for="ch" forName="d1" refType="h" fact="0.469"/>
            </dgm:constrLst>
          </dgm:if>
          <dgm:if name="Name5" axis="ch" ptType="node" func="cnt" op="equ" val="2">
            <dgm:constrLst>
              <dgm:constr type="primFontSz" for="des" ptType="node" op="equ" val="65"/>
              <dgm:constr type="w" for="ch" forName="circle1" refType="w" fact="0.2"/>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3125"/>
              <dgm:constr type="r" for="ch" forName="text1" refType="w"/>
              <dgm:constr type="t" for="ch" forName="text1"/>
              <dgm:constr type="l" for="ch" forName="line1" refType="w" fact="0.625"/>
              <dgm:constr type="ctrY" for="ch" forName="line1" refType="ctrY" refFor="ch" refForName="text1"/>
              <dgm:constr type="w" for="ch" forName="line1" refType="w" fact="0.075"/>
              <dgm:constr type="h" for="ch" forName="line1"/>
              <dgm:constr type="l" for="ch" forName="d1" refType="w" fact="0.3"/>
              <dgm:constr type="b" for="ch" forName="d1" refType="h" fact="0.625"/>
              <dgm:constr type="w" for="ch" forName="d1" refType="w" fact="0.32475"/>
              <dgm:constr type="h" for="ch" forName="d1" refType="h" fact="0.469"/>
              <dgm:constr type="w" for="ch" forName="circle2" refType="w" fact="0.6"/>
              <dgm:constr type="h" for="ch" forName="circle2" refType="w" refFor="ch" refForName="circle2"/>
              <dgm:constr type="ctrX" for="ch" forName="circle2" refType="w" fact="0.3"/>
              <dgm:constr type="ctrY" for="ch" forName="circle2" refType="h" fact="0.625"/>
              <dgm:constr type="w" for="ch" forName="text2" refType="w" fact="0.3"/>
              <dgm:constr type="h" for="ch" forName="text2" refType="h" fact="0.3125"/>
              <dgm:constr type="r" for="ch" forName="text2" refType="w"/>
              <dgm:constr type="t" for="ch" forName="text2" refType="b" refFor="ch" refForName="text1"/>
              <dgm:constr type="l" for="ch" forName="line2" refType="w" fact="0.625"/>
              <dgm:constr type="ctrY" for="ch" forName="line2" refType="ctrY" refFor="ch" refForName="text2"/>
              <dgm:constr type="w" for="ch" forName="line2" refType="w" fact="0.075"/>
              <dgm:constr type="h" for="ch" forName="line2"/>
              <dgm:constr type="l" for="ch" forName="d2" refType="w" fact="0.44325"/>
              <dgm:constr type="b" for="ch" forName="d2" refType="h" fact="0.7975"/>
              <dgm:constr type="w" for="ch" forName="d2" refType="w" fact="0.1815"/>
              <dgm:constr type="h" for="ch" forName="d2" refType="h" fact="0.3283"/>
            </dgm:constrLst>
          </dgm:if>
          <dgm:if name="Name6" axis="ch" ptType="node" func="cnt" op="equ" val="3">
            <dgm:constrLst>
              <dgm:constr type="primFontSz" for="des" ptType="node" op="equ" val="65"/>
              <dgm:constr type="w" for="ch" forName="circle1" refType="w" fact="0.12"/>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21875"/>
              <dgm:constr type="r" for="ch" forName="text1" refType="w"/>
              <dgm:constr type="t" for="ch" forName="text1"/>
              <dgm:constr type="l" for="ch" forName="line1" refType="w" fact="0.625"/>
              <dgm:constr type="ctrY" for="ch" forName="line1" refType="ctrY" refFor="ch" refForName="text1"/>
              <dgm:constr type="w" for="ch" forName="line1" refType="w" fact="0.075"/>
              <dgm:constr type="h" for="ch" forName="line1"/>
              <dgm:constr type="l" for="ch" forName="d1" refType="w" fact="0.3"/>
              <dgm:constr type="b" for="ch" forName="d1" refType="h" fact="0.625"/>
              <dgm:constr type="w" for="ch" forName="d1" refType="w" fact="0.3247"/>
              <dgm:constr type="h" for="ch" forName="d1" refType="h" fact="0.5155"/>
              <dgm:constr type="w" for="ch" forName="circle2" refType="w" fact="0.36"/>
              <dgm:constr type="h" for="ch" forName="circle2" refType="w" refFor="ch" refForName="circle2"/>
              <dgm:constr type="ctrX" for="ch" forName="circle2" refType="w" fact="0.3"/>
              <dgm:constr type="ctrY" for="ch" forName="circle2" refType="h" fact="0.625"/>
              <dgm:constr type="w" for="ch" forName="text2" refType="w" fact="0.3"/>
              <dgm:constr type="h" for="ch" forName="text2" refType="h" fact="0.21875"/>
              <dgm:constr type="r" for="ch" forName="text2" refType="w"/>
              <dgm:constr type="t" for="ch" forName="text2" refType="b" refFor="ch" refForName="text1"/>
              <dgm:constr type="l" for="ch" forName="line2" refType="w" fact="0.625"/>
              <dgm:constr type="ctrY" for="ch" forName="line2" refType="ctrY" refFor="ch" refForName="text2"/>
              <dgm:constr type="w" for="ch" forName="line2" refType="w" fact="0.075"/>
              <dgm:constr type="h" for="ch" forName="line2"/>
              <dgm:constr type="l" for="ch" forName="d2" refType="w" fact="0.386"/>
              <dgm:constr type="b" for="ch" forName="d2" refType="h" fact="0.72969"/>
              <dgm:constr type="w" for="ch" forName="d2" refType="w" fact="0.2387"/>
              <dgm:constr type="h" for="ch" forName="d2" refType="h" fact="0.4017"/>
              <dgm:constr type="w" for="ch" forName="circle3" refType="w" fact="0.6"/>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21875"/>
              <dgm:constr type="r" for="ch" forName="text3" refType="w"/>
              <dgm:constr type="t" for="ch" forName="text3" refType="b" refFor="ch" refForName="text2"/>
              <dgm:constr type="l" for="ch" forName="line3" refType="w" fact="0.625"/>
              <dgm:constr type="ctrY" for="ch" forName="line3" refType="ctrY" refFor="ch" refForName="text3"/>
              <dgm:constr type="w" for="ch" forName="line3" refType="w" fact="0.075"/>
              <dgm:constr type="h" for="ch" forName="line3"/>
              <dgm:constr type="l" for="ch" forName="d3" refType="w" fact="0.47175"/>
              <dgm:constr type="b" for="ch" forName="d3" refType="h" fact="0.83375"/>
              <dgm:constr type="w" for="ch" forName="d3" refType="w" fact="0.1527"/>
              <dgm:constr type="h" for="ch" forName="d3" refType="h" fact="0.287"/>
            </dgm:constrLst>
          </dgm:if>
          <dgm:if name="Name7" axis="ch" ptType="node" func="cnt" op="equ" val="4">
            <dgm:constrLst>
              <dgm:constr type="primFontSz" for="des" ptType="node" op="equ" val="65"/>
              <dgm:constr type="w" for="ch" forName="circle1" refType="w" fact="0.0857"/>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17938"/>
              <dgm:constr type="r" for="ch" forName="text1" refType="w"/>
              <dgm:constr type="t" for="ch" forName="text1"/>
              <dgm:constr type="l" for="ch" forName="line1" refType="w" fact="0.625"/>
              <dgm:constr type="ctrY" for="ch" forName="line1" refType="ctrY" refFor="ch" refForName="text1"/>
              <dgm:constr type="w" for="ch" forName="line1" refType="w" fact="0.075"/>
              <dgm:constr type="h" for="ch" forName="line1"/>
              <dgm:constr type="l" for="ch" forName="d1" refType="w" fact="0.295"/>
              <dgm:constr type="b" for="ch" forName="d1" refType="h" fact="0.62"/>
              <dgm:constr type="w" for="ch" forName="d1" refType="w" fact="0.33"/>
              <dgm:constr type="h" for="ch" forName="d1" refType="h" fact="0.53"/>
              <dgm:constr type="w" for="ch" forName="circle2" refType="w" fact="0.2571"/>
              <dgm:constr type="h" for="ch" forName="circle2" refType="w" refFor="ch" refForName="circle2"/>
              <dgm:constr type="ctrX" for="ch" forName="circle2" refType="w" fact="0.3"/>
              <dgm:constr type="ctrY" for="ch" forName="circle2" refType="h" fact="0.625"/>
              <dgm:constr type="w" for="ch" forName="text2" refType="w" fact="0.3"/>
              <dgm:constr type="h" for="ch" forName="text2" refType="h" fact="0.17938"/>
              <dgm:constr type="r" for="ch" forName="text2" refType="w"/>
              <dgm:constr type="t" for="ch" forName="text2" refType="b" refFor="ch" refForName="text1"/>
              <dgm:constr type="l" for="ch" forName="line2" refType="w" fact="0.625"/>
              <dgm:constr type="ctrY" for="ch" forName="line2" refType="ctrY" refFor="ch" refForName="text2"/>
              <dgm:constr type="w" for="ch" forName="line2" refType="w" fact="0.075"/>
              <dgm:constr type="h" for="ch" forName="line2"/>
              <dgm:constr type="l" for="ch" forName="d2" refType="w" fact="0.36625"/>
              <dgm:constr type="b" for="ch" forName="d2" refType="h" fact="0.70438"/>
              <dgm:constr type="w" for="ch" forName="d2" refType="w" fact="0.2585"/>
              <dgm:constr type="h" for="ch" forName="d2" refType="h" fact="0.43525"/>
              <dgm:constr type="w" for="ch" forName="circle3" refType="w" fact="0.4285"/>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17938"/>
              <dgm:constr type="r" for="ch" forName="text3" refType="w"/>
              <dgm:constr type="t" for="ch" forName="text3" refType="b" refFor="ch" refForName="text2"/>
              <dgm:constr type="l" for="ch" forName="line3" refType="w" fact="0.625"/>
              <dgm:constr type="ctrY" for="ch" forName="line3" refType="ctrY" refFor="ch" refForName="text3"/>
              <dgm:constr type="w" for="ch" forName="line3" refType="w" fact="0.075"/>
              <dgm:constr type="h" for="ch" forName="line3"/>
              <dgm:constr type="l" for="ch" forName="d3" refType="w" fact="0.4255"/>
              <dgm:constr type="b" for="ch" forName="d3" refType="h" fact="0.78031"/>
              <dgm:constr type="w" for="ch" forName="d3" refType="w" fact="0.1995"/>
              <dgm:constr type="h" for="ch" forName="d3" refType="h" fact="0.332"/>
              <dgm:constr type="w" for="ch" forName="circle4" refType="w" fact="0.6"/>
              <dgm:constr type="h" for="ch" forName="circle4" refType="w" refFor="ch" refForName="circle4"/>
              <dgm:constr type="ctrX" for="ch" forName="circle4" refType="ctrX" refFor="ch" refForName="circle1"/>
              <dgm:constr type="ctrY" for="ch" forName="circle4" refType="ctrY" refFor="ch" refForName="circle1"/>
              <dgm:constr type="w" for="ch" forName="text4" refType="w" fact="0.3"/>
              <dgm:constr type="h" for="ch" forName="text4" refType="h" fact="0.17938"/>
              <dgm:constr type="r" for="ch" forName="text4" refType="w"/>
              <dgm:constr type="t" for="ch" forName="text4" refType="b" refFor="ch" refForName="text3"/>
              <dgm:constr type="l" for="ch" forName="line4" refType="w" fact="0.625"/>
              <dgm:constr type="ctrY" for="ch" forName="line4" refType="ctrY" refFor="ch" refForName="text4"/>
              <dgm:constr type="w" for="ch" forName="line4" refType="w" fact="0.075"/>
              <dgm:constr type="h" for="ch" forName="line4"/>
              <dgm:constr type="l" for="ch" forName="d4" refType="w" fact="0.48525"/>
              <dgm:constr type="b" for="ch" forName="d4" refType="h" fact="0.85594"/>
              <dgm:constr type="w" for="ch" forName="d4" refType="w" fact="0.1394"/>
              <dgm:constr type="h" for="ch" forName="d4" refType="h" fact="0.2282"/>
            </dgm:constrLst>
          </dgm:if>
          <dgm:if name="Name8" axis="ch" ptType="node" func="cnt" op="gte" val="5">
            <dgm:constrLst>
              <dgm:constr type="primFontSz" for="des" ptType="node" op="equ" val="65"/>
              <dgm:constr type="w" for="ch" forName="circle1" refType="w" fact="0.0667"/>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1324"/>
              <dgm:constr type="r" for="ch" forName="text1" refType="w"/>
              <dgm:constr type="ctrY" for="ch" forName="text1" refType="h" fact="0.13"/>
              <dgm:constr type="l" for="ch" forName="line1" refType="w" fact="0.625"/>
              <dgm:constr type="ctrY" for="ch" forName="line1" refType="ctrY" refFor="ch" refForName="text1"/>
              <dgm:constr type="w" for="ch" forName="line1" refType="w" fact="0.075"/>
              <dgm:constr type="h" for="ch" forName="line1"/>
              <dgm:constr type="l" for="ch" forName="d1" refType="w" fact="0.3"/>
              <dgm:constr type="b" for="ch" forName="d1" refType="h" fact="0.625"/>
              <dgm:constr type="w" for="ch" forName="d1" refType="w" fact="0.3245"/>
              <dgm:constr type="h" for="ch" forName="d1" refType="h" fact="0.495"/>
              <dgm:constr type="w" for="ch" forName="circle2" refType="w" fact="0.2"/>
              <dgm:constr type="h" for="ch" forName="circle2" refType="w" refFor="ch" refForName="circle2"/>
              <dgm:constr type="ctrX" for="ch" forName="circle2" refType="w" fact="0.3"/>
              <dgm:constr type="ctrY" for="ch" forName="circle2" refType="h" fact="0.625"/>
              <dgm:constr type="w" for="ch" forName="text2" refType="w" fact="0.3"/>
              <dgm:constr type="h" for="ch" forName="text2" refType="h" fact="0.1324"/>
              <dgm:constr type="r" for="ch" forName="text2" refType="w"/>
              <dgm:constr type="ctrY" for="ch" forName="text2" refType="h" fact="0.27"/>
              <dgm:constr type="l" for="ch" forName="line2" refType="w" fact="0.625"/>
              <dgm:constr type="ctrY" for="ch" forName="line2" refType="ctrY" refFor="ch" refForName="text2"/>
              <dgm:constr type="w" for="ch" forName="line2" refType="w" fact="0.075"/>
              <dgm:constr type="h" for="ch" forName="line2"/>
              <dgm:constr type="l" for="ch" forName="d2" refType="w" fact="0.3498"/>
              <dgm:constr type="b" for="ch" forName="d2" refType="h" fact="0.682"/>
              <dgm:constr type="w" for="ch" forName="d2" refType="w" fact="0.275"/>
              <dgm:constr type="h" for="ch" forName="d2" refType="h" fact="0.41215"/>
              <dgm:constr type="w" for="ch" forName="circle3" refType="w" fact="0.3334"/>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1324"/>
              <dgm:constr type="r" for="ch" forName="text3" refType="w"/>
              <dgm:constr type="ctrY" for="ch" forName="text3" refType="h" fact="0.41"/>
              <dgm:constr type="l" for="ch" forName="line3" refType="w" fact="0.625"/>
              <dgm:constr type="ctrY" for="ch" forName="line3" refType="ctrY" refFor="ch" refForName="text3"/>
              <dgm:constr type="w" for="ch" forName="line3" refType="w" fact="0.075"/>
              <dgm:constr type="h" for="ch" forName="line3"/>
              <dgm:constr type="l" for="ch" forName="d3" refType="w" fact="0.394"/>
              <dgm:constr type="b" for="ch" forName="d3" refType="h" fact="0.735"/>
              <dgm:constr type="w" for="ch" forName="d3" refType="w" fact="0.231"/>
              <dgm:constr type="h" for="ch" forName="d3" refType="h" fact="0.325"/>
              <dgm:constr type="w" for="ch" forName="circle4" refType="w" fact="0.4667"/>
              <dgm:constr type="h" for="ch" forName="circle4" refType="w" refFor="ch" refForName="circle4"/>
              <dgm:constr type="ctrX" for="ch" forName="circle4" refType="ctrX" refFor="ch" refForName="circle1"/>
              <dgm:constr type="ctrY" for="ch" forName="circle4" refType="ctrY" refFor="ch" refForName="circle1"/>
              <dgm:constr type="w" for="ch" forName="text4" refType="w" fact="0.3"/>
              <dgm:constr type="h" for="ch" forName="text4" refType="h" fact="0.1324"/>
              <dgm:constr type="r" for="ch" forName="text4" refType="w"/>
              <dgm:constr type="ctrY" for="ch" forName="text4" refType="h" fact="0.547"/>
              <dgm:constr type="l" for="ch" forName="line4" refType="w" fact="0.625"/>
              <dgm:constr type="ctrY" for="ch" forName="line4" refType="ctrY" refFor="ch" refForName="text4"/>
              <dgm:constr type="w" for="ch" forName="line4" refType="w" fact="0.075"/>
              <dgm:constr type="h" for="ch" forName="line4"/>
              <dgm:constr type="l" for="ch" forName="d4" refType="w" fact="0.446"/>
              <dgm:constr type="b" for="ch" forName="d4" refType="h" fact="0.795"/>
              <dgm:constr type="w" for="ch" forName="d4" refType="w" fact="0.179"/>
              <dgm:constr type="h" for="ch" forName="d4" refType="h" fact="0.248"/>
              <dgm:constr type="w" for="ch" forName="circle5" refType="w" fact="0.6"/>
              <dgm:constr type="h" for="ch" forName="circle5" refType="w" refFor="ch" refForName="circle5"/>
              <dgm:constr type="ctrX" for="ch" forName="circle5" refType="ctrX" refFor="ch" refForName="circle1"/>
              <dgm:constr type="ctrY" for="ch" forName="circle5" refType="ctrY" refFor="ch" refForName="circle1"/>
              <dgm:constr type="w" for="ch" forName="text5" refType="w" fact="0.3"/>
              <dgm:constr type="h" for="ch" forName="text5" refType="h" fact="0.1324"/>
              <dgm:constr type="r" for="ch" forName="text5" refType="w"/>
              <dgm:constr type="ctrY" for="ch" forName="text5" refType="h" fact="0.68"/>
              <dgm:constr type="l" for="ch" forName="line5" refType="w" fact="0.625"/>
              <dgm:constr type="ctrY" for="ch" forName="line5" refType="ctrY" refFor="ch" refForName="text5"/>
              <dgm:constr type="w" for="ch" forName="line5" refType="w" fact="0.075"/>
              <dgm:constr type="h" for="ch" forName="line5"/>
              <dgm:constr type="l" for="ch" forName="d5" refType="w" fact="0.495"/>
              <dgm:constr type="b" for="ch" forName="d5" refType="h" fact="0.855"/>
              <dgm:constr type="w" for="ch" forName="d5" refType="w" fact="0.13"/>
              <dgm:constr type="h" for="ch" forName="d5" refType="h" fact="0.175"/>
            </dgm:constrLst>
          </dgm:if>
          <dgm:else name="Name9"/>
        </dgm:choose>
      </dgm:if>
      <dgm:else name="Name10">
        <dgm:choose name="Name11">
          <dgm:if name="Name12" axis="ch" ptType="node" func="cnt" op="equ" val="0">
            <dgm:constrLst/>
          </dgm:if>
          <dgm:if name="Name13" axis="ch" ptType="node" func="cnt" op="equ" val="1">
            <dgm:constrLst>
              <dgm:constr type="primFontSz" for="des" ptType="node" op="equ" val="65"/>
              <dgm:constr type="w" for="ch" forName="circle1" refType="w" fact="0.6"/>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3125"/>
              <dgm:constr type="l" for="ch" forName="text1"/>
              <dgm:constr type="t" for="ch" forName="text1"/>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
              <dgm:constr type="b" for="ch" forName="d1" refType="h" fact="0.625"/>
              <dgm:constr type="w" for="ch" forName="d1" refType="w" fact="0.32475"/>
              <dgm:constr type="h" for="ch" forName="d1" refType="h" fact="0.469"/>
            </dgm:constrLst>
          </dgm:if>
          <dgm:if name="Name14" axis="ch" ptType="node" func="cnt" op="equ" val="2">
            <dgm:constrLst>
              <dgm:constr type="primFontSz" for="des" ptType="node" op="equ" val="65"/>
              <dgm:constr type="w" for="ch" forName="circle1" refType="w" fact="0.2"/>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3125"/>
              <dgm:constr type="l" for="ch" forName="text1"/>
              <dgm:constr type="t" for="ch" forName="text1"/>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
              <dgm:constr type="b" for="ch" forName="d1" refType="h" fact="0.625"/>
              <dgm:constr type="w" for="ch" forName="d1" refType="w" fact="0.32475"/>
              <dgm:constr type="h" for="ch" forName="d1" refType="h" fact="0.469"/>
              <dgm:constr type="w" for="ch" forName="circle2" refType="w" fact="0.6"/>
              <dgm:constr type="h" for="ch" forName="circle2" refType="w" refFor="ch" refForName="circle2"/>
              <dgm:constr type="ctrX" for="ch" forName="circle2" refType="w" fact="0.7"/>
              <dgm:constr type="ctrY" for="ch" forName="circle2" refType="h" fact="0.625"/>
              <dgm:constr type="w" for="ch" forName="text2" refType="w" fact="0.3"/>
              <dgm:constr type="h" for="ch" forName="text2" refType="h" fact="0.3125"/>
              <dgm:constr type="l" for="ch" forName="text2"/>
              <dgm:constr type="t" for="ch" forName="text2" refType="b" refFor="ch" refForName="text1"/>
              <dgm:constr type="l" for="ch" forName="line2" refType="r" refFor="ch" refForName="text2"/>
              <dgm:constr type="ctrY" for="ch" forName="line2" refType="ctrY" refFor="ch" refForName="text2"/>
              <dgm:constr type="r" for="ch" forName="line2" refType="w" fact="0.375"/>
              <dgm:constr type="h" for="ch" forName="line2"/>
              <dgm:constr type="r" for="ch" forName="d2" refType="w" fact="0.55675"/>
              <dgm:constr type="b" for="ch" forName="d2" refType="h" fact="0.7975"/>
              <dgm:constr type="w" for="ch" forName="d2" refType="w" fact="0.1815"/>
              <dgm:constr type="h" for="ch" forName="d2" refType="h" fact="0.3283"/>
            </dgm:constrLst>
          </dgm:if>
          <dgm:if name="Name15" axis="ch" ptType="node" func="cnt" op="equ" val="3">
            <dgm:constrLst>
              <dgm:constr type="primFontSz" for="des" ptType="node" op="equ" val="65"/>
              <dgm:constr type="w" for="ch" forName="circle1" refType="w" fact="0.12"/>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21875"/>
              <dgm:constr type="l" for="ch" forName="text1"/>
              <dgm:constr type="t" for="ch" forName="text1"/>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
              <dgm:constr type="b" for="ch" forName="d1" refType="h" fact="0.625"/>
              <dgm:constr type="w" for="ch" forName="d1" refType="w" fact="0.3247"/>
              <dgm:constr type="h" for="ch" forName="d1" refType="h" fact="0.5155"/>
              <dgm:constr type="w" for="ch" forName="circle2" refType="w" fact="0.36"/>
              <dgm:constr type="h" for="ch" forName="circle2" refType="w" refFor="ch" refForName="circle2"/>
              <dgm:constr type="ctrX" for="ch" forName="circle2" refType="w" fact="0.7"/>
              <dgm:constr type="ctrY" for="ch" forName="circle2" refType="h" fact="0.625"/>
              <dgm:constr type="w" for="ch" forName="text2" refType="w" fact="0.3"/>
              <dgm:constr type="h" for="ch" forName="text2" refType="h" fact="0.21875"/>
              <dgm:constr type="l" for="ch" forName="text2"/>
              <dgm:constr type="t" for="ch" forName="text2" refType="b" refFor="ch" refForName="text1"/>
              <dgm:constr type="l" for="ch" forName="line2" refType="r" refFor="ch" refForName="text2"/>
              <dgm:constr type="ctrY" for="ch" forName="line2" refType="ctrY" refFor="ch" refForName="text2"/>
              <dgm:constr type="r" for="ch" forName="line2" refType="w" fact="0.375"/>
              <dgm:constr type="h" for="ch" forName="line2"/>
              <dgm:constr type="r" for="ch" forName="d2" refType="w" fact="0.614"/>
              <dgm:constr type="b" for="ch" forName="d2" refType="h" fact="0.72969"/>
              <dgm:constr type="w" for="ch" forName="d2" refType="w" fact="0.2387"/>
              <dgm:constr type="h" for="ch" forName="d2" refType="h" fact="0.4017"/>
              <dgm:constr type="w" for="ch" forName="circle3" refType="w" fact="0.6"/>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21875"/>
              <dgm:constr type="l" for="ch" forName="text3"/>
              <dgm:constr type="t" for="ch" forName="text3" refType="b" refFor="ch" refForName="text2"/>
              <dgm:constr type="l" for="ch" forName="line3" refType="r" refFor="ch" refForName="text3"/>
              <dgm:constr type="ctrY" for="ch" forName="line3" refType="ctrY" refFor="ch" refForName="text3"/>
              <dgm:constr type="r" for="ch" forName="line3" refType="w" fact="0.375"/>
              <dgm:constr type="h" for="ch" forName="line3"/>
              <dgm:constr type="r" for="ch" forName="d3" refType="w" fact="0.52825"/>
              <dgm:constr type="b" for="ch" forName="d3" refType="h" fact="0.83375"/>
              <dgm:constr type="w" for="ch" forName="d3" refType="w" fact="0.1527"/>
              <dgm:constr type="h" for="ch" forName="d3" refType="h" fact="0.287"/>
            </dgm:constrLst>
          </dgm:if>
          <dgm:if name="Name16" axis="ch" ptType="node" func="cnt" op="equ" val="4">
            <dgm:constrLst>
              <dgm:constr type="primFontSz" for="des" ptType="node" op="equ" val="65"/>
              <dgm:constr type="w" for="ch" forName="circle1" refType="w" fact="0.0857"/>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17938"/>
              <dgm:constr type="l" for="ch" forName="text1"/>
              <dgm:constr type="t" for="ch" forName="text1"/>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05"/>
              <dgm:constr type="b" for="ch" forName="d1" refType="h" fact="0.62"/>
              <dgm:constr type="w" for="ch" forName="d1" refType="w" fact="0.33"/>
              <dgm:constr type="h" for="ch" forName="d1" refType="h" fact="0.53"/>
              <dgm:constr type="w" for="ch" forName="circle2" refType="w" fact="0.2571"/>
              <dgm:constr type="h" for="ch" forName="circle2" refType="w" refFor="ch" refForName="circle2"/>
              <dgm:constr type="ctrX" for="ch" forName="circle2" refType="w" fact="0.7"/>
              <dgm:constr type="ctrY" for="ch" forName="circle2" refType="h" fact="0.625"/>
              <dgm:constr type="w" for="ch" forName="text2" refType="w" fact="0.3"/>
              <dgm:constr type="h" for="ch" forName="text2" refType="h" fact="0.17938"/>
              <dgm:constr type="l" for="ch" forName="text2"/>
              <dgm:constr type="t" for="ch" forName="text2" refType="b" refFor="ch" refForName="text1"/>
              <dgm:constr type="l" for="ch" forName="line2" refType="r" refFor="ch" refForName="text2"/>
              <dgm:constr type="ctrY" for="ch" forName="line2" refType="ctrY" refFor="ch" refForName="text2"/>
              <dgm:constr type="r" for="ch" forName="line2" refType="w" fact="0.375"/>
              <dgm:constr type="h" for="ch" forName="line2"/>
              <dgm:constr type="r" for="ch" forName="d2" refType="w" fact="0.63375"/>
              <dgm:constr type="b" for="ch" forName="d2" refType="h" fact="0.70438"/>
              <dgm:constr type="w" for="ch" forName="d2" refType="w" fact="0.2585"/>
              <dgm:constr type="h" for="ch" forName="d2" refType="h" fact="0.43525"/>
              <dgm:constr type="w" for="ch" forName="circle3" refType="w" fact="0.4285"/>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17938"/>
              <dgm:constr type="l" for="ch" forName="text3"/>
              <dgm:constr type="t" for="ch" forName="text3" refType="b" refFor="ch" refForName="text2"/>
              <dgm:constr type="l" for="ch" forName="line3" refType="r" refFor="ch" refForName="text3"/>
              <dgm:constr type="ctrY" for="ch" forName="line3" refType="ctrY" refFor="ch" refForName="text3"/>
              <dgm:constr type="r" for="ch" forName="line3" refType="w" fact="0.375"/>
              <dgm:constr type="h" for="ch" forName="line3"/>
              <dgm:constr type="r" for="ch" forName="d3" refType="w" fact="0.5745"/>
              <dgm:constr type="b" for="ch" forName="d3" refType="h" fact="0.78031"/>
              <dgm:constr type="w" for="ch" forName="d3" refType="w" fact="0.1995"/>
              <dgm:constr type="h" for="ch" forName="d3" refType="h" fact="0.332"/>
              <dgm:constr type="w" for="ch" forName="circle4" refType="w" fact="0.6"/>
              <dgm:constr type="h" for="ch" forName="circle4" refType="w" refFor="ch" refForName="circle4"/>
              <dgm:constr type="ctrX" for="ch" forName="circle4" refType="ctrX" refFor="ch" refForName="circle1"/>
              <dgm:constr type="ctrY" for="ch" forName="circle4" refType="ctrY" refFor="ch" refForName="circle1"/>
              <dgm:constr type="w" for="ch" forName="text4" refType="w" fact="0.3"/>
              <dgm:constr type="h" for="ch" forName="text4" refType="h" fact="0.17938"/>
              <dgm:constr type="l" for="ch" forName="text4"/>
              <dgm:constr type="t" for="ch" forName="text4" refType="b" refFor="ch" refForName="text3"/>
              <dgm:constr type="l" for="ch" forName="line4" refType="r" refFor="ch" refForName="text4"/>
              <dgm:constr type="ctrY" for="ch" forName="line4" refType="ctrY" refFor="ch" refForName="text4"/>
              <dgm:constr type="r" for="ch" forName="line4" refType="w" fact="0.375"/>
              <dgm:constr type="h" for="ch" forName="line4"/>
              <dgm:constr type="r" for="ch" forName="d4" refType="w" fact="0.51475"/>
              <dgm:constr type="b" for="ch" forName="d4" refType="h" fact="0.85594"/>
              <dgm:constr type="w" for="ch" forName="d4" refType="w" fact="0.1394"/>
              <dgm:constr type="h" for="ch" forName="d4" refType="h" fact="0.2282"/>
            </dgm:constrLst>
          </dgm:if>
          <dgm:if name="Name17" axis="ch" ptType="node" func="cnt" op="gte" val="5">
            <dgm:constrLst>
              <dgm:constr type="primFontSz" for="des" ptType="node" op="equ" val="65"/>
              <dgm:constr type="w" for="ch" forName="circle1" refType="w" fact="0.0667"/>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1324"/>
              <dgm:constr type="l" for="ch" forName="text1"/>
              <dgm:constr type="ctrY" for="ch" forName="text1" refType="h" fact="0.13"/>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
              <dgm:constr type="b" for="ch" forName="d1" refType="h" fact="0.625"/>
              <dgm:constr type="w" for="ch" forName="d1" refType="w" fact="0.3245"/>
              <dgm:constr type="h" for="ch" forName="d1" refType="h" fact="0.495"/>
              <dgm:constr type="w" for="ch" forName="circle2" refType="w" fact="0.2"/>
              <dgm:constr type="h" for="ch" forName="circle2" refType="w" refFor="ch" refForName="circle2"/>
              <dgm:constr type="ctrX" for="ch" forName="circle2" refType="w" fact="0.7"/>
              <dgm:constr type="ctrY" for="ch" forName="circle2" refType="h" fact="0.625"/>
              <dgm:constr type="w" for="ch" forName="text2" refType="w" fact="0.3"/>
              <dgm:constr type="h" for="ch" forName="text2" refType="h" fact="0.1324"/>
              <dgm:constr type="l" for="ch" forName="text2"/>
              <dgm:constr type="ctrY" for="ch" forName="text2" refType="h" fact="0.27"/>
              <dgm:constr type="l" for="ch" forName="line2" refType="r" refFor="ch" refForName="text2"/>
              <dgm:constr type="ctrY" for="ch" forName="line2" refType="ctrY" refFor="ch" refForName="text2"/>
              <dgm:constr type="r" for="ch" forName="line2" refType="w" fact="0.375"/>
              <dgm:constr type="h" for="ch" forName="line2"/>
              <dgm:constr type="r" for="ch" forName="d2" refType="w" fact="0.6502"/>
              <dgm:constr type="b" for="ch" forName="d2" refType="h" fact="0.682"/>
              <dgm:constr type="w" for="ch" forName="d2" refType="w" fact="0.275"/>
              <dgm:constr type="h" for="ch" forName="d2" refType="h" fact="0.41215"/>
              <dgm:constr type="w" for="ch" forName="circle3" refType="w" fact="0.3334"/>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1324"/>
              <dgm:constr type="l" for="ch" forName="text3"/>
              <dgm:constr type="ctrY" for="ch" forName="text3" refType="h" fact="0.41"/>
              <dgm:constr type="l" for="ch" forName="line3" refType="r" refFor="ch" refForName="text3"/>
              <dgm:constr type="ctrY" for="ch" forName="line3" refType="ctrY" refFor="ch" refForName="text3"/>
              <dgm:constr type="r" for="ch" forName="line3" refType="w" fact="0.375"/>
              <dgm:constr type="h" for="ch" forName="line3"/>
              <dgm:constr type="r" for="ch" forName="d3" refType="w" fact="0.606"/>
              <dgm:constr type="b" for="ch" forName="d3" refType="h" fact="0.735"/>
              <dgm:constr type="w" for="ch" forName="d3" refType="w" fact="0.231"/>
              <dgm:constr type="h" for="ch" forName="d3" refType="h" fact="0.325"/>
              <dgm:constr type="w" for="ch" forName="circle4" refType="w" fact="0.4667"/>
              <dgm:constr type="h" for="ch" forName="circle4" refType="w" refFor="ch" refForName="circle4"/>
              <dgm:constr type="ctrX" for="ch" forName="circle4" refType="ctrX" refFor="ch" refForName="circle1"/>
              <dgm:constr type="ctrY" for="ch" forName="circle4" refType="ctrY" refFor="ch" refForName="circle1"/>
              <dgm:constr type="w" for="ch" forName="text4" refType="w" fact="0.3"/>
              <dgm:constr type="h" for="ch" forName="text4" refType="h" fact="0.1324"/>
              <dgm:constr type="l" for="ch" forName="text4"/>
              <dgm:constr type="ctrY" for="ch" forName="text4" refType="h" fact="0.547"/>
              <dgm:constr type="l" for="ch" forName="line4" refType="r" refFor="ch" refForName="text4"/>
              <dgm:constr type="ctrY" for="ch" forName="line4" refType="ctrY" refFor="ch" refForName="text4"/>
              <dgm:constr type="r" for="ch" forName="line4" refType="w" fact="0.375"/>
              <dgm:constr type="h" for="ch" forName="line4"/>
              <dgm:constr type="r" for="ch" forName="d4" refType="w" fact="0.554"/>
              <dgm:constr type="b" for="ch" forName="d4" refType="h" fact="0.795"/>
              <dgm:constr type="w" for="ch" forName="d4" refType="w" fact="0.179"/>
              <dgm:constr type="h" for="ch" forName="d4" refType="h" fact="0.248"/>
              <dgm:constr type="w" for="ch" forName="circle5" refType="w" fact="0.6"/>
              <dgm:constr type="h" for="ch" forName="circle5" refType="w" refFor="ch" refForName="circle5"/>
              <dgm:constr type="ctrX" for="ch" forName="circle5" refType="ctrX" refFor="ch" refForName="circle1"/>
              <dgm:constr type="ctrY" for="ch" forName="circle5" refType="ctrY" refFor="ch" refForName="circle1"/>
              <dgm:constr type="w" for="ch" forName="text5" refType="w" fact="0.3"/>
              <dgm:constr type="h" for="ch" forName="text5" refType="h" fact="0.1324"/>
              <dgm:constr type="l" for="ch" forName="text5"/>
              <dgm:constr type="ctrY" for="ch" forName="text5" refType="h" fact="0.68"/>
              <dgm:constr type="l" for="ch" forName="line5" refType="r" refFor="ch" refForName="text5"/>
              <dgm:constr type="ctrY" for="ch" forName="line5" refType="ctrY" refFor="ch" refForName="text5"/>
              <dgm:constr type="r" for="ch" forName="line5" refType="w" fact="0.375"/>
              <dgm:constr type="h" for="ch" forName="line5"/>
              <dgm:constr type="r" for="ch" forName="d5" refType="w" fact="0.505"/>
              <dgm:constr type="b" for="ch" forName="d5" refType="h" fact="0.855"/>
              <dgm:constr type="w" for="ch" forName="d5" refType="w" fact="0.13"/>
              <dgm:constr type="h" for="ch" forName="d5" refType="h" fact="0.175"/>
            </dgm:constrLst>
          </dgm:if>
          <dgm:else name="Name18"/>
        </dgm:choose>
      </dgm:else>
    </dgm:choose>
    <dgm:ruleLst/>
    <dgm:forEach name="Name19" axis="ch" ptType="node" cnt="1">
      <dgm:layoutNode name="circle1" styleLbl="lnNode1">
        <dgm:alg type="sp"/>
        <dgm:shape xmlns:r="http://schemas.openxmlformats.org/officeDocument/2006/relationships" type="ellipse" r:blip="">
          <dgm:adjLst/>
        </dgm:shape>
        <dgm:presOf/>
        <dgm:constrLst/>
        <dgm:ruleLst/>
      </dgm:layoutNode>
      <dgm:layoutNode name="text1" styleLbl="revTx">
        <dgm:varLst>
          <dgm:bulletEnabled val="1"/>
        </dgm:varLst>
        <dgm:choose name="Name20">
          <dgm:if name="Name21" func="var" arg="dir" op="equ" val="norm">
            <dgm:choose name="Name22">
              <dgm:if name="Name23" axis="root des" ptType="all node" func="maxDepth" op="gt" val="1">
                <dgm:alg type="tx">
                  <dgm:param type="parTxLTRAlign" val="l"/>
                  <dgm:param type="parTxRTLAlign" val="r"/>
                </dgm:alg>
              </dgm:if>
              <dgm:else name="Name24">
                <dgm:alg type="tx">
                  <dgm:param type="parTxLTRAlign" val="l"/>
                  <dgm:param type="parTxRTLAlign" val="l"/>
                </dgm:alg>
              </dgm:else>
            </dgm:choose>
          </dgm:if>
          <dgm:else name="Name25">
            <dgm:choose name="Name26">
              <dgm:if name="Name27" axis="root des" ptType="all node" func="maxDepth" op="gt" val="1">
                <dgm:alg type="tx">
                  <dgm:param type="parTxLTRAlign" val="l"/>
                  <dgm:param type="parTxRTLAlign" val="r"/>
                </dgm:alg>
              </dgm:if>
              <dgm:else name="Name28">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29">
          <dgm:if name="Name30" func="var" arg="dir" op="equ" val="norm">
            <dgm:constrLst>
              <dgm:constr type="tMarg" refType="primFontSz" fact="0.1"/>
              <dgm:constr type="bMarg" refType="primFontSz" fact="0.1"/>
              <dgm:constr type="rMarg" refType="primFontSz" fact="0.1"/>
            </dgm:constrLst>
          </dgm:if>
          <dgm:else name="Name31">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1" styleLbl="callout">
        <dgm:alg type="sp"/>
        <dgm:shape xmlns:r="http://schemas.openxmlformats.org/officeDocument/2006/relationships" type="line" r:blip="">
          <dgm:adjLst/>
        </dgm:shape>
        <dgm:presOf/>
        <dgm:constrLst/>
        <dgm:ruleLst/>
      </dgm:layoutNode>
      <dgm:layoutNode name="d1" styleLbl="callout">
        <dgm:alg type="sp"/>
        <dgm:choose name="Name32">
          <dgm:if name="Name33" func="var" arg="dir" op="equ" val="norm">
            <dgm:shape xmlns:r="http://schemas.openxmlformats.org/officeDocument/2006/relationships" rot="90" type="line" r:blip="">
              <dgm:adjLst/>
            </dgm:shape>
          </dgm:if>
          <dgm:else name="Name34">
            <dgm:shape xmlns:r="http://schemas.openxmlformats.org/officeDocument/2006/relationships" rot="180" type="line" r:blip="">
              <dgm:adjLst/>
            </dgm:shape>
          </dgm:else>
        </dgm:choose>
        <dgm:presOf/>
        <dgm:constrLst/>
        <dgm:ruleLst/>
      </dgm:layoutNode>
    </dgm:forEach>
    <dgm:forEach name="Name35" axis="ch" ptType="node" st="2" cnt="1">
      <dgm:layoutNode name="circle2" styleLbl="lnNode1">
        <dgm:alg type="sp"/>
        <dgm:shape xmlns:r="http://schemas.openxmlformats.org/officeDocument/2006/relationships" type="ellipse" r:blip="" zOrderOff="-5">
          <dgm:adjLst/>
        </dgm:shape>
        <dgm:presOf/>
        <dgm:constrLst/>
        <dgm:ruleLst/>
      </dgm:layoutNode>
      <dgm:layoutNode name="text2" styleLbl="revTx">
        <dgm:varLst>
          <dgm:bulletEnabled val="1"/>
        </dgm:varLst>
        <dgm:choose name="Name36">
          <dgm:if name="Name37" func="var" arg="dir" op="equ" val="norm">
            <dgm:choose name="Name38">
              <dgm:if name="Name39" axis="root des" ptType="all node" func="maxDepth" op="gt" val="1">
                <dgm:alg type="tx">
                  <dgm:param type="parTxLTRAlign" val="l"/>
                  <dgm:param type="parTxRTLAlign" val="r"/>
                </dgm:alg>
              </dgm:if>
              <dgm:else name="Name40">
                <dgm:alg type="tx">
                  <dgm:param type="parTxLTRAlign" val="l"/>
                  <dgm:param type="parTxRTLAlign" val="l"/>
                </dgm:alg>
              </dgm:else>
            </dgm:choose>
          </dgm:if>
          <dgm:else name="Name41">
            <dgm:choose name="Name42">
              <dgm:if name="Name43" axis="root des" ptType="all node" func="maxDepth" op="gt" val="1">
                <dgm:alg type="tx">
                  <dgm:param type="parTxLTRAlign" val="l"/>
                  <dgm:param type="parTxRTLAlign" val="r"/>
                </dgm:alg>
              </dgm:if>
              <dgm:else name="Name44">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45">
          <dgm:if name="Name46" func="var" arg="dir" op="equ" val="norm">
            <dgm:constrLst>
              <dgm:constr type="tMarg" refType="primFontSz" fact="0.1"/>
              <dgm:constr type="bMarg" refType="primFontSz" fact="0.1"/>
              <dgm:constr type="rMarg" refType="primFontSz" fact="0.1"/>
            </dgm:constrLst>
          </dgm:if>
          <dgm:else name="Name47">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2" styleLbl="callout">
        <dgm:alg type="sp"/>
        <dgm:shape xmlns:r="http://schemas.openxmlformats.org/officeDocument/2006/relationships" type="line" r:blip="">
          <dgm:adjLst/>
        </dgm:shape>
        <dgm:presOf/>
        <dgm:constrLst/>
        <dgm:ruleLst/>
      </dgm:layoutNode>
      <dgm:layoutNode name="d2" styleLbl="callout">
        <dgm:alg type="sp"/>
        <dgm:choose name="Name48">
          <dgm:if name="Name49" func="var" arg="dir" op="equ" val="norm">
            <dgm:shape xmlns:r="http://schemas.openxmlformats.org/officeDocument/2006/relationships" rot="90" type="line" r:blip="">
              <dgm:adjLst/>
            </dgm:shape>
          </dgm:if>
          <dgm:else name="Name50">
            <dgm:shape xmlns:r="http://schemas.openxmlformats.org/officeDocument/2006/relationships" rot="180" type="line" r:blip="">
              <dgm:adjLst/>
            </dgm:shape>
          </dgm:else>
        </dgm:choose>
        <dgm:presOf/>
        <dgm:constrLst/>
        <dgm:ruleLst/>
      </dgm:layoutNode>
    </dgm:forEach>
    <dgm:forEach name="Name51" axis="ch" ptType="node" st="3" cnt="1">
      <dgm:layoutNode name="circle3" styleLbl="lnNode1">
        <dgm:alg type="sp"/>
        <dgm:shape xmlns:r="http://schemas.openxmlformats.org/officeDocument/2006/relationships" type="ellipse" r:blip="" zOrderOff="-10">
          <dgm:adjLst/>
        </dgm:shape>
        <dgm:presOf/>
        <dgm:constrLst/>
        <dgm:ruleLst/>
      </dgm:layoutNode>
      <dgm:layoutNode name="text3" styleLbl="revTx">
        <dgm:varLst>
          <dgm:bulletEnabled val="1"/>
        </dgm:varLst>
        <dgm:choose name="Name52">
          <dgm:if name="Name53" func="var" arg="dir" op="equ" val="norm">
            <dgm:choose name="Name54">
              <dgm:if name="Name55" axis="root des" ptType="all node" func="maxDepth" op="gt" val="1">
                <dgm:alg type="tx">
                  <dgm:param type="parTxLTRAlign" val="l"/>
                  <dgm:param type="parTxRTLAlign" val="r"/>
                </dgm:alg>
              </dgm:if>
              <dgm:else name="Name56">
                <dgm:alg type="tx">
                  <dgm:param type="parTxLTRAlign" val="l"/>
                  <dgm:param type="parTxRTLAlign" val="l"/>
                </dgm:alg>
              </dgm:else>
            </dgm:choose>
          </dgm:if>
          <dgm:else name="Name57">
            <dgm:choose name="Name58">
              <dgm:if name="Name59" axis="root des" ptType="all node" func="maxDepth" op="gt" val="1">
                <dgm:alg type="tx">
                  <dgm:param type="parTxLTRAlign" val="l"/>
                  <dgm:param type="parTxRTLAlign" val="r"/>
                </dgm:alg>
              </dgm:if>
              <dgm:else name="Name60">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61">
          <dgm:if name="Name62" func="var" arg="dir" op="equ" val="norm">
            <dgm:constrLst>
              <dgm:constr type="tMarg" refType="primFontSz" fact="0.1"/>
              <dgm:constr type="bMarg" refType="primFontSz" fact="0.1"/>
              <dgm:constr type="rMarg" refType="primFontSz" fact="0.1"/>
            </dgm:constrLst>
          </dgm:if>
          <dgm:else name="Name63">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3" styleLbl="callout">
        <dgm:alg type="sp"/>
        <dgm:shape xmlns:r="http://schemas.openxmlformats.org/officeDocument/2006/relationships" type="line" r:blip="">
          <dgm:adjLst/>
        </dgm:shape>
        <dgm:presOf/>
        <dgm:constrLst/>
        <dgm:ruleLst/>
      </dgm:layoutNode>
      <dgm:layoutNode name="d3" styleLbl="callout">
        <dgm:alg type="sp"/>
        <dgm:choose name="Name64">
          <dgm:if name="Name65" func="var" arg="dir" op="equ" val="norm">
            <dgm:shape xmlns:r="http://schemas.openxmlformats.org/officeDocument/2006/relationships" rot="90" type="line" r:blip="">
              <dgm:adjLst/>
            </dgm:shape>
          </dgm:if>
          <dgm:else name="Name66">
            <dgm:shape xmlns:r="http://schemas.openxmlformats.org/officeDocument/2006/relationships" rot="180" type="line" r:blip="">
              <dgm:adjLst/>
            </dgm:shape>
          </dgm:else>
        </dgm:choose>
        <dgm:presOf/>
        <dgm:constrLst/>
        <dgm:ruleLst/>
      </dgm:layoutNode>
    </dgm:forEach>
    <dgm:forEach name="Name67" axis="ch" ptType="node" st="4" cnt="1">
      <dgm:layoutNode name="circle4" styleLbl="lnNode1">
        <dgm:alg type="sp"/>
        <dgm:shape xmlns:r="http://schemas.openxmlformats.org/officeDocument/2006/relationships" type="ellipse" r:blip="" zOrderOff="-15">
          <dgm:adjLst/>
        </dgm:shape>
        <dgm:presOf/>
        <dgm:constrLst/>
        <dgm:ruleLst/>
      </dgm:layoutNode>
      <dgm:layoutNode name="text4" styleLbl="revTx">
        <dgm:varLst>
          <dgm:bulletEnabled val="1"/>
        </dgm:varLst>
        <dgm:choose name="Name68">
          <dgm:if name="Name69" func="var" arg="dir" op="equ" val="norm">
            <dgm:choose name="Name70">
              <dgm:if name="Name71" axis="root des" ptType="all node" func="maxDepth" op="gt" val="1">
                <dgm:alg type="tx">
                  <dgm:param type="parTxLTRAlign" val="l"/>
                  <dgm:param type="parTxRTLAlign" val="r"/>
                </dgm:alg>
              </dgm:if>
              <dgm:else name="Name72">
                <dgm:alg type="tx">
                  <dgm:param type="parTxLTRAlign" val="l"/>
                  <dgm:param type="parTxRTLAlign" val="l"/>
                </dgm:alg>
              </dgm:else>
            </dgm:choose>
          </dgm:if>
          <dgm:else name="Name73">
            <dgm:choose name="Name74">
              <dgm:if name="Name75" axis="root des" ptType="all node" func="maxDepth" op="gt" val="1">
                <dgm:alg type="tx">
                  <dgm:param type="parTxLTRAlign" val="l"/>
                  <dgm:param type="parTxRTLAlign" val="r"/>
                </dgm:alg>
              </dgm:if>
              <dgm:else name="Name76">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77">
          <dgm:if name="Name78" func="var" arg="dir" op="equ" val="norm">
            <dgm:constrLst>
              <dgm:constr type="tMarg" refType="primFontSz" fact="0.1"/>
              <dgm:constr type="bMarg" refType="primFontSz" fact="0.1"/>
              <dgm:constr type="rMarg" refType="primFontSz" fact="0.1"/>
            </dgm:constrLst>
          </dgm:if>
          <dgm:else name="Name79">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4" styleLbl="callout">
        <dgm:alg type="sp"/>
        <dgm:shape xmlns:r="http://schemas.openxmlformats.org/officeDocument/2006/relationships" type="line" r:blip="">
          <dgm:adjLst/>
        </dgm:shape>
        <dgm:presOf/>
        <dgm:constrLst/>
        <dgm:ruleLst/>
      </dgm:layoutNode>
      <dgm:layoutNode name="d4" styleLbl="callout">
        <dgm:alg type="sp"/>
        <dgm:choose name="Name80">
          <dgm:if name="Name81" func="var" arg="dir" op="equ" val="norm">
            <dgm:shape xmlns:r="http://schemas.openxmlformats.org/officeDocument/2006/relationships" rot="90" type="line" r:blip="">
              <dgm:adjLst/>
            </dgm:shape>
          </dgm:if>
          <dgm:else name="Name82">
            <dgm:shape xmlns:r="http://schemas.openxmlformats.org/officeDocument/2006/relationships" rot="180" type="line" r:blip="">
              <dgm:adjLst/>
            </dgm:shape>
          </dgm:else>
        </dgm:choose>
        <dgm:presOf/>
        <dgm:constrLst/>
        <dgm:ruleLst/>
      </dgm:layoutNode>
    </dgm:forEach>
    <dgm:forEach name="Name83" axis="ch" ptType="node" st="5" cnt="1">
      <dgm:layoutNode name="circle5" styleLbl="lnNode1">
        <dgm:alg type="sp"/>
        <dgm:shape xmlns:r="http://schemas.openxmlformats.org/officeDocument/2006/relationships" type="ellipse" r:blip="" zOrderOff="-20">
          <dgm:adjLst/>
        </dgm:shape>
        <dgm:presOf/>
        <dgm:constrLst/>
        <dgm:ruleLst/>
      </dgm:layoutNode>
      <dgm:layoutNode name="text5" styleLbl="revTx">
        <dgm:varLst>
          <dgm:bulletEnabled val="1"/>
        </dgm:varLst>
        <dgm:choose name="Name84">
          <dgm:if name="Name85" func="var" arg="dir" op="equ" val="norm">
            <dgm:choose name="Name86">
              <dgm:if name="Name87" axis="root des" ptType="all node" func="maxDepth" op="gt" val="1">
                <dgm:alg type="tx">
                  <dgm:param type="parTxLTRAlign" val="l"/>
                  <dgm:param type="parTxRTLAlign" val="r"/>
                </dgm:alg>
              </dgm:if>
              <dgm:else name="Name88">
                <dgm:alg type="tx">
                  <dgm:param type="parTxLTRAlign" val="l"/>
                  <dgm:param type="parTxRTLAlign" val="l"/>
                </dgm:alg>
              </dgm:else>
            </dgm:choose>
          </dgm:if>
          <dgm:else name="Name89">
            <dgm:choose name="Name90">
              <dgm:if name="Name91" axis="root des" ptType="all node" func="maxDepth" op="gt" val="1">
                <dgm:alg type="tx">
                  <dgm:param type="parTxLTRAlign" val="l"/>
                  <dgm:param type="parTxRTLAlign" val="r"/>
                </dgm:alg>
              </dgm:if>
              <dgm:else name="Name92">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tMarg" refType="primFontSz" fact="0.1"/>
              <dgm:constr type="bMarg" refType="primFontSz" fact="0.1"/>
              <dgm:constr type="rMarg" refType="primFontSz" fact="0.1"/>
            </dgm:constrLst>
          </dgm:if>
          <dgm:else name="Name95">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5" styleLbl="callout">
        <dgm:alg type="sp"/>
        <dgm:shape xmlns:r="http://schemas.openxmlformats.org/officeDocument/2006/relationships" type="line" r:blip="">
          <dgm:adjLst/>
        </dgm:shape>
        <dgm:presOf/>
        <dgm:constrLst/>
        <dgm:ruleLst/>
      </dgm:layoutNode>
      <dgm:layoutNode name="d5" styleLbl="callout">
        <dgm:alg type="sp"/>
        <dgm:choose name="Name96">
          <dgm:if name="Name97" func="var" arg="dir" op="equ" val="norm">
            <dgm:shape xmlns:r="http://schemas.openxmlformats.org/officeDocument/2006/relationships" rot="90" type="line" r:blip="">
              <dgm:adjLst/>
            </dgm:shape>
          </dgm:if>
          <dgm:else name="Name98">
            <dgm:shape xmlns:r="http://schemas.openxmlformats.org/officeDocument/2006/relationships" rot="180" type="line" r:blip="">
              <dgm:adjLst/>
            </dgm:shape>
          </dgm:else>
        </dgm:choose>
        <dgm:presOf/>
        <dgm:constrLst/>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arrow3">
  <dgm:title val=""/>
  <dgm:desc val=""/>
  <dgm:catLst>
    <dgm:cat type="relationship" pri="5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param type="horzAlign" val="none"/>
      <dgm:param type="vertAlign" val="none"/>
    </dgm:alg>
    <dgm:shape xmlns:r="http://schemas.openxmlformats.org/officeDocument/2006/relationships" r:blip="">
      <dgm:adjLst/>
    </dgm:shape>
    <dgm:presOf/>
    <dgm:choose name="Name0">
      <dgm:if name="Name1" func="var" arg="dir" op="equ" val="norm">
        <dgm:choose name="Name2">
          <dgm:if name="Name3" axis="ch" ptType="node" func="cnt" op="gte" val="2">
            <dgm:constrLst>
              <dgm:constr type="w" for="ch" forName="divider" refType="w"/>
              <dgm:constr type="h" for="ch" forName="divider" refType="w" fact="0.2"/>
              <dgm:constr type="h" for="ch" forName="divider" refType="h" op="gte" fact="0.2"/>
              <dgm:constr type="h" for="ch" forName="divider" refType="h" op="lte" fact="0.4"/>
              <dgm:constr type="ctrX" for="ch" forName="divider" refType="w" fact="0.5"/>
              <dgm:constr type="ctrY" for="ch" forName="divider" refType="h" fact="0.5"/>
              <dgm:constr type="w" for="ch" forName="downArrow" refType="w" fact="0.3"/>
              <dgm:constr type="h" for="ch" forName="downArrow" refType="h" fact="0.4"/>
              <dgm:constr type="l" for="ch" forName="downArrow" refType="w" fact="0.1"/>
              <dgm:constr type="t" for="ch" forName="downArrow" refType="h" fact="0.05"/>
              <dgm:constr type="lOff" for="ch" forName="downArrow" refType="w" fact="0.02"/>
              <dgm:constr type="w" for="ch" forName="downArrowText" refType="w" fact="0.32"/>
              <dgm:constr type="h" for="ch" forName="downArrowText" refType="h" fact="0.42"/>
              <dgm:constr type="t" for="ch" forName="downArrowText"/>
              <dgm:constr type="r" for="ch" forName="downArrowText" refType="w" fact="0.85"/>
              <dgm:constr type="w" for="ch" forName="upArrow" refType="w" fact="0.3"/>
              <dgm:constr type="h" for="ch" forName="upArrow" refType="h" fact="0.4"/>
              <dgm:constr type="b" for="ch" forName="upArrow" refType="h" fact="0.95"/>
              <dgm:constr type="r" for="ch" forName="upArrow" refType="w" fact="0.9"/>
              <dgm:constr type="rOff" for="ch" forName="upArrow" refType="w" fact="-0.02"/>
              <dgm:constr type="w" for="ch" forName="upArrowText" refType="w" fact="0.32"/>
              <dgm:constr type="h" for="ch" forName="upArrowText" refType="h" fact="0.42"/>
              <dgm:constr type="b" for="ch" forName="upArrowText" refType="h"/>
              <dgm:constr type="l" for="ch" forName="upArrowText" refType="w" fact="0.15"/>
              <dgm:constr type="primFontSz" for="ch" ptType="node" op="equ" val="65"/>
            </dgm:constrLst>
          </dgm:if>
          <dgm:else name="Name4">
            <dgm:constrLst>
              <dgm:constr type="w" for="ch" forName="downArrow" refType="w" fact="0.4"/>
              <dgm:constr type="h" for="ch" forName="downArrow" refType="h" fact="0.8"/>
              <dgm:constr type="l" for="ch" forName="downArrow" refType="w" fact="0.02"/>
              <dgm:constr type="t" for="ch" forName="downArrow" refType="h" fact="0.05"/>
              <dgm:constr type="lOff" for="ch" forName="downArrow" refType="w" fact="0.02"/>
              <dgm:constr type="w" for="ch" forName="downArrowText" refType="w" fact="0.5"/>
              <dgm:constr type="h" for="ch" forName="downArrowText" refType="h"/>
              <dgm:constr type="t" for="ch" forName="downArrowText"/>
              <dgm:constr type="r" for="ch" forName="downArrowText" refType="w"/>
              <dgm:constr type="primFontSz" for="ch" ptType="node" op="equ" val="65"/>
            </dgm:constrLst>
          </dgm:else>
        </dgm:choose>
      </dgm:if>
      <dgm:else name="Name5">
        <dgm:choose name="Name6">
          <dgm:if name="Name7" axis="ch" ptType="node" func="cnt" op="gte" val="2">
            <dgm:constrLst>
              <dgm:constr type="w" for="ch" forName="divider" refType="w"/>
              <dgm:constr type="h" for="ch" forName="divider" refType="w" fact="0.2"/>
              <dgm:constr type="h" for="ch" forName="divider" refType="h" op="gte" fact="0.2"/>
              <dgm:constr type="h" for="ch" forName="divider" refType="h" op="lte" fact="0.4"/>
              <dgm:constr type="ctrX" for="ch" forName="divider" refType="w" fact="0.5"/>
              <dgm:constr type="ctrY" for="ch" forName="divider" refType="h" fact="0.5"/>
              <dgm:constr type="w" for="ch" forName="downArrow" refType="w" fact="0.3"/>
              <dgm:constr type="h" for="ch" forName="downArrow" refType="h" fact="0.4"/>
              <dgm:constr type="r" for="ch" forName="downArrow" refType="w" fact="0.9"/>
              <dgm:constr type="t" for="ch" forName="downArrow" refType="h" fact="0.05"/>
              <dgm:constr type="rOff" for="ch" forName="downArrow" refType="w" fact="-0.02"/>
              <dgm:constr type="w" for="ch" forName="downArrowText" refType="w" fact="0.32"/>
              <dgm:constr type="h" for="ch" forName="downArrowText" refType="h" fact="0.42"/>
              <dgm:constr type="t" for="ch" forName="downArrowText"/>
              <dgm:constr type="l" for="ch" forName="downArrowText" refType="w" fact="0.15"/>
              <dgm:constr type="w" for="ch" forName="upArrow" refType="w" fact="0.3"/>
              <dgm:constr type="h" for="ch" forName="upArrow" refType="h" fact="0.4"/>
              <dgm:constr type="b" for="ch" forName="upArrow" refType="h" fact="0.95"/>
              <dgm:constr type="l" for="ch" forName="upArrow" refType="w" fact="0.1"/>
              <dgm:constr type="lOff" for="ch" forName="upArrow" refType="w" fact="0.02"/>
              <dgm:constr type="w" for="ch" forName="upArrowText" refType="w" fact="0.32"/>
              <dgm:constr type="h" for="ch" forName="upArrowText" refType="h" fact="0.42"/>
              <dgm:constr type="b" for="ch" forName="upArrowText" refType="h"/>
              <dgm:constr type="r" for="ch" forName="upArrowText" refType="w" fact="0.85"/>
              <dgm:constr type="primFontSz" for="ch" ptType="node" op="equ" val="65"/>
            </dgm:constrLst>
          </dgm:if>
          <dgm:else name="Name8">
            <dgm:constrLst>
              <dgm:constr type="w" for="ch" forName="downArrow" refType="w" fact="0.4"/>
              <dgm:constr type="h" for="ch" forName="downArrow" refType="h" fact="0.8"/>
              <dgm:constr type="r" for="ch" forName="downArrow" refType="w" fact="0.98"/>
              <dgm:constr type="t" for="ch" forName="downArrow" refType="h" fact="0.05"/>
              <dgm:constr type="rOff" for="ch" forName="downArrow" refType="w" fact="-0.02"/>
              <dgm:constr type="w" for="ch" forName="downArrowText" refType="w" fact="0.5"/>
              <dgm:constr type="h" for="ch" forName="downArrowText" refType="h"/>
              <dgm:constr type="t" for="ch" forName="downArrowText"/>
              <dgm:constr type="l" for="ch" forName="downArrowText"/>
              <dgm:constr type="primFontSz" for="ch" ptType="node" op="equ" val="65"/>
            </dgm:constrLst>
          </dgm:else>
        </dgm:choose>
      </dgm:else>
    </dgm:choose>
    <dgm:ruleLst/>
    <dgm:choose name="Name9">
      <dgm:if name="Name10" axis="ch" ptType="node" func="cnt" op="gte" val="2">
        <dgm:layoutNode name="divider" styleLbl="fgShp">
          <dgm:alg type="sp"/>
          <dgm:choose name="Name11">
            <dgm:if name="Name12" func="var" arg="dir" op="equ" val="norm">
              <dgm:shape xmlns:r="http://schemas.openxmlformats.org/officeDocument/2006/relationships" rot="-5" type="mathMinus" r:blip="">
                <dgm:adjLst/>
              </dgm:shape>
            </dgm:if>
            <dgm:else name="Name13">
              <dgm:shape xmlns:r="http://schemas.openxmlformats.org/officeDocument/2006/relationships" rot="5" type="mathMinus" r:blip="">
                <dgm:adjLst/>
              </dgm:shape>
            </dgm:else>
          </dgm:choose>
          <dgm:presOf/>
          <dgm:constrLst/>
          <dgm:ruleLst/>
        </dgm:layoutNode>
      </dgm:if>
      <dgm:else name="Name14"/>
    </dgm:choose>
    <dgm:forEach name="Name15" axis="ch" ptType="node" cnt="1">
      <dgm:layoutNode name="downArrow" styleLbl="node1">
        <dgm:alg type="sp"/>
        <dgm:shape xmlns:r="http://schemas.openxmlformats.org/officeDocument/2006/relationships" type="downArrow" r:blip="">
          <dgm:adjLst/>
        </dgm:shape>
        <dgm:presOf/>
        <dgm:constrLst/>
        <dgm:ruleLst/>
      </dgm:layoutNode>
      <dgm:layoutNode name="downArrowText" styleLbl="revTx">
        <dgm:varLst>
          <dgm:bulletEnabled val="1"/>
        </dgm:varLst>
        <dgm:alg type="tx">
          <dgm:param type="txAnchorVertCh" val="mid"/>
        </dgm:alg>
        <dgm:shape xmlns:r="http://schemas.openxmlformats.org/officeDocument/2006/relationships" type="rect" r:blip="">
          <dgm:adjLst/>
        </dgm:shape>
        <dgm:presOf axis="desOrSelf" ptType="node"/>
        <dgm:constrLst/>
        <dgm:ruleLst>
          <dgm:rule type="primFontSz" val="5" fact="NaN" max="NaN"/>
        </dgm:ruleLst>
      </dgm:layoutNode>
    </dgm:forEach>
    <dgm:forEach name="Name16" axis="ch" ptType="node" st="2" cnt="1">
      <dgm:layoutNode name="upArrow" styleLbl="node1">
        <dgm:alg type="sp"/>
        <dgm:shape xmlns:r="http://schemas.openxmlformats.org/officeDocument/2006/relationships" type="upArrow" r:blip="">
          <dgm:adjLst/>
        </dgm:shape>
        <dgm:presOf/>
        <dgm:constrLst/>
        <dgm:ruleLst/>
      </dgm:layoutNode>
      <dgm:layoutNode name="upArrowText" styleLbl="revTx">
        <dgm:varLst>
          <dgm:bulletEnabled val="1"/>
        </dgm:varLst>
        <dgm:alg type="tx">
          <dgm:param type="txAnchorVertCh" val="mid"/>
        </dgm:alg>
        <dgm:shape xmlns:r="http://schemas.openxmlformats.org/officeDocument/2006/relationships" type="rect" r:blip="">
          <dgm:adjLst/>
        </dgm:shape>
        <dgm:presOf axis="desOrSelf" ptType="node"/>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2025</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99765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5877361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0193977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876670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2949312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0686530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845417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6497422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41101387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0476683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5088148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31307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chor="ctr" anchorCtr="0"/>
          <a:lstStyle/>
          <a:p>
            <a:r>
              <a:rPr lang="en-US" dirty="0"/>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hyperlink" Target="https://www.freepik.com/premium-ai-image/highway-filled-with-lots-traffic-night_145125091.htm"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0.xml"/><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chart" Target="../charts/chart4.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12.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chart" Target="../charts/chart6.xml"/><Relationship Id="rId1" Type="http://schemas.openxmlformats.org/officeDocument/2006/relationships/slideLayout" Target="../slideLayouts/slideLayout12.xml"/><Relationship Id="rId4" Type="http://schemas.openxmlformats.org/officeDocument/2006/relationships/image" Target="../media/image18.svg"/></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5.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7FF65-A536-F639-8591-ED024C223308}"/>
              </a:ext>
            </a:extLst>
          </p:cNvPr>
          <p:cNvSpPr>
            <a:spLocks noGrp="1"/>
          </p:cNvSpPr>
          <p:nvPr>
            <p:ph type="title"/>
          </p:nvPr>
        </p:nvSpPr>
        <p:spPr/>
        <p:txBody>
          <a:bodyPr anchor="ctr"/>
          <a:lstStyle/>
          <a:p>
            <a:r>
              <a:rPr lang="en-US" dirty="0"/>
              <a:t>S.G. Highway: Smart Traffic Solutions</a:t>
            </a:r>
            <a:br>
              <a:rPr lang="en-US" dirty="0"/>
            </a:br>
            <a:endParaRPr lang="en-US" dirty="0"/>
          </a:p>
        </p:txBody>
      </p:sp>
      <p:pic>
        <p:nvPicPr>
          <p:cNvPr id="6" name="Content Placeholder 5">
            <a:extLst>
              <a:ext uri="{FF2B5EF4-FFF2-40B4-BE49-F238E27FC236}">
                <a16:creationId xmlns:a16="http://schemas.microsoft.com/office/drawing/2014/main" id="{4BC9514B-7EA2-FAB6-BF81-1DF6D06BE441}"/>
              </a:ext>
            </a:extLst>
          </p:cNvPr>
          <p:cNvPicPr>
            <a:picLocks noGrp="1" noChangeAspect="1"/>
          </p:cNvPicPr>
          <p:nvPr>
            <p:ph sz="half" idx="2"/>
          </p:nvPr>
        </p:nvPicPr>
        <p:blipFill>
          <a:blip r:embed="rId3"/>
          <a:stretch>
            <a:fillRect/>
          </a:stretch>
        </p:blipFill>
        <p:spPr>
          <a:xfrm>
            <a:off x="10047613" y="426029"/>
            <a:ext cx="1835615" cy="1953312"/>
          </a:xfrm>
        </p:spPr>
      </p:pic>
      <p:sp>
        <p:nvSpPr>
          <p:cNvPr id="8" name="Title 1">
            <a:extLst>
              <a:ext uri="{FF2B5EF4-FFF2-40B4-BE49-F238E27FC236}">
                <a16:creationId xmlns:a16="http://schemas.microsoft.com/office/drawing/2014/main" id="{4E23340F-A3E8-323A-BC8B-24ADF9FCFC7E}"/>
              </a:ext>
            </a:extLst>
          </p:cNvPr>
          <p:cNvSpPr txBox="1">
            <a:spLocks/>
          </p:cNvSpPr>
          <p:nvPr/>
        </p:nvSpPr>
        <p:spPr>
          <a:xfrm>
            <a:off x="1631374" y="2187293"/>
            <a:ext cx="10251854" cy="4502140"/>
          </a:xfrm>
          <a:prstGeom prst="rect">
            <a:avLst/>
          </a:prstGeom>
        </p:spPr>
        <p:txBody>
          <a:bodyPr vert="horz" lIns="91440" tIns="0" rIns="91440" bIns="0" rtlCol="0" anchor="ctr" anchorCtr="0">
            <a:noAutofit/>
          </a:bodyPr>
          <a:lstStyle>
            <a:lvl1pPr algn="l" defTabSz="914400" rtl="0" eaLnBrk="1" latinLnBrk="0" hangingPunct="1">
              <a:lnSpc>
                <a:spcPct val="100000"/>
              </a:lnSpc>
              <a:spcBef>
                <a:spcPct val="0"/>
              </a:spcBef>
              <a:buNone/>
              <a:defRPr sz="3600" b="1" kern="1200" cap="all" baseline="0">
                <a:solidFill>
                  <a:schemeClr val="accent6"/>
                </a:solidFill>
                <a:latin typeface="+mj-lt"/>
                <a:ea typeface="+mj-ea"/>
                <a:cs typeface="+mj-cs"/>
              </a:defRPr>
            </a:lvl1pPr>
          </a:lstStyle>
          <a:p>
            <a:pPr>
              <a:buNone/>
            </a:pPr>
            <a:r>
              <a:rPr lang="en-IN" sz="2000" dirty="0">
                <a:solidFill>
                  <a:schemeClr val="accent6">
                    <a:lumMod val="50000"/>
                  </a:schemeClr>
                </a:solidFill>
                <a:latin typeface="Aptos" panose="020B0004020202020204" pitchFamily="34" charset="0"/>
              </a:rPr>
              <a:t> </a:t>
            </a:r>
            <a:r>
              <a:rPr lang="en-IN" sz="2400" dirty="0">
                <a:latin typeface="Aptos" panose="020B0004020202020204" pitchFamily="34" charset="0"/>
                <a:sym typeface="Wingdings 3" panose="05040102010807070707" pitchFamily="18" charset="2"/>
              </a:rPr>
              <a:t></a:t>
            </a:r>
            <a:r>
              <a:rPr lang="en-IN" sz="2000" dirty="0">
                <a:solidFill>
                  <a:schemeClr val="accent6">
                    <a:lumMod val="50000"/>
                  </a:schemeClr>
                </a:solidFill>
                <a:latin typeface="Aptos" panose="020B0004020202020204" pitchFamily="34" charset="0"/>
                <a:sym typeface="Wingdings 3" panose="05040102010807070707" pitchFamily="18" charset="2"/>
              </a:rPr>
              <a:t> </a:t>
            </a:r>
            <a:r>
              <a:rPr lang="en-IN" sz="2400" b="1" dirty="0">
                <a:latin typeface="Aptos" panose="020B0004020202020204" pitchFamily="34" charset="0"/>
              </a:rPr>
              <a:t>H L College of Commerce (Autonomous)</a:t>
            </a:r>
          </a:p>
          <a:p>
            <a:pPr>
              <a:buNone/>
            </a:pPr>
            <a:br>
              <a:rPr lang="en-IN" sz="2400" dirty="0">
                <a:latin typeface="Aptos" panose="020B0004020202020204" pitchFamily="34" charset="0"/>
              </a:rPr>
            </a:br>
            <a:r>
              <a:rPr lang="en-IN" sz="2000" dirty="0">
                <a:latin typeface="Aptos" panose="020B0004020202020204" pitchFamily="34" charset="0"/>
              </a:rPr>
              <a:t> </a:t>
            </a:r>
            <a:r>
              <a:rPr lang="en-IN" sz="2400" dirty="0">
                <a:latin typeface="Aptos" panose="020B0004020202020204" pitchFamily="34" charset="0"/>
                <a:sym typeface="Wingdings 3" panose="05040102010807070707" pitchFamily="18" charset="2"/>
              </a:rPr>
              <a:t></a:t>
            </a:r>
            <a:r>
              <a:rPr lang="en-IN" sz="2000" dirty="0">
                <a:latin typeface="Aptos" panose="020B0004020202020204" pitchFamily="34" charset="0"/>
                <a:sym typeface="Wingdings 3" panose="05040102010807070707" pitchFamily="18" charset="2"/>
              </a:rPr>
              <a:t> </a:t>
            </a:r>
            <a:r>
              <a:rPr lang="en-IN" sz="2400" b="1" dirty="0">
                <a:latin typeface="Aptos" panose="020B0004020202020204" pitchFamily="34" charset="0"/>
              </a:rPr>
              <a:t>Academic Year: 2024-2025</a:t>
            </a:r>
            <a:endParaRPr lang="en-IN" sz="2000" b="1" dirty="0">
              <a:latin typeface="Aptos" panose="020B0004020202020204" pitchFamily="34" charset="0"/>
            </a:endParaRPr>
          </a:p>
          <a:p>
            <a:pPr>
              <a:buNone/>
            </a:pPr>
            <a:br>
              <a:rPr lang="en-IN" sz="2000" dirty="0">
                <a:latin typeface="Aptos" panose="020B0004020202020204" pitchFamily="34" charset="0"/>
              </a:rPr>
            </a:br>
            <a:r>
              <a:rPr lang="en-IN" sz="2000" dirty="0">
                <a:latin typeface="Aptos" panose="020B0004020202020204" pitchFamily="34" charset="0"/>
              </a:rPr>
              <a:t> </a:t>
            </a:r>
            <a:r>
              <a:rPr lang="en-IN" sz="2400" dirty="0">
                <a:latin typeface="Aptos" panose="020B0004020202020204" pitchFamily="34" charset="0"/>
                <a:sym typeface="Wingdings 3" panose="05040102010807070707" pitchFamily="18" charset="2"/>
              </a:rPr>
              <a:t></a:t>
            </a:r>
            <a:r>
              <a:rPr lang="en-IN" sz="2000" dirty="0">
                <a:latin typeface="Aptos" panose="020B0004020202020204" pitchFamily="34" charset="0"/>
                <a:sym typeface="Wingdings 3" panose="05040102010807070707" pitchFamily="18" charset="2"/>
              </a:rPr>
              <a:t> </a:t>
            </a:r>
            <a:r>
              <a:rPr lang="en-IN" sz="2400" b="1" dirty="0">
                <a:latin typeface="Aptos" panose="020B0004020202020204" pitchFamily="34" charset="0"/>
              </a:rPr>
              <a:t>Presented by:</a:t>
            </a:r>
            <a:endParaRPr lang="en-IN" sz="2400" dirty="0">
              <a:latin typeface="Aptos" panose="020B0004020202020204" pitchFamily="34" charset="0"/>
            </a:endParaRPr>
          </a:p>
          <a:p>
            <a:r>
              <a:rPr lang="en-IN" sz="2000" dirty="0">
                <a:latin typeface="Aptos" panose="020B0004020202020204" pitchFamily="34" charset="0"/>
              </a:rPr>
              <a:t>            Krisha </a:t>
            </a:r>
            <a:r>
              <a:rPr lang="en-IN" sz="2000" dirty="0" err="1">
                <a:latin typeface="Aptos" panose="020B0004020202020204" pitchFamily="34" charset="0"/>
              </a:rPr>
              <a:t>Kalathiya</a:t>
            </a:r>
            <a:r>
              <a:rPr lang="en-IN" sz="2000" dirty="0">
                <a:latin typeface="Aptos" panose="020B0004020202020204" pitchFamily="34" charset="0"/>
              </a:rPr>
              <a:t>                MANTHAN M. PATEL</a:t>
            </a:r>
          </a:p>
          <a:p>
            <a:r>
              <a:rPr lang="en-IN" sz="2000" dirty="0">
                <a:latin typeface="Aptos" panose="020B0004020202020204" pitchFamily="34" charset="0"/>
              </a:rPr>
              <a:t>            Bhumi Makwana                  RAHULKUMAR MEENA</a:t>
            </a:r>
          </a:p>
          <a:p>
            <a:r>
              <a:rPr lang="en-IN" sz="2000" dirty="0">
                <a:latin typeface="Aptos" panose="020B0004020202020204" pitchFamily="34" charset="0"/>
              </a:rPr>
              <a:t>            Rahi </a:t>
            </a:r>
            <a:r>
              <a:rPr lang="en-IN" sz="2000" dirty="0" err="1">
                <a:latin typeface="Aptos" panose="020B0004020202020204" pitchFamily="34" charset="0"/>
              </a:rPr>
              <a:t>Chuadhari</a:t>
            </a:r>
            <a:r>
              <a:rPr lang="en-IN" sz="2000" dirty="0">
                <a:latin typeface="Aptos" panose="020B0004020202020204" pitchFamily="34" charset="0"/>
              </a:rPr>
              <a:t>                   AARIN PANDOR</a:t>
            </a:r>
          </a:p>
          <a:p>
            <a:pPr>
              <a:buFont typeface="Arial" panose="020B0604020202020204" pitchFamily="34" charset="0"/>
              <a:buChar char="•"/>
            </a:pPr>
            <a:endParaRPr lang="en-IN" sz="2000" dirty="0">
              <a:latin typeface="Aptos" panose="020B0004020202020204" pitchFamily="34" charset="0"/>
            </a:endParaRPr>
          </a:p>
          <a:p>
            <a:r>
              <a:rPr lang="en-IN" sz="2000" dirty="0">
                <a:latin typeface="Aptos" panose="020B0004020202020204" pitchFamily="34" charset="0"/>
              </a:rPr>
              <a:t> </a:t>
            </a:r>
            <a:r>
              <a:rPr lang="en-IN" sz="2400" dirty="0">
                <a:latin typeface="Aptos" panose="020B0004020202020204" pitchFamily="34" charset="0"/>
                <a:sym typeface="Wingdings 3" panose="05040102010807070707" pitchFamily="18" charset="2"/>
              </a:rPr>
              <a:t> </a:t>
            </a:r>
            <a:r>
              <a:rPr lang="en-IN" sz="2400" b="1" dirty="0">
                <a:latin typeface="Aptos" panose="020B0004020202020204" pitchFamily="34" charset="0"/>
              </a:rPr>
              <a:t>Subject:</a:t>
            </a:r>
            <a:r>
              <a:rPr lang="en-IN" sz="2400" dirty="0">
                <a:latin typeface="Aptos" panose="020B0004020202020204" pitchFamily="34" charset="0"/>
              </a:rPr>
              <a:t> Statistics – X – CE – 304(B)</a:t>
            </a:r>
          </a:p>
          <a:p>
            <a:br>
              <a:rPr lang="en-IN" sz="2000" dirty="0">
                <a:latin typeface="Aptos" panose="020B0004020202020204" pitchFamily="34" charset="0"/>
              </a:rPr>
            </a:br>
            <a:r>
              <a:rPr lang="en-IN" sz="2000" dirty="0">
                <a:latin typeface="Aptos" panose="020B0004020202020204" pitchFamily="34" charset="0"/>
              </a:rPr>
              <a:t> </a:t>
            </a:r>
            <a:r>
              <a:rPr lang="en-IN" sz="2400" dirty="0">
                <a:latin typeface="Aptos" panose="020B0004020202020204" pitchFamily="34" charset="0"/>
                <a:sym typeface="Wingdings 3" panose="05040102010807070707" pitchFamily="18" charset="2"/>
              </a:rPr>
              <a:t> </a:t>
            </a:r>
            <a:r>
              <a:rPr lang="en-IN" sz="2400" b="1" dirty="0">
                <a:latin typeface="Aptos" panose="020B0004020202020204" pitchFamily="34" charset="0"/>
              </a:rPr>
              <a:t>Under the guidance of:</a:t>
            </a:r>
            <a:r>
              <a:rPr lang="en-IN" sz="2400" dirty="0">
                <a:latin typeface="Aptos" panose="020B0004020202020204" pitchFamily="34" charset="0"/>
              </a:rPr>
              <a:t>  Dr. Parag shah,</a:t>
            </a:r>
            <a:r>
              <a:rPr lang="en-IN" sz="4000" dirty="0">
                <a:latin typeface="Aptos" panose="020B0004020202020204" pitchFamily="34" charset="0"/>
              </a:rPr>
              <a:t> </a:t>
            </a:r>
            <a:r>
              <a:rPr lang="en-IN" sz="2400" dirty="0" err="1">
                <a:latin typeface="Aptos" panose="020B0004020202020204" pitchFamily="34" charset="0"/>
              </a:rPr>
              <a:t>Prof.</a:t>
            </a:r>
            <a:r>
              <a:rPr lang="en-IN" sz="2400" dirty="0">
                <a:latin typeface="Aptos" panose="020B0004020202020204" pitchFamily="34" charset="0"/>
              </a:rPr>
              <a:t> P. M. </a:t>
            </a:r>
            <a:r>
              <a:rPr lang="en-IN" sz="2400" dirty="0" err="1">
                <a:latin typeface="Aptos" panose="020B0004020202020204" pitchFamily="34" charset="0"/>
              </a:rPr>
              <a:t>Parmar</a:t>
            </a:r>
            <a:r>
              <a:rPr lang="en-IN" sz="2400" dirty="0">
                <a:latin typeface="Aptos" panose="020B0004020202020204" pitchFamily="34" charset="0"/>
              </a:rPr>
              <a:t> &amp; DR. HIREN DOSHI</a:t>
            </a:r>
            <a:endParaRPr lang="en-US" sz="2400" b="0" dirty="0">
              <a:solidFill>
                <a:schemeClr val="accent6">
                  <a:lumMod val="50000"/>
                </a:schemeClr>
              </a:solidFill>
              <a:latin typeface="Aptos" panose="020B0004020202020204" pitchFamily="34" charset="0"/>
            </a:endParaRPr>
          </a:p>
        </p:txBody>
      </p:sp>
    </p:spTree>
    <p:extLst>
      <p:ext uri="{BB962C8B-B14F-4D97-AF65-F5344CB8AC3E}">
        <p14:creationId xmlns:p14="http://schemas.microsoft.com/office/powerpoint/2010/main" val="2202437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21072-4A77-DB4D-DF41-58EADB7DA94E}"/>
              </a:ext>
            </a:extLst>
          </p:cNvPr>
          <p:cNvSpPr>
            <a:spLocks noGrp="1"/>
          </p:cNvSpPr>
          <p:nvPr>
            <p:ph type="ctrTitle"/>
          </p:nvPr>
        </p:nvSpPr>
        <p:spPr>
          <a:xfrm>
            <a:off x="7678882" y="1932709"/>
            <a:ext cx="4405745" cy="3917374"/>
          </a:xfrm>
        </p:spPr>
        <p:txBody>
          <a:bodyPr/>
          <a:lstStyle/>
          <a:p>
            <a:pPr algn="ctr"/>
            <a:r>
              <a:rPr lang="en-US" b="1" dirty="0"/>
              <a:t>Brief Overview of S.G. Highway</a:t>
            </a:r>
            <a:br>
              <a:rPr lang="en-US" dirty="0"/>
            </a:br>
            <a:endParaRPr lang="en-US" sz="6000" dirty="0"/>
          </a:p>
        </p:txBody>
      </p:sp>
      <p:sp>
        <p:nvSpPr>
          <p:cNvPr id="4" name="Slide Number Placeholder 3">
            <a:extLst>
              <a:ext uri="{FF2B5EF4-FFF2-40B4-BE49-F238E27FC236}">
                <a16:creationId xmlns:a16="http://schemas.microsoft.com/office/drawing/2014/main" id="{18D5CFA2-4E67-F157-5FFD-A246307D41F7}"/>
              </a:ext>
            </a:extLst>
          </p:cNvPr>
          <p:cNvSpPr>
            <a:spLocks noGrp="1"/>
          </p:cNvSpPr>
          <p:nvPr>
            <p:ph type="sldNum" sz="quarter" idx="4294967295"/>
          </p:nvPr>
        </p:nvSpPr>
        <p:spPr>
          <a:xfrm>
            <a:off x="11125200" y="457200"/>
            <a:ext cx="1066800" cy="471488"/>
          </a:xfrm>
        </p:spPr>
        <p:txBody>
          <a:bodyPr/>
          <a:lstStyle/>
          <a:p>
            <a:fld id="{48F63A3B-78C7-47BE-AE5E-E10140E04643}" type="slidenum">
              <a:rPr lang="en-US" smtClean="0"/>
              <a:pPr/>
              <a:t>2</a:t>
            </a:fld>
            <a:endParaRPr lang="en-US" dirty="0"/>
          </a:p>
        </p:txBody>
      </p:sp>
      <p:sp>
        <p:nvSpPr>
          <p:cNvPr id="6" name="Subtitle 5">
            <a:extLst>
              <a:ext uri="{FF2B5EF4-FFF2-40B4-BE49-F238E27FC236}">
                <a16:creationId xmlns:a16="http://schemas.microsoft.com/office/drawing/2014/main" id="{07421D70-FE46-AFFB-3AD5-7A591D8CB6A5}"/>
              </a:ext>
            </a:extLst>
          </p:cNvPr>
          <p:cNvSpPr>
            <a:spLocks noGrp="1"/>
          </p:cNvSpPr>
          <p:nvPr>
            <p:ph type="subTitle" idx="1"/>
          </p:nvPr>
        </p:nvSpPr>
        <p:spPr>
          <a:xfrm>
            <a:off x="446810" y="348095"/>
            <a:ext cx="6660571" cy="6161809"/>
          </a:xfrm>
        </p:spPr>
        <p:txBody>
          <a:bodyPr>
            <a:normAutofit/>
          </a:bodyPr>
          <a:lstStyle/>
          <a:p>
            <a:pPr>
              <a:buNone/>
            </a:pPr>
            <a:r>
              <a:rPr lang="en-US" b="1" dirty="0"/>
              <a:t>Importance of S.G. Highway</a:t>
            </a:r>
            <a:endParaRPr lang="en-US" dirty="0"/>
          </a:p>
          <a:p>
            <a:r>
              <a:rPr lang="en-US" dirty="0">
                <a:sym typeface="Wingdings 3" panose="05040102010807070707" pitchFamily="18" charset="2"/>
              </a:rPr>
              <a:t></a:t>
            </a:r>
            <a:r>
              <a:rPr lang="en-US" dirty="0"/>
              <a:t> Connectively of Ahmedabad-Gandhinagar</a:t>
            </a:r>
          </a:p>
          <a:p>
            <a:r>
              <a:rPr lang="en-US" dirty="0">
                <a:sym typeface="Wingdings 3" panose="05040102010807070707" pitchFamily="18" charset="2"/>
              </a:rPr>
              <a:t></a:t>
            </a:r>
            <a:r>
              <a:rPr lang="en-IN" dirty="0">
                <a:solidFill>
                  <a:schemeClr val="accent6">
                    <a:lumMod val="50000"/>
                  </a:schemeClr>
                </a:solidFill>
                <a:latin typeface="Aptos" panose="020B0004020202020204" pitchFamily="34" charset="0"/>
                <a:sym typeface="Wingdings 3" panose="05040102010807070707" pitchFamily="18" charset="2"/>
              </a:rPr>
              <a:t> </a:t>
            </a:r>
            <a:r>
              <a:rPr lang="en-US" dirty="0"/>
              <a:t>Accident Hotspot</a:t>
            </a:r>
          </a:p>
          <a:p>
            <a:r>
              <a:rPr lang="en-US" dirty="0">
                <a:sym typeface="Wingdings 3" panose="05040102010807070707" pitchFamily="18" charset="2"/>
              </a:rPr>
              <a:t></a:t>
            </a:r>
            <a:r>
              <a:rPr lang="en-US" dirty="0"/>
              <a:t> Traffic Volume</a:t>
            </a:r>
          </a:p>
          <a:p>
            <a:pPr>
              <a:buFont typeface="Arial" panose="020B0604020202020204" pitchFamily="34" charset="0"/>
              <a:buChar char="•"/>
            </a:pPr>
            <a:endParaRPr lang="en-US" dirty="0"/>
          </a:p>
          <a:p>
            <a:pPr>
              <a:buNone/>
            </a:pPr>
            <a:r>
              <a:rPr lang="en-US" b="1" dirty="0"/>
              <a:t>Growing Traffic Concerns</a:t>
            </a:r>
            <a:endParaRPr lang="en-US" dirty="0"/>
          </a:p>
          <a:p>
            <a:r>
              <a:rPr lang="en-US" dirty="0">
                <a:sym typeface="Wingdings 3" panose="05040102010807070707" pitchFamily="18" charset="2"/>
              </a:rPr>
              <a:t></a:t>
            </a:r>
            <a:r>
              <a:rPr lang="en-US" dirty="0"/>
              <a:t> Rapid urbanization increased vehicle count.</a:t>
            </a:r>
          </a:p>
          <a:p>
            <a:r>
              <a:rPr lang="en-US" dirty="0">
                <a:sym typeface="Wingdings 3" panose="05040102010807070707" pitchFamily="18" charset="2"/>
              </a:rPr>
              <a:t> </a:t>
            </a:r>
            <a:r>
              <a:rPr lang="en-US" dirty="0"/>
              <a:t>High congestion levels</a:t>
            </a:r>
          </a:p>
          <a:p>
            <a:r>
              <a:rPr lang="en-US" dirty="0">
                <a:sym typeface="Wingdings 3" panose="05040102010807070707" pitchFamily="18" charset="2"/>
              </a:rPr>
              <a:t></a:t>
            </a:r>
            <a:r>
              <a:rPr lang="en-US" dirty="0"/>
              <a:t> Rising number of private vehicles</a:t>
            </a:r>
          </a:p>
          <a:p>
            <a:pPr>
              <a:buFont typeface="Arial" panose="020B0604020202020204" pitchFamily="34" charset="0"/>
              <a:buChar char="•"/>
            </a:pPr>
            <a:endParaRPr lang="en-US" dirty="0"/>
          </a:p>
          <a:p>
            <a:r>
              <a:rPr lang="en-US" b="1" dirty="0"/>
              <a:t>Key Issues Identified</a:t>
            </a:r>
            <a:endParaRPr lang="en-US" dirty="0"/>
          </a:p>
          <a:p>
            <a:r>
              <a:rPr lang="en-US" dirty="0">
                <a:sym typeface="Wingdings 3" panose="05040102010807070707" pitchFamily="18" charset="2"/>
              </a:rPr>
              <a:t></a:t>
            </a:r>
            <a:r>
              <a:rPr lang="en-US" dirty="0"/>
              <a:t> Traffic Congestion</a:t>
            </a:r>
          </a:p>
          <a:p>
            <a:r>
              <a:rPr lang="en-US" dirty="0">
                <a:sym typeface="Wingdings 3" panose="05040102010807070707" pitchFamily="18" charset="2"/>
              </a:rPr>
              <a:t></a:t>
            </a:r>
            <a:r>
              <a:rPr lang="en-US" dirty="0"/>
              <a:t> Accidents </a:t>
            </a:r>
          </a:p>
          <a:p>
            <a:r>
              <a:rPr lang="en-US" dirty="0">
                <a:sym typeface="Wingdings 3" panose="05040102010807070707" pitchFamily="18" charset="2"/>
              </a:rPr>
              <a:t></a:t>
            </a:r>
            <a:r>
              <a:rPr lang="en-US" dirty="0"/>
              <a:t> Environmental Impact</a:t>
            </a:r>
          </a:p>
          <a:p>
            <a:endParaRPr lang="en-IN" dirty="0"/>
          </a:p>
        </p:txBody>
      </p:sp>
    </p:spTree>
    <p:extLst>
      <p:ext uri="{BB962C8B-B14F-4D97-AF65-F5344CB8AC3E}">
        <p14:creationId xmlns:p14="http://schemas.microsoft.com/office/powerpoint/2010/main" val="3913219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E8954-9BCB-7FD9-A210-38DC54382D45}"/>
              </a:ext>
            </a:extLst>
          </p:cNvPr>
          <p:cNvSpPr>
            <a:spLocks noGrp="1"/>
          </p:cNvSpPr>
          <p:nvPr>
            <p:ph type="title"/>
          </p:nvPr>
        </p:nvSpPr>
        <p:spPr>
          <a:xfrm>
            <a:off x="4499656" y="1133596"/>
            <a:ext cx="7965461" cy="994164"/>
          </a:xfrm>
        </p:spPr>
        <p:txBody>
          <a:bodyPr/>
          <a:lstStyle/>
          <a:p>
            <a:r>
              <a:rPr lang="en-US" dirty="0"/>
              <a:t>OBJECTIVE OF THE STUDY</a:t>
            </a:r>
          </a:p>
        </p:txBody>
      </p:sp>
      <p:sp>
        <p:nvSpPr>
          <p:cNvPr id="3" name="Content Placeholder 2">
            <a:extLst>
              <a:ext uri="{FF2B5EF4-FFF2-40B4-BE49-F238E27FC236}">
                <a16:creationId xmlns:a16="http://schemas.microsoft.com/office/drawing/2014/main" id="{75111C33-898C-4414-4665-5136EB6FC126}"/>
              </a:ext>
            </a:extLst>
          </p:cNvPr>
          <p:cNvSpPr>
            <a:spLocks noGrp="1"/>
          </p:cNvSpPr>
          <p:nvPr>
            <p:ph sz="half" idx="2"/>
          </p:nvPr>
        </p:nvSpPr>
        <p:spPr>
          <a:xfrm>
            <a:off x="3726035" y="2900815"/>
            <a:ext cx="7965460" cy="2427212"/>
          </a:xfrm>
        </p:spPr>
        <p:txBody>
          <a:bodyPr/>
          <a:lstStyle/>
          <a:p>
            <a:r>
              <a:rPr lang="en-US" sz="2400" dirty="0"/>
              <a:t>Improve traffic flow with smart solution</a:t>
            </a:r>
            <a:endParaRPr lang="en-US" dirty="0"/>
          </a:p>
          <a:p>
            <a:r>
              <a:rPr lang="en-US" sz="2400" dirty="0"/>
              <a:t>Enhance Road Safety and Reduce Accidents</a:t>
            </a:r>
          </a:p>
          <a:p>
            <a:r>
              <a:rPr lang="en-IN" sz="2400" dirty="0"/>
              <a:t>Optimize Public Transport Utilization</a:t>
            </a:r>
          </a:p>
          <a:p>
            <a:r>
              <a:rPr lang="fr-FR" sz="2400" dirty="0"/>
              <a:t>Access Environmental Impact (Air &amp; Noise Pollution)</a:t>
            </a:r>
          </a:p>
        </p:txBody>
      </p:sp>
      <p:sp>
        <p:nvSpPr>
          <p:cNvPr id="23" name="Slide Number Placeholder 22">
            <a:extLst>
              <a:ext uri="{FF2B5EF4-FFF2-40B4-BE49-F238E27FC236}">
                <a16:creationId xmlns:a16="http://schemas.microsoft.com/office/drawing/2014/main" id="{94FF72B7-0438-3641-5939-75128934B0DF}"/>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3</a:t>
            </a:fld>
            <a:endParaRPr lang="en-US" dirty="0"/>
          </a:p>
        </p:txBody>
      </p:sp>
      <p:pic>
        <p:nvPicPr>
          <p:cNvPr id="6" name="Picture 5">
            <a:extLst>
              <a:ext uri="{FF2B5EF4-FFF2-40B4-BE49-F238E27FC236}">
                <a16:creationId xmlns:a16="http://schemas.microsoft.com/office/drawing/2014/main" id="{65D883C5-9E01-9266-51C5-DF67BB0B402A}"/>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23150" y="0"/>
            <a:ext cx="3449256" cy="6858000"/>
          </a:xfrm>
          <a:prstGeom prst="rect">
            <a:avLst/>
          </a:prstGeom>
        </p:spPr>
      </p:pic>
    </p:spTree>
    <p:extLst>
      <p:ext uri="{BB962C8B-B14F-4D97-AF65-F5344CB8AC3E}">
        <p14:creationId xmlns:p14="http://schemas.microsoft.com/office/powerpoint/2010/main" val="6856810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endParaRPr lang="en-IN" dirty="0"/>
          </a:p>
        </p:txBody>
      </p:sp>
      <p:sp>
        <p:nvSpPr>
          <p:cNvPr id="5" name="Slide Number Placeholder 4"/>
          <p:cNvSpPr>
            <a:spLocks noGrp="1"/>
          </p:cNvSpPr>
          <p:nvPr>
            <p:ph type="sldNum" sz="quarter" idx="10"/>
          </p:nvPr>
        </p:nvSpPr>
        <p:spPr/>
        <p:txBody>
          <a:bodyPr/>
          <a:lstStyle/>
          <a:p>
            <a:fld id="{48F63A3B-78C7-47BE-AE5E-E10140E04643}" type="slidenum">
              <a:rPr lang="en-US" smtClean="0"/>
              <a:pPr/>
              <a:t>4</a:t>
            </a:fld>
            <a:endParaRPr lang="en-US" dirty="0"/>
          </a:p>
        </p:txBody>
      </p:sp>
      <p:sp>
        <p:nvSpPr>
          <p:cNvPr id="6" name="Rectangle 5"/>
          <p:cNvSpPr/>
          <p:nvPr/>
        </p:nvSpPr>
        <p:spPr>
          <a:xfrm>
            <a:off x="2497540" y="668740"/>
            <a:ext cx="8461612" cy="9962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rgbClr val="1F2C8F"/>
                </a:solidFill>
              </a:rPr>
              <a:t>METHODOLOGY AND DATA SOURCES</a:t>
            </a:r>
            <a:endParaRPr lang="en-IN" sz="3200" b="1" dirty="0">
              <a:solidFill>
                <a:srgbClr val="1F2C8F"/>
              </a:solidFill>
            </a:endParaRPr>
          </a:p>
        </p:txBody>
      </p:sp>
      <p:sp>
        <p:nvSpPr>
          <p:cNvPr id="12" name="Rectangle 11"/>
          <p:cNvSpPr/>
          <p:nvPr/>
        </p:nvSpPr>
        <p:spPr>
          <a:xfrm>
            <a:off x="2429301" y="1661194"/>
            <a:ext cx="4314323" cy="523220"/>
          </a:xfrm>
          <a:prstGeom prst="rect">
            <a:avLst/>
          </a:prstGeom>
        </p:spPr>
        <p:txBody>
          <a:bodyPr wrap="none">
            <a:spAutoFit/>
          </a:bodyPr>
          <a:lstStyle/>
          <a:p>
            <a:pPr marL="342900" indent="-342900">
              <a:buFont typeface="Arial" panose="020B0604020202020204" pitchFamily="34" charset="0"/>
              <a:buChar char="•"/>
            </a:pPr>
            <a:r>
              <a:rPr lang="en-US" sz="2800" b="1" dirty="0">
                <a:solidFill>
                  <a:srgbClr val="1F2C8F"/>
                </a:solidFill>
                <a:latin typeface="Times New Roman" panose="02020603050405020304" pitchFamily="18" charset="0"/>
                <a:ea typeface="Times New Roman" panose="02020603050405020304" pitchFamily="18" charset="0"/>
              </a:rPr>
              <a:t>Data</a:t>
            </a:r>
            <a:r>
              <a:rPr lang="en-US" sz="2800" b="1" spc="-70" dirty="0">
                <a:solidFill>
                  <a:srgbClr val="1F2C8F"/>
                </a:solidFill>
                <a:latin typeface="Times New Roman" panose="02020603050405020304" pitchFamily="18" charset="0"/>
                <a:ea typeface="Times New Roman" panose="02020603050405020304" pitchFamily="18" charset="0"/>
              </a:rPr>
              <a:t> </a:t>
            </a:r>
            <a:r>
              <a:rPr lang="en-US" sz="2800" b="1" dirty="0">
                <a:solidFill>
                  <a:srgbClr val="1F2C8F"/>
                </a:solidFill>
                <a:latin typeface="Times New Roman" panose="02020603050405020304" pitchFamily="18" charset="0"/>
                <a:ea typeface="Times New Roman" panose="02020603050405020304" pitchFamily="18" charset="0"/>
              </a:rPr>
              <a:t>Collection</a:t>
            </a:r>
            <a:r>
              <a:rPr lang="en-US" sz="2800" b="1" spc="-70" dirty="0">
                <a:solidFill>
                  <a:srgbClr val="1F2C8F"/>
                </a:solidFill>
                <a:latin typeface="Times New Roman" panose="02020603050405020304" pitchFamily="18" charset="0"/>
                <a:ea typeface="Times New Roman" panose="02020603050405020304" pitchFamily="18" charset="0"/>
              </a:rPr>
              <a:t> </a:t>
            </a:r>
            <a:r>
              <a:rPr lang="en-US" sz="2800" b="1" spc="-10" dirty="0">
                <a:solidFill>
                  <a:srgbClr val="1F2C8F"/>
                </a:solidFill>
                <a:latin typeface="Times New Roman" panose="02020603050405020304" pitchFamily="18" charset="0"/>
                <a:ea typeface="Times New Roman" panose="02020603050405020304" pitchFamily="18" charset="0"/>
              </a:rPr>
              <a:t>Methods</a:t>
            </a:r>
            <a:endParaRPr lang="en-IN" sz="2800" b="1" dirty="0">
              <a:solidFill>
                <a:srgbClr val="1F2C8F"/>
              </a:solidFill>
            </a:endParaRPr>
          </a:p>
        </p:txBody>
      </p:sp>
      <p:sp>
        <p:nvSpPr>
          <p:cNvPr id="13" name="Rectangle 12"/>
          <p:cNvSpPr/>
          <p:nvPr/>
        </p:nvSpPr>
        <p:spPr>
          <a:xfrm>
            <a:off x="2838734" y="2122859"/>
            <a:ext cx="1684435" cy="369332"/>
          </a:xfrm>
          <a:prstGeom prst="rect">
            <a:avLst/>
          </a:prstGeom>
        </p:spPr>
        <p:txBody>
          <a:bodyPr wrap="none">
            <a:spAutoFit/>
          </a:bodyPr>
          <a:lstStyle/>
          <a:p>
            <a:r>
              <a:rPr lang="en-US" b="1" dirty="0">
                <a:solidFill>
                  <a:srgbClr val="1F2C8F"/>
                </a:solidFill>
                <a:latin typeface="Times New Roman" panose="02020603050405020304" pitchFamily="18" charset="0"/>
                <a:ea typeface="Times New Roman" panose="02020603050405020304" pitchFamily="18" charset="0"/>
              </a:rPr>
              <a:t>Survey</a:t>
            </a:r>
            <a:r>
              <a:rPr lang="en-US" b="1" spc="-95" dirty="0">
                <a:solidFill>
                  <a:srgbClr val="1F2C8F"/>
                </a:solidFill>
                <a:latin typeface="Times New Roman" panose="02020603050405020304" pitchFamily="18" charset="0"/>
                <a:ea typeface="Times New Roman" panose="02020603050405020304" pitchFamily="18" charset="0"/>
              </a:rPr>
              <a:t> </a:t>
            </a:r>
            <a:r>
              <a:rPr lang="en-US" b="1" spc="-10" dirty="0">
                <a:solidFill>
                  <a:srgbClr val="1F2C8F"/>
                </a:solidFill>
                <a:latin typeface="Times New Roman" panose="02020603050405020304" pitchFamily="18" charset="0"/>
                <a:ea typeface="Times New Roman" panose="02020603050405020304" pitchFamily="18" charset="0"/>
              </a:rPr>
              <a:t>Method</a:t>
            </a:r>
            <a:endParaRPr lang="en-IN" dirty="0">
              <a:solidFill>
                <a:srgbClr val="1F2C8F"/>
              </a:solidFill>
            </a:endParaRPr>
          </a:p>
        </p:txBody>
      </p:sp>
      <p:sp>
        <p:nvSpPr>
          <p:cNvPr id="14" name="Rectangle 13"/>
          <p:cNvSpPr/>
          <p:nvPr/>
        </p:nvSpPr>
        <p:spPr>
          <a:xfrm>
            <a:off x="2773332" y="2502006"/>
            <a:ext cx="2085827" cy="369332"/>
          </a:xfrm>
          <a:prstGeom prst="rect">
            <a:avLst/>
          </a:prstGeom>
        </p:spPr>
        <p:txBody>
          <a:bodyPr wrap="none">
            <a:spAutoFit/>
          </a:bodyPr>
          <a:lstStyle/>
          <a:p>
            <a:r>
              <a:rPr lang="en-US" b="1" dirty="0">
                <a:latin typeface="Times New Roman" panose="02020603050405020304" pitchFamily="18" charset="0"/>
                <a:ea typeface="Times New Roman" panose="02020603050405020304" pitchFamily="18" charset="0"/>
              </a:rPr>
              <a:t> </a:t>
            </a:r>
            <a:r>
              <a:rPr lang="en-US" b="1" dirty="0">
                <a:solidFill>
                  <a:srgbClr val="1F2C8F"/>
                </a:solidFill>
                <a:latin typeface="Times New Roman" panose="02020603050405020304" pitchFamily="18" charset="0"/>
                <a:ea typeface="Times New Roman" panose="02020603050405020304" pitchFamily="18" charset="0"/>
              </a:rPr>
              <a:t>Field</a:t>
            </a:r>
            <a:r>
              <a:rPr lang="en-US" b="1" spc="-65" dirty="0">
                <a:solidFill>
                  <a:srgbClr val="1F2C8F"/>
                </a:solidFill>
                <a:latin typeface="Times New Roman" panose="02020603050405020304" pitchFamily="18" charset="0"/>
                <a:ea typeface="Times New Roman" panose="02020603050405020304" pitchFamily="18" charset="0"/>
              </a:rPr>
              <a:t> </a:t>
            </a:r>
            <a:r>
              <a:rPr lang="en-US" b="1" dirty="0">
                <a:solidFill>
                  <a:srgbClr val="1F2C8F"/>
                </a:solidFill>
                <a:latin typeface="Times New Roman" panose="02020603050405020304" pitchFamily="18" charset="0"/>
                <a:ea typeface="Times New Roman" panose="02020603050405020304" pitchFamily="18" charset="0"/>
              </a:rPr>
              <a:t>Observation</a:t>
            </a:r>
            <a:endParaRPr lang="en-IN" dirty="0">
              <a:solidFill>
                <a:srgbClr val="1F2C8F"/>
              </a:solidFill>
            </a:endParaRPr>
          </a:p>
        </p:txBody>
      </p:sp>
      <p:sp>
        <p:nvSpPr>
          <p:cNvPr id="15" name="Rectangle 14"/>
          <p:cNvSpPr/>
          <p:nvPr/>
        </p:nvSpPr>
        <p:spPr>
          <a:xfrm>
            <a:off x="2838734" y="2871338"/>
            <a:ext cx="2544607" cy="369332"/>
          </a:xfrm>
          <a:prstGeom prst="rect">
            <a:avLst/>
          </a:prstGeom>
        </p:spPr>
        <p:txBody>
          <a:bodyPr wrap="none">
            <a:spAutoFit/>
          </a:bodyPr>
          <a:lstStyle/>
          <a:p>
            <a:r>
              <a:rPr lang="en-US" b="1" dirty="0">
                <a:solidFill>
                  <a:srgbClr val="1F2C8F"/>
                </a:solidFill>
                <a:latin typeface="Times New Roman" panose="02020603050405020304" pitchFamily="18" charset="0"/>
                <a:ea typeface="Times New Roman" panose="02020603050405020304" pitchFamily="18" charset="0"/>
              </a:rPr>
              <a:t>Secondary</a:t>
            </a:r>
            <a:r>
              <a:rPr lang="en-US" b="1" spc="-100" dirty="0">
                <a:solidFill>
                  <a:srgbClr val="1F2C8F"/>
                </a:solidFill>
                <a:latin typeface="Times New Roman" panose="02020603050405020304" pitchFamily="18" charset="0"/>
                <a:ea typeface="Times New Roman" panose="02020603050405020304" pitchFamily="18" charset="0"/>
              </a:rPr>
              <a:t> </a:t>
            </a:r>
            <a:r>
              <a:rPr lang="en-US" b="1" dirty="0">
                <a:solidFill>
                  <a:srgbClr val="1F2C8F"/>
                </a:solidFill>
                <a:latin typeface="Times New Roman" panose="02020603050405020304" pitchFamily="18" charset="0"/>
                <a:ea typeface="Times New Roman" panose="02020603050405020304" pitchFamily="18" charset="0"/>
              </a:rPr>
              <a:t>Data</a:t>
            </a:r>
            <a:r>
              <a:rPr lang="en-US" b="1" spc="-95" dirty="0">
                <a:solidFill>
                  <a:srgbClr val="1F2C8F"/>
                </a:solidFill>
                <a:latin typeface="Times New Roman" panose="02020603050405020304" pitchFamily="18" charset="0"/>
                <a:ea typeface="Times New Roman" panose="02020603050405020304" pitchFamily="18" charset="0"/>
              </a:rPr>
              <a:t> </a:t>
            </a:r>
            <a:r>
              <a:rPr lang="en-US" b="1" spc="-10" dirty="0">
                <a:solidFill>
                  <a:srgbClr val="1F2C8F"/>
                </a:solidFill>
                <a:latin typeface="Times New Roman" panose="02020603050405020304" pitchFamily="18" charset="0"/>
                <a:ea typeface="Times New Roman" panose="02020603050405020304" pitchFamily="18" charset="0"/>
              </a:rPr>
              <a:t>Sources</a:t>
            </a:r>
            <a:endParaRPr lang="en-IN" b="1" dirty="0">
              <a:solidFill>
                <a:srgbClr val="1F2C8F"/>
              </a:solidFill>
            </a:endParaRPr>
          </a:p>
        </p:txBody>
      </p:sp>
      <p:sp>
        <p:nvSpPr>
          <p:cNvPr id="16" name="Rectangle 15"/>
          <p:cNvSpPr/>
          <p:nvPr/>
        </p:nvSpPr>
        <p:spPr>
          <a:xfrm>
            <a:off x="2497540" y="3409947"/>
            <a:ext cx="3875964" cy="523220"/>
          </a:xfrm>
          <a:prstGeom prst="rect">
            <a:avLst/>
          </a:prstGeom>
        </p:spPr>
        <p:txBody>
          <a:bodyPr wrap="square">
            <a:spAutoFit/>
          </a:bodyPr>
          <a:lstStyle/>
          <a:p>
            <a:pPr marL="342900" indent="-342900">
              <a:buFont typeface="Arial" panose="020B0604020202020204" pitchFamily="34" charset="0"/>
              <a:buChar char="•"/>
            </a:pPr>
            <a:r>
              <a:rPr lang="en-US" sz="2400" b="1" spc="-10" dirty="0">
                <a:latin typeface="Times New Roman" panose="02020603050405020304" pitchFamily="18" charset="0"/>
                <a:ea typeface="Times New Roman" panose="02020603050405020304" pitchFamily="18" charset="0"/>
              </a:rPr>
              <a:t> </a:t>
            </a:r>
            <a:r>
              <a:rPr lang="en-US" sz="2800" b="1" dirty="0">
                <a:solidFill>
                  <a:srgbClr val="1F2C8F"/>
                </a:solidFill>
                <a:latin typeface="Times New Roman" panose="02020603050405020304" pitchFamily="18" charset="0"/>
                <a:ea typeface="Times New Roman" panose="02020603050405020304" pitchFamily="18" charset="0"/>
              </a:rPr>
              <a:t>Sampling</a:t>
            </a:r>
            <a:r>
              <a:rPr lang="en-US" sz="2800" b="1" spc="-65" dirty="0">
                <a:solidFill>
                  <a:srgbClr val="1F2C8F"/>
                </a:solidFill>
                <a:latin typeface="Times New Roman" panose="02020603050405020304" pitchFamily="18" charset="0"/>
                <a:ea typeface="Times New Roman" panose="02020603050405020304" pitchFamily="18" charset="0"/>
              </a:rPr>
              <a:t> </a:t>
            </a:r>
            <a:r>
              <a:rPr lang="en-US" sz="2800" b="1" spc="-10" dirty="0">
                <a:solidFill>
                  <a:srgbClr val="1F2C8F"/>
                </a:solidFill>
                <a:latin typeface="Times New Roman" panose="02020603050405020304" pitchFamily="18" charset="0"/>
                <a:ea typeface="Times New Roman" panose="02020603050405020304" pitchFamily="18" charset="0"/>
              </a:rPr>
              <a:t>Method</a:t>
            </a:r>
            <a:endParaRPr lang="en-IN" sz="2800" dirty="0">
              <a:solidFill>
                <a:srgbClr val="1F2C8F"/>
              </a:solidFill>
            </a:endParaRPr>
          </a:p>
        </p:txBody>
      </p:sp>
      <p:sp>
        <p:nvSpPr>
          <p:cNvPr id="17" name="Rectangle 16"/>
          <p:cNvSpPr/>
          <p:nvPr/>
        </p:nvSpPr>
        <p:spPr>
          <a:xfrm>
            <a:off x="2917390" y="3871612"/>
            <a:ext cx="2020425" cy="369332"/>
          </a:xfrm>
          <a:prstGeom prst="rect">
            <a:avLst/>
          </a:prstGeom>
        </p:spPr>
        <p:txBody>
          <a:bodyPr wrap="none">
            <a:spAutoFit/>
          </a:bodyPr>
          <a:lstStyle/>
          <a:p>
            <a:r>
              <a:rPr lang="en-US" b="1" dirty="0">
                <a:solidFill>
                  <a:srgbClr val="1F2C8F"/>
                </a:solidFill>
                <a:latin typeface="Times New Roman" panose="02020603050405020304" pitchFamily="18" charset="0"/>
                <a:ea typeface="Times New Roman" panose="02020603050405020304" pitchFamily="18" charset="0"/>
              </a:rPr>
              <a:t>Random</a:t>
            </a:r>
            <a:r>
              <a:rPr lang="en-US" b="1" spc="-35" dirty="0">
                <a:solidFill>
                  <a:srgbClr val="1F2C8F"/>
                </a:solidFill>
                <a:latin typeface="Times New Roman" panose="02020603050405020304" pitchFamily="18" charset="0"/>
                <a:ea typeface="Times New Roman" panose="02020603050405020304" pitchFamily="18" charset="0"/>
              </a:rPr>
              <a:t> </a:t>
            </a:r>
            <a:r>
              <a:rPr lang="en-US" b="1" dirty="0">
                <a:solidFill>
                  <a:srgbClr val="1F2C8F"/>
                </a:solidFill>
                <a:latin typeface="Times New Roman" panose="02020603050405020304" pitchFamily="18" charset="0"/>
                <a:ea typeface="Times New Roman" panose="02020603050405020304" pitchFamily="18" charset="0"/>
              </a:rPr>
              <a:t>Sampling</a:t>
            </a:r>
            <a:endParaRPr lang="en-IN" b="1" dirty="0">
              <a:solidFill>
                <a:srgbClr val="1F2C8F"/>
              </a:solidFill>
            </a:endParaRPr>
          </a:p>
        </p:txBody>
      </p:sp>
      <p:sp>
        <p:nvSpPr>
          <p:cNvPr id="18" name="Rectangle 17"/>
          <p:cNvSpPr/>
          <p:nvPr/>
        </p:nvSpPr>
        <p:spPr>
          <a:xfrm>
            <a:off x="2917390" y="4240944"/>
            <a:ext cx="2396810" cy="369332"/>
          </a:xfrm>
          <a:prstGeom prst="rect">
            <a:avLst/>
          </a:prstGeom>
        </p:spPr>
        <p:txBody>
          <a:bodyPr wrap="none">
            <a:spAutoFit/>
          </a:bodyPr>
          <a:lstStyle/>
          <a:p>
            <a:r>
              <a:rPr lang="en-US" b="1" dirty="0">
                <a:solidFill>
                  <a:srgbClr val="1F2C8F"/>
                </a:solidFill>
                <a:latin typeface="Times New Roman" panose="02020603050405020304" pitchFamily="18" charset="0"/>
                <a:ea typeface="Times New Roman" panose="02020603050405020304" pitchFamily="18" charset="0"/>
              </a:rPr>
              <a:t>Convenience sampling</a:t>
            </a:r>
            <a:endParaRPr lang="en-IN" b="1" dirty="0">
              <a:solidFill>
                <a:srgbClr val="1F2C8F"/>
              </a:solidFill>
            </a:endParaRPr>
          </a:p>
        </p:txBody>
      </p:sp>
      <p:sp>
        <p:nvSpPr>
          <p:cNvPr id="19" name="Rectangle 18"/>
          <p:cNvSpPr/>
          <p:nvPr/>
        </p:nvSpPr>
        <p:spPr>
          <a:xfrm>
            <a:off x="2497540" y="4785535"/>
            <a:ext cx="2361619" cy="523220"/>
          </a:xfrm>
          <a:prstGeom prst="rect">
            <a:avLst/>
          </a:prstGeom>
        </p:spPr>
        <p:txBody>
          <a:bodyPr wrap="square">
            <a:spAutoFit/>
          </a:bodyPr>
          <a:lstStyle/>
          <a:p>
            <a:pPr marL="285750" indent="-285750">
              <a:buFont typeface="Arial" panose="020B0604020202020204" pitchFamily="34" charset="0"/>
              <a:buChar char="•"/>
            </a:pPr>
            <a:r>
              <a:rPr lang="en-US" sz="2800" b="1" dirty="0">
                <a:latin typeface="Times New Roman" panose="02020603050405020304" pitchFamily="18" charset="0"/>
                <a:ea typeface="Times New Roman" panose="02020603050405020304" pitchFamily="18" charset="0"/>
              </a:rPr>
              <a:t> </a:t>
            </a:r>
            <a:r>
              <a:rPr lang="en-US" sz="2800" b="1" dirty="0">
                <a:solidFill>
                  <a:srgbClr val="1F2C8F"/>
                </a:solidFill>
                <a:latin typeface="Times New Roman" panose="02020603050405020304" pitchFamily="18" charset="0"/>
                <a:ea typeface="Times New Roman" panose="02020603050405020304" pitchFamily="18" charset="0"/>
              </a:rPr>
              <a:t>Tools</a:t>
            </a:r>
            <a:r>
              <a:rPr lang="en-US" sz="2800" b="1" spc="-45" dirty="0">
                <a:solidFill>
                  <a:srgbClr val="1F2C8F"/>
                </a:solidFill>
                <a:latin typeface="Times New Roman" panose="02020603050405020304" pitchFamily="18" charset="0"/>
                <a:ea typeface="Times New Roman" panose="02020603050405020304" pitchFamily="18" charset="0"/>
              </a:rPr>
              <a:t> </a:t>
            </a:r>
            <a:r>
              <a:rPr lang="en-US" sz="2800" b="1" spc="-20" dirty="0">
                <a:solidFill>
                  <a:srgbClr val="1F2C8F"/>
                </a:solidFill>
                <a:latin typeface="Times New Roman" panose="02020603050405020304" pitchFamily="18" charset="0"/>
                <a:ea typeface="Times New Roman" panose="02020603050405020304" pitchFamily="18" charset="0"/>
              </a:rPr>
              <a:t>used</a:t>
            </a:r>
            <a:endParaRPr lang="en-IN" sz="2800" dirty="0">
              <a:solidFill>
                <a:srgbClr val="1F2C8F"/>
              </a:solidFill>
            </a:endParaRPr>
          </a:p>
        </p:txBody>
      </p:sp>
      <p:sp>
        <p:nvSpPr>
          <p:cNvPr id="20" name="Rectangle 19"/>
          <p:cNvSpPr/>
          <p:nvPr/>
        </p:nvSpPr>
        <p:spPr>
          <a:xfrm>
            <a:off x="2335341" y="5242847"/>
            <a:ext cx="6096000" cy="1892826"/>
          </a:xfrm>
          <a:prstGeom prst="rect">
            <a:avLst/>
          </a:prstGeom>
        </p:spPr>
        <p:txBody>
          <a:bodyPr>
            <a:spAutoFit/>
          </a:bodyPr>
          <a:lstStyle/>
          <a:p>
            <a:pPr marL="554990" algn="just">
              <a:lnSpc>
                <a:spcPct val="150000"/>
              </a:lnSpc>
              <a:spcBef>
                <a:spcPts val="870"/>
              </a:spcBef>
              <a:spcAft>
                <a:spcPts val="0"/>
              </a:spcAft>
            </a:pPr>
            <a:r>
              <a:rPr lang="en-US" b="1" dirty="0">
                <a:solidFill>
                  <a:srgbClr val="1F2C8F"/>
                </a:solidFill>
                <a:latin typeface="Times New Roman" panose="02020603050405020304" pitchFamily="18" charset="0"/>
                <a:ea typeface="Times New Roman" panose="02020603050405020304" pitchFamily="18" charset="0"/>
              </a:rPr>
              <a:t>Google</a:t>
            </a:r>
            <a:r>
              <a:rPr lang="en-US" b="1" spc="-40" dirty="0">
                <a:solidFill>
                  <a:srgbClr val="1F2C8F"/>
                </a:solidFill>
                <a:latin typeface="Times New Roman" panose="02020603050405020304" pitchFamily="18" charset="0"/>
                <a:ea typeface="Times New Roman" panose="02020603050405020304" pitchFamily="18" charset="0"/>
              </a:rPr>
              <a:t> </a:t>
            </a:r>
            <a:r>
              <a:rPr lang="en-US" b="1" dirty="0">
                <a:solidFill>
                  <a:srgbClr val="1F2C8F"/>
                </a:solidFill>
                <a:latin typeface="Times New Roman" panose="02020603050405020304" pitchFamily="18" charset="0"/>
                <a:ea typeface="Times New Roman" panose="02020603050405020304" pitchFamily="18" charset="0"/>
              </a:rPr>
              <a:t>Forms</a:t>
            </a:r>
            <a:r>
              <a:rPr lang="en-US" b="1" spc="-30" dirty="0">
                <a:solidFill>
                  <a:srgbClr val="1F2C8F"/>
                </a:solidFill>
                <a:latin typeface="Times New Roman" panose="02020603050405020304" pitchFamily="18" charset="0"/>
                <a:ea typeface="Times New Roman" panose="02020603050405020304" pitchFamily="18" charset="0"/>
              </a:rPr>
              <a:t> </a:t>
            </a:r>
            <a:endParaRPr lang="en-IN" sz="2000" b="1" dirty="0">
              <a:solidFill>
                <a:srgbClr val="1F2C8F"/>
              </a:solidFill>
              <a:latin typeface="Times New Roman" panose="02020603050405020304" pitchFamily="18" charset="0"/>
              <a:ea typeface="Times New Roman" panose="02020603050405020304" pitchFamily="18" charset="0"/>
            </a:endParaRPr>
          </a:p>
          <a:p>
            <a:pPr marL="554990" marR="2256155" algn="just">
              <a:lnSpc>
                <a:spcPct val="150000"/>
              </a:lnSpc>
              <a:spcAft>
                <a:spcPts val="0"/>
              </a:spcAft>
            </a:pPr>
            <a:r>
              <a:rPr lang="en-US" b="1" dirty="0">
                <a:solidFill>
                  <a:srgbClr val="1F2C8F"/>
                </a:solidFill>
                <a:latin typeface="Times New Roman" panose="02020603050405020304" pitchFamily="18" charset="0"/>
                <a:ea typeface="Times New Roman" panose="02020603050405020304" pitchFamily="18" charset="0"/>
              </a:rPr>
              <a:t>Manual</a:t>
            </a:r>
            <a:r>
              <a:rPr lang="en-US" b="1" spc="-60" dirty="0">
                <a:solidFill>
                  <a:srgbClr val="1F2C8F"/>
                </a:solidFill>
                <a:latin typeface="Times New Roman" panose="02020603050405020304" pitchFamily="18" charset="0"/>
                <a:ea typeface="Times New Roman" panose="02020603050405020304" pitchFamily="18" charset="0"/>
              </a:rPr>
              <a:t> </a:t>
            </a:r>
            <a:r>
              <a:rPr lang="en-US" b="1" dirty="0">
                <a:solidFill>
                  <a:srgbClr val="1F2C8F"/>
                </a:solidFill>
                <a:latin typeface="Times New Roman" panose="02020603050405020304" pitchFamily="18" charset="0"/>
                <a:ea typeface="Times New Roman" panose="02020603050405020304" pitchFamily="18" charset="0"/>
              </a:rPr>
              <a:t>traffic</a:t>
            </a:r>
            <a:r>
              <a:rPr lang="en-US" b="1" spc="-75" dirty="0">
                <a:solidFill>
                  <a:srgbClr val="1F2C8F"/>
                </a:solidFill>
                <a:latin typeface="Times New Roman" panose="02020603050405020304" pitchFamily="18" charset="0"/>
                <a:ea typeface="Times New Roman" panose="02020603050405020304" pitchFamily="18" charset="0"/>
              </a:rPr>
              <a:t> </a:t>
            </a:r>
            <a:r>
              <a:rPr lang="en-US" b="1" dirty="0">
                <a:solidFill>
                  <a:srgbClr val="1F2C8F"/>
                </a:solidFill>
                <a:latin typeface="Times New Roman" panose="02020603050405020304" pitchFamily="18" charset="0"/>
                <a:ea typeface="Times New Roman" panose="02020603050405020304" pitchFamily="18" charset="0"/>
              </a:rPr>
              <a:t>observation</a:t>
            </a:r>
            <a:r>
              <a:rPr lang="en-US" b="1" spc="-55" dirty="0">
                <a:solidFill>
                  <a:srgbClr val="1F2C8F"/>
                </a:solidFill>
                <a:latin typeface="Times New Roman" panose="02020603050405020304" pitchFamily="18" charset="0"/>
                <a:ea typeface="Times New Roman" panose="02020603050405020304" pitchFamily="18" charset="0"/>
              </a:rPr>
              <a:t> </a:t>
            </a:r>
            <a:endParaRPr lang="en-IN" sz="2000" b="1" dirty="0">
              <a:solidFill>
                <a:srgbClr val="1F2C8F"/>
              </a:solidFill>
              <a:latin typeface="Times New Roman" panose="02020603050405020304" pitchFamily="18" charset="0"/>
              <a:ea typeface="Times New Roman" panose="02020603050405020304" pitchFamily="18" charset="0"/>
            </a:endParaRPr>
          </a:p>
          <a:p>
            <a:pPr marL="554990" marR="2256155" algn="just">
              <a:lnSpc>
                <a:spcPct val="150000"/>
              </a:lnSpc>
              <a:spcAft>
                <a:spcPts val="0"/>
              </a:spcAft>
            </a:pPr>
            <a:r>
              <a:rPr lang="en-US" b="1" dirty="0">
                <a:solidFill>
                  <a:srgbClr val="1F2C8F"/>
                </a:solidFill>
                <a:latin typeface="Times New Roman" panose="02020603050405020304" pitchFamily="18" charset="0"/>
                <a:ea typeface="Times New Roman" panose="02020603050405020304" pitchFamily="18" charset="0"/>
              </a:rPr>
              <a:t>Excel and statistical tools </a:t>
            </a:r>
            <a:endParaRPr lang="en-IN" sz="2000" b="1" dirty="0">
              <a:solidFill>
                <a:srgbClr val="1F2C8F"/>
              </a:solidFill>
              <a:latin typeface="Times New Roman" panose="02020603050405020304" pitchFamily="18" charset="0"/>
              <a:ea typeface="Times New Roman" panose="02020603050405020304" pitchFamily="18" charset="0"/>
            </a:endParaRPr>
          </a:p>
          <a:p>
            <a:br>
              <a:rPr lang="en-US" dirty="0">
                <a:latin typeface="Times New Roman" panose="02020603050405020304" pitchFamily="18" charset="0"/>
                <a:ea typeface="Times New Roman" panose="02020603050405020304" pitchFamily="18" charset="0"/>
              </a:rPr>
            </a:br>
            <a:endParaRPr lang="en-IN" dirty="0"/>
          </a:p>
        </p:txBody>
      </p:sp>
    </p:spTree>
    <p:extLst>
      <p:ext uri="{BB962C8B-B14F-4D97-AF65-F5344CB8AC3E}">
        <p14:creationId xmlns:p14="http://schemas.microsoft.com/office/powerpoint/2010/main" val="32491962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10199-C129-11F0-56F2-2D1AED21CB4C}"/>
              </a:ext>
            </a:extLst>
          </p:cNvPr>
          <p:cNvSpPr>
            <a:spLocks noGrp="1"/>
          </p:cNvSpPr>
          <p:nvPr>
            <p:ph type="title"/>
          </p:nvPr>
        </p:nvSpPr>
        <p:spPr>
          <a:xfrm>
            <a:off x="4364809" y="1057274"/>
            <a:ext cx="7563955" cy="2520217"/>
          </a:xfrm>
        </p:spPr>
        <p:txBody>
          <a:bodyPr/>
          <a:lstStyle/>
          <a:p>
            <a:r>
              <a:rPr lang="en-IN" dirty="0"/>
              <a:t>Traffic Data &amp; Analysis</a:t>
            </a:r>
            <a:endParaRPr lang="en-US" dirty="0"/>
          </a:p>
        </p:txBody>
      </p:sp>
      <p:sp>
        <p:nvSpPr>
          <p:cNvPr id="3" name="Slide Number Placeholder 2">
            <a:extLst>
              <a:ext uri="{FF2B5EF4-FFF2-40B4-BE49-F238E27FC236}">
                <a16:creationId xmlns:a16="http://schemas.microsoft.com/office/drawing/2014/main" id="{370AEC4F-E711-8552-9C34-82C1514A1E37}"/>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5</a:t>
            </a:fld>
            <a:endParaRPr lang="en-US" dirty="0"/>
          </a:p>
        </p:txBody>
      </p:sp>
    </p:spTree>
    <p:extLst>
      <p:ext uri="{BB962C8B-B14F-4D97-AF65-F5344CB8AC3E}">
        <p14:creationId xmlns:p14="http://schemas.microsoft.com/office/powerpoint/2010/main" val="11317180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C8B96532-0ADC-F9CF-05D0-BDA15C85FF6C}"/>
              </a:ext>
            </a:extLst>
          </p:cNvPr>
          <p:cNvGrpSpPr/>
          <p:nvPr/>
        </p:nvGrpSpPr>
        <p:grpSpPr>
          <a:xfrm>
            <a:off x="933593" y="3875594"/>
            <a:ext cx="5594664" cy="2580660"/>
            <a:chOff x="0" y="0"/>
            <a:chExt cx="5297476" cy="2341795"/>
          </a:xfrm>
        </p:grpSpPr>
        <p:cxnSp>
          <p:nvCxnSpPr>
            <p:cNvPr id="13" name="Straight Connector 12">
              <a:extLst>
                <a:ext uri="{FF2B5EF4-FFF2-40B4-BE49-F238E27FC236}">
                  <a16:creationId xmlns:a16="http://schemas.microsoft.com/office/drawing/2014/main" id="{6E28BB30-8917-C7C6-17D5-85E0ACAC2D4C}"/>
                </a:ext>
              </a:extLst>
            </p:cNvPr>
            <p:cNvCxnSpPr/>
            <p:nvPr/>
          </p:nvCxnSpPr>
          <p:spPr>
            <a:xfrm flipV="1">
              <a:off x="1546283" y="1553518"/>
              <a:ext cx="2699633" cy="335196"/>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4" name="Straight Connector 13">
              <a:extLst>
                <a:ext uri="{FF2B5EF4-FFF2-40B4-BE49-F238E27FC236}">
                  <a16:creationId xmlns:a16="http://schemas.microsoft.com/office/drawing/2014/main" id="{FE1A18B7-1707-A5C0-5090-95BB077B93DE}"/>
                </a:ext>
              </a:extLst>
            </p:cNvPr>
            <p:cNvCxnSpPr/>
            <p:nvPr/>
          </p:nvCxnSpPr>
          <p:spPr>
            <a:xfrm>
              <a:off x="1565020" y="156817"/>
              <a:ext cx="2658036" cy="329901"/>
            </a:xfrm>
            <a:prstGeom prst="line">
              <a:avLst/>
            </a:prstGeom>
            <a:ln w="9525"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aphicFrame>
          <p:nvGraphicFramePr>
            <p:cNvPr id="15" name="Chart 14">
              <a:extLst>
                <a:ext uri="{FF2B5EF4-FFF2-40B4-BE49-F238E27FC236}">
                  <a16:creationId xmlns:a16="http://schemas.microsoft.com/office/drawing/2014/main" id="{77431258-7105-26C0-B045-467FBDF03006}"/>
                </a:ext>
              </a:extLst>
            </p:cNvPr>
            <p:cNvGraphicFramePr/>
            <p:nvPr/>
          </p:nvGraphicFramePr>
          <p:xfrm>
            <a:off x="0" y="0"/>
            <a:ext cx="3094246" cy="234179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6" name="Chart 15">
              <a:extLst>
                <a:ext uri="{FF2B5EF4-FFF2-40B4-BE49-F238E27FC236}">
                  <a16:creationId xmlns:a16="http://schemas.microsoft.com/office/drawing/2014/main" id="{822FCE8B-F386-0407-5E96-24CEB350192D}"/>
                </a:ext>
              </a:extLst>
            </p:cNvPr>
            <p:cNvGraphicFramePr/>
            <p:nvPr>
              <p:extLst>
                <p:ext uri="{D42A27DB-BD31-4B8C-83A1-F6EECF244321}">
                  <p14:modId xmlns:p14="http://schemas.microsoft.com/office/powerpoint/2010/main" val="2673909832"/>
                </p:ext>
              </p:extLst>
            </p:nvPr>
          </p:nvGraphicFramePr>
          <p:xfrm>
            <a:off x="3156256" y="349558"/>
            <a:ext cx="2141220" cy="1619250"/>
          </p:xfrm>
          <a:graphic>
            <a:graphicData uri="http://schemas.openxmlformats.org/drawingml/2006/chart">
              <c:chart xmlns:c="http://schemas.openxmlformats.org/drawingml/2006/chart" xmlns:r="http://schemas.openxmlformats.org/officeDocument/2006/relationships" r:id="rId4"/>
            </a:graphicData>
          </a:graphic>
        </p:graphicFrame>
      </p:grpSp>
      <p:sp>
        <p:nvSpPr>
          <p:cNvPr id="29" name="Title 28">
            <a:extLst>
              <a:ext uri="{FF2B5EF4-FFF2-40B4-BE49-F238E27FC236}">
                <a16:creationId xmlns:a16="http://schemas.microsoft.com/office/drawing/2014/main" id="{438EF11F-21DE-6990-76B1-C568147EDF72}"/>
              </a:ext>
            </a:extLst>
          </p:cNvPr>
          <p:cNvSpPr>
            <a:spLocks noGrp="1"/>
          </p:cNvSpPr>
          <p:nvPr>
            <p:ph type="title"/>
          </p:nvPr>
        </p:nvSpPr>
        <p:spPr>
          <a:xfrm>
            <a:off x="1497250" y="-171619"/>
            <a:ext cx="9879437" cy="980844"/>
          </a:xfrm>
        </p:spPr>
        <p:txBody>
          <a:bodyPr/>
          <a:lstStyle/>
          <a:p>
            <a:pPr algn="ctr"/>
            <a:r>
              <a:rPr lang="en-IN" dirty="0"/>
              <a:t>Traffic VOLUME</a:t>
            </a:r>
          </a:p>
        </p:txBody>
      </p:sp>
      <p:sp>
        <p:nvSpPr>
          <p:cNvPr id="47" name="Title 1">
            <a:extLst>
              <a:ext uri="{FF2B5EF4-FFF2-40B4-BE49-F238E27FC236}">
                <a16:creationId xmlns:a16="http://schemas.microsoft.com/office/drawing/2014/main" id="{1F43814A-794A-F9F5-E147-11FE050FF181}"/>
              </a:ext>
            </a:extLst>
          </p:cNvPr>
          <p:cNvSpPr txBox="1">
            <a:spLocks/>
          </p:cNvSpPr>
          <p:nvPr/>
        </p:nvSpPr>
        <p:spPr>
          <a:xfrm>
            <a:off x="1268703" y="3972969"/>
            <a:ext cx="5259554" cy="2495028"/>
          </a:xfrm>
          <a:prstGeom prst="rect">
            <a:avLst/>
          </a:prstGeom>
        </p:spPr>
        <p:txBody>
          <a:bodyPr vert="horz" lIns="91440" tIns="0" rIns="91440" bIns="0" rtlCol="0" anchor="b" anchorCtr="0">
            <a:noAutofit/>
          </a:bodyPr>
          <a:lstStyle>
            <a:lvl1pPr algn="l" defTabSz="914400" rtl="0" eaLnBrk="1" latinLnBrk="0" hangingPunct="1">
              <a:lnSpc>
                <a:spcPct val="100000"/>
              </a:lnSpc>
              <a:spcBef>
                <a:spcPct val="0"/>
              </a:spcBef>
              <a:buNone/>
              <a:defRPr sz="3600" b="1" kern="1200" cap="all" baseline="0">
                <a:solidFill>
                  <a:schemeClr val="accent6"/>
                </a:solidFill>
                <a:latin typeface="+mj-lt"/>
                <a:ea typeface="+mj-ea"/>
                <a:cs typeface="+mj-cs"/>
              </a:defRPr>
            </a:lvl1pPr>
          </a:lstStyle>
          <a:p>
            <a:endParaRPr lang="en-US" dirty="0"/>
          </a:p>
        </p:txBody>
      </p:sp>
      <p:graphicFrame>
        <p:nvGraphicFramePr>
          <p:cNvPr id="48" name="Table 47">
            <a:extLst>
              <a:ext uri="{FF2B5EF4-FFF2-40B4-BE49-F238E27FC236}">
                <a16:creationId xmlns:a16="http://schemas.microsoft.com/office/drawing/2014/main" id="{99AF7E71-B79F-9027-88AB-3A583E34695D}"/>
              </a:ext>
            </a:extLst>
          </p:cNvPr>
          <p:cNvGraphicFramePr>
            <a:graphicFrameLocks noGrp="1"/>
          </p:cNvGraphicFramePr>
          <p:nvPr>
            <p:extLst>
              <p:ext uri="{D42A27DB-BD31-4B8C-83A1-F6EECF244321}">
                <p14:modId xmlns:p14="http://schemas.microsoft.com/office/powerpoint/2010/main" val="894241885"/>
              </p:ext>
            </p:extLst>
          </p:nvPr>
        </p:nvGraphicFramePr>
        <p:xfrm>
          <a:off x="1050879" y="1642551"/>
          <a:ext cx="5581556" cy="1810267"/>
        </p:xfrm>
        <a:graphic>
          <a:graphicData uri="http://schemas.openxmlformats.org/drawingml/2006/table">
            <a:tbl>
              <a:tblPr firstRow="1" lastRow="1">
                <a:tableStyleId>{68D230F3-CF80-4859-8CE7-A43EE81993B5}</a:tableStyleId>
              </a:tblPr>
              <a:tblGrid>
                <a:gridCol w="1024266">
                  <a:extLst>
                    <a:ext uri="{9D8B030D-6E8A-4147-A177-3AD203B41FA5}">
                      <a16:colId xmlns:a16="http://schemas.microsoft.com/office/drawing/2014/main" val="3173013325"/>
                    </a:ext>
                  </a:extLst>
                </a:gridCol>
                <a:gridCol w="1122284">
                  <a:extLst>
                    <a:ext uri="{9D8B030D-6E8A-4147-A177-3AD203B41FA5}">
                      <a16:colId xmlns:a16="http://schemas.microsoft.com/office/drawing/2014/main" val="433608590"/>
                    </a:ext>
                  </a:extLst>
                </a:gridCol>
                <a:gridCol w="1122284">
                  <a:extLst>
                    <a:ext uri="{9D8B030D-6E8A-4147-A177-3AD203B41FA5}">
                      <a16:colId xmlns:a16="http://schemas.microsoft.com/office/drawing/2014/main" val="4142006812"/>
                    </a:ext>
                  </a:extLst>
                </a:gridCol>
                <a:gridCol w="1122284">
                  <a:extLst>
                    <a:ext uri="{9D8B030D-6E8A-4147-A177-3AD203B41FA5}">
                      <a16:colId xmlns:a16="http://schemas.microsoft.com/office/drawing/2014/main" val="4069491101"/>
                    </a:ext>
                  </a:extLst>
                </a:gridCol>
                <a:gridCol w="1190438">
                  <a:extLst>
                    <a:ext uri="{9D8B030D-6E8A-4147-A177-3AD203B41FA5}">
                      <a16:colId xmlns:a16="http://schemas.microsoft.com/office/drawing/2014/main" val="280760591"/>
                    </a:ext>
                  </a:extLst>
                </a:gridCol>
              </a:tblGrid>
              <a:tr h="402883">
                <a:tc>
                  <a:txBody>
                    <a:bodyPr/>
                    <a:lstStyle/>
                    <a:p>
                      <a:pPr algn="l">
                        <a:buNone/>
                      </a:pPr>
                      <a:r>
                        <a:rPr lang="en-US" sz="1400" dirty="0">
                          <a:solidFill>
                            <a:srgbClr val="1F2C8F"/>
                          </a:solidFill>
                          <a:effectLst/>
                        </a:rPr>
                        <a:t>Location</a:t>
                      </a:r>
                      <a:endParaRPr lang="en-IN" sz="14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l">
                        <a:buNone/>
                      </a:pPr>
                      <a:r>
                        <a:rPr lang="en-US" sz="1400" dirty="0">
                          <a:solidFill>
                            <a:srgbClr val="1F2C8F"/>
                          </a:solidFill>
                          <a:effectLst/>
                        </a:rPr>
                        <a:t>Morning</a:t>
                      </a:r>
                      <a:endParaRPr lang="en-IN" sz="14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l">
                        <a:buNone/>
                      </a:pPr>
                      <a:r>
                        <a:rPr lang="en-US" sz="1400" dirty="0">
                          <a:solidFill>
                            <a:srgbClr val="1F2C8F"/>
                          </a:solidFill>
                          <a:effectLst/>
                        </a:rPr>
                        <a:t>Afternoon</a:t>
                      </a:r>
                      <a:endParaRPr lang="en-IN" sz="14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l">
                        <a:buNone/>
                      </a:pPr>
                      <a:r>
                        <a:rPr lang="en-US" sz="1400" dirty="0">
                          <a:solidFill>
                            <a:srgbClr val="1F2C8F"/>
                          </a:solidFill>
                          <a:effectLst/>
                        </a:rPr>
                        <a:t>Evening</a:t>
                      </a:r>
                      <a:endParaRPr lang="en-IN" sz="14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l">
                        <a:buNone/>
                      </a:pPr>
                      <a:r>
                        <a:rPr lang="en-US" sz="1400" dirty="0">
                          <a:solidFill>
                            <a:srgbClr val="1F2C8F"/>
                          </a:solidFill>
                          <a:effectLst/>
                        </a:rPr>
                        <a:t>Total</a:t>
                      </a:r>
                      <a:endParaRPr lang="en-IN" sz="14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35448873"/>
                  </a:ext>
                </a:extLst>
              </a:tr>
              <a:tr h="351846">
                <a:tc>
                  <a:txBody>
                    <a:bodyPr/>
                    <a:lstStyle/>
                    <a:p>
                      <a:pPr algn="l">
                        <a:buNone/>
                      </a:pPr>
                      <a:r>
                        <a:rPr lang="en-US" sz="1400" dirty="0">
                          <a:solidFill>
                            <a:srgbClr val="1F2C8F"/>
                          </a:solidFill>
                          <a:effectLst/>
                        </a:rPr>
                        <a:t>Thaltej</a:t>
                      </a:r>
                      <a:endParaRPr lang="en-IN" sz="14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1000"/>
                        </a:spcAft>
                        <a:buNone/>
                        <a:tabLst>
                          <a:tab pos="228600" algn="dec"/>
                        </a:tabLst>
                      </a:pPr>
                      <a:r>
                        <a:rPr lang="en-US" sz="1400" dirty="0">
                          <a:solidFill>
                            <a:srgbClr val="1F2C8F"/>
                          </a:solidFill>
                          <a:effectLst/>
                        </a:rPr>
                        <a:t>8939</a:t>
                      </a:r>
                      <a:endParaRPr lang="en-IN" sz="1400" dirty="0">
                        <a:solidFill>
                          <a:srgbClr val="1F2C8F"/>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1000"/>
                        </a:spcAft>
                        <a:buNone/>
                        <a:tabLst>
                          <a:tab pos="228600" algn="dec"/>
                        </a:tabLst>
                      </a:pPr>
                      <a:r>
                        <a:rPr lang="en-US" sz="1400" dirty="0">
                          <a:solidFill>
                            <a:srgbClr val="1F2C8F"/>
                          </a:solidFill>
                          <a:effectLst/>
                        </a:rPr>
                        <a:t>7784</a:t>
                      </a:r>
                      <a:endParaRPr lang="en-IN" sz="1400" dirty="0">
                        <a:solidFill>
                          <a:srgbClr val="1F2C8F"/>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1000"/>
                        </a:spcAft>
                        <a:buNone/>
                        <a:tabLst>
                          <a:tab pos="228600" algn="dec"/>
                        </a:tabLst>
                      </a:pPr>
                      <a:r>
                        <a:rPr lang="en-US" sz="1400" dirty="0">
                          <a:solidFill>
                            <a:srgbClr val="1F2C8F"/>
                          </a:solidFill>
                          <a:effectLst/>
                        </a:rPr>
                        <a:t>12521</a:t>
                      </a:r>
                      <a:endParaRPr lang="en-IN" sz="1400" dirty="0">
                        <a:solidFill>
                          <a:srgbClr val="1F2C8F"/>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1000"/>
                        </a:spcAft>
                        <a:buNone/>
                        <a:tabLst>
                          <a:tab pos="228600" algn="dec"/>
                        </a:tabLst>
                      </a:pPr>
                      <a:r>
                        <a:rPr lang="en-US" sz="1400" dirty="0">
                          <a:solidFill>
                            <a:srgbClr val="1F2C8F"/>
                          </a:solidFill>
                          <a:effectLst/>
                        </a:rPr>
                        <a:t>29244</a:t>
                      </a:r>
                      <a:endParaRPr lang="en-IN" sz="1400" dirty="0">
                        <a:solidFill>
                          <a:srgbClr val="1F2C8F"/>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606149755"/>
                  </a:ext>
                </a:extLst>
              </a:tr>
              <a:tr h="351846">
                <a:tc>
                  <a:txBody>
                    <a:bodyPr/>
                    <a:lstStyle/>
                    <a:p>
                      <a:pPr algn="l">
                        <a:buNone/>
                      </a:pPr>
                      <a:r>
                        <a:rPr lang="en-US" sz="1400" dirty="0">
                          <a:solidFill>
                            <a:srgbClr val="1F2C8F"/>
                          </a:solidFill>
                          <a:effectLst/>
                        </a:rPr>
                        <a:t>Gurudwara</a:t>
                      </a:r>
                      <a:endParaRPr lang="en-IN" sz="14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1000"/>
                        </a:spcAft>
                        <a:buNone/>
                        <a:tabLst>
                          <a:tab pos="228600" algn="dec"/>
                        </a:tabLst>
                      </a:pPr>
                      <a:r>
                        <a:rPr lang="en-US" sz="1400" dirty="0">
                          <a:solidFill>
                            <a:srgbClr val="1F2C8F"/>
                          </a:solidFill>
                          <a:effectLst/>
                        </a:rPr>
                        <a:t>5358</a:t>
                      </a:r>
                      <a:endParaRPr lang="en-IN" sz="1400" dirty="0">
                        <a:solidFill>
                          <a:srgbClr val="1F2C8F"/>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1000"/>
                        </a:spcAft>
                        <a:buNone/>
                        <a:tabLst>
                          <a:tab pos="228600" algn="dec"/>
                        </a:tabLst>
                      </a:pPr>
                      <a:r>
                        <a:rPr lang="en-US" sz="1400" dirty="0">
                          <a:solidFill>
                            <a:srgbClr val="1F2C8F"/>
                          </a:solidFill>
                          <a:effectLst/>
                        </a:rPr>
                        <a:t>4512</a:t>
                      </a:r>
                      <a:endParaRPr lang="en-IN" sz="1400" dirty="0">
                        <a:solidFill>
                          <a:srgbClr val="1F2C8F"/>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1000"/>
                        </a:spcAft>
                        <a:buNone/>
                        <a:tabLst>
                          <a:tab pos="228600" algn="dec"/>
                        </a:tabLst>
                      </a:pPr>
                      <a:r>
                        <a:rPr lang="en-US" sz="1400" dirty="0">
                          <a:solidFill>
                            <a:srgbClr val="1F2C8F"/>
                          </a:solidFill>
                          <a:effectLst/>
                        </a:rPr>
                        <a:t>7091</a:t>
                      </a:r>
                      <a:endParaRPr lang="en-IN" sz="1400" dirty="0">
                        <a:solidFill>
                          <a:srgbClr val="1F2C8F"/>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1000"/>
                        </a:spcAft>
                        <a:buNone/>
                        <a:tabLst>
                          <a:tab pos="228600" algn="dec"/>
                        </a:tabLst>
                      </a:pPr>
                      <a:r>
                        <a:rPr lang="en-US" sz="1400" dirty="0">
                          <a:solidFill>
                            <a:srgbClr val="1F2C8F"/>
                          </a:solidFill>
                          <a:effectLst/>
                        </a:rPr>
                        <a:t>16961</a:t>
                      </a:r>
                      <a:endParaRPr lang="en-IN" sz="1400" dirty="0">
                        <a:solidFill>
                          <a:srgbClr val="1F2C8F"/>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224369998"/>
                  </a:ext>
                </a:extLst>
              </a:tr>
              <a:tr h="351846">
                <a:tc>
                  <a:txBody>
                    <a:bodyPr/>
                    <a:lstStyle/>
                    <a:p>
                      <a:pPr algn="l">
                        <a:buNone/>
                      </a:pPr>
                      <a:r>
                        <a:rPr lang="en-US" sz="1400" dirty="0">
                          <a:solidFill>
                            <a:srgbClr val="1F2C8F"/>
                          </a:solidFill>
                          <a:effectLst/>
                        </a:rPr>
                        <a:t>Somnath</a:t>
                      </a:r>
                      <a:endParaRPr lang="en-IN" sz="14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1000"/>
                        </a:spcAft>
                        <a:buNone/>
                        <a:tabLst>
                          <a:tab pos="228600" algn="dec"/>
                        </a:tabLst>
                      </a:pPr>
                      <a:r>
                        <a:rPr lang="en-US" sz="1400">
                          <a:solidFill>
                            <a:srgbClr val="1F2C8F"/>
                          </a:solidFill>
                          <a:effectLst/>
                        </a:rPr>
                        <a:t>1865</a:t>
                      </a:r>
                      <a:endParaRPr lang="en-IN" sz="1400">
                        <a:solidFill>
                          <a:srgbClr val="1F2C8F"/>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1000"/>
                        </a:spcAft>
                        <a:buNone/>
                        <a:tabLst>
                          <a:tab pos="228600" algn="dec"/>
                        </a:tabLst>
                      </a:pPr>
                      <a:r>
                        <a:rPr lang="en-US" sz="1400" dirty="0">
                          <a:solidFill>
                            <a:srgbClr val="1F2C8F"/>
                          </a:solidFill>
                          <a:effectLst/>
                        </a:rPr>
                        <a:t>16125</a:t>
                      </a:r>
                      <a:endParaRPr lang="en-IN" sz="1400" dirty="0">
                        <a:solidFill>
                          <a:srgbClr val="1F2C8F"/>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1000"/>
                        </a:spcAft>
                        <a:buNone/>
                        <a:tabLst>
                          <a:tab pos="228600" algn="dec"/>
                        </a:tabLst>
                      </a:pPr>
                      <a:r>
                        <a:rPr lang="en-US" sz="1400" dirty="0">
                          <a:solidFill>
                            <a:srgbClr val="1F2C8F"/>
                          </a:solidFill>
                          <a:effectLst/>
                        </a:rPr>
                        <a:t>20340</a:t>
                      </a:r>
                      <a:endParaRPr lang="en-IN" sz="1400" dirty="0">
                        <a:solidFill>
                          <a:srgbClr val="1F2C8F"/>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1000"/>
                        </a:spcAft>
                        <a:buNone/>
                        <a:tabLst>
                          <a:tab pos="228600" algn="dec"/>
                        </a:tabLst>
                      </a:pPr>
                      <a:r>
                        <a:rPr lang="en-US" sz="1400" dirty="0">
                          <a:solidFill>
                            <a:srgbClr val="1F2C8F"/>
                          </a:solidFill>
                          <a:effectLst/>
                        </a:rPr>
                        <a:t>55124</a:t>
                      </a:r>
                      <a:endParaRPr lang="en-IN" sz="1400" dirty="0">
                        <a:solidFill>
                          <a:srgbClr val="1F2C8F"/>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570364156"/>
                  </a:ext>
                </a:extLst>
              </a:tr>
              <a:tr h="351846">
                <a:tc>
                  <a:txBody>
                    <a:bodyPr/>
                    <a:lstStyle/>
                    <a:p>
                      <a:pPr algn="l">
                        <a:buNone/>
                      </a:pPr>
                      <a:r>
                        <a:rPr lang="en-US" sz="1400" dirty="0">
                          <a:solidFill>
                            <a:srgbClr val="1F2C8F"/>
                          </a:solidFill>
                          <a:effectLst/>
                        </a:rPr>
                        <a:t>Total</a:t>
                      </a:r>
                      <a:endParaRPr lang="en-IN" sz="14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1000"/>
                        </a:spcAft>
                        <a:buNone/>
                        <a:tabLst>
                          <a:tab pos="228600" algn="dec"/>
                        </a:tabLst>
                      </a:pPr>
                      <a:r>
                        <a:rPr lang="en-US" sz="1400" dirty="0">
                          <a:solidFill>
                            <a:srgbClr val="1F2C8F"/>
                          </a:solidFill>
                          <a:effectLst/>
                        </a:rPr>
                        <a:t>32956</a:t>
                      </a:r>
                      <a:endParaRPr lang="en-IN" sz="1400" dirty="0">
                        <a:solidFill>
                          <a:srgbClr val="1F2C8F"/>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1000"/>
                        </a:spcAft>
                        <a:buNone/>
                        <a:tabLst>
                          <a:tab pos="228600" algn="dec"/>
                        </a:tabLst>
                      </a:pPr>
                      <a:r>
                        <a:rPr lang="en-US" sz="1400" dirty="0">
                          <a:solidFill>
                            <a:srgbClr val="1F2C8F"/>
                          </a:solidFill>
                          <a:effectLst/>
                        </a:rPr>
                        <a:t>28421</a:t>
                      </a:r>
                      <a:endParaRPr lang="en-IN" sz="1400" dirty="0">
                        <a:solidFill>
                          <a:srgbClr val="1F2C8F"/>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1000"/>
                        </a:spcAft>
                        <a:buNone/>
                        <a:tabLst>
                          <a:tab pos="228600" algn="dec"/>
                        </a:tabLst>
                      </a:pPr>
                      <a:r>
                        <a:rPr lang="en-US" sz="1400" dirty="0">
                          <a:solidFill>
                            <a:srgbClr val="1F2C8F"/>
                          </a:solidFill>
                          <a:effectLst/>
                        </a:rPr>
                        <a:t>39952</a:t>
                      </a:r>
                      <a:endParaRPr lang="en-IN" sz="1400" dirty="0">
                        <a:solidFill>
                          <a:srgbClr val="1F2C8F"/>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1000"/>
                        </a:spcAft>
                        <a:buNone/>
                        <a:tabLst>
                          <a:tab pos="228600" algn="dec"/>
                        </a:tabLst>
                      </a:pPr>
                      <a:r>
                        <a:rPr lang="en-US" sz="1400" dirty="0">
                          <a:solidFill>
                            <a:srgbClr val="1F2C8F"/>
                          </a:solidFill>
                          <a:effectLst/>
                        </a:rPr>
                        <a:t>101329</a:t>
                      </a:r>
                      <a:endParaRPr lang="en-IN" sz="1400" dirty="0">
                        <a:solidFill>
                          <a:srgbClr val="1F2C8F"/>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957353858"/>
                  </a:ext>
                </a:extLst>
              </a:tr>
            </a:tbl>
          </a:graphicData>
        </a:graphic>
      </p:graphicFrame>
      <p:sp>
        <p:nvSpPr>
          <p:cNvPr id="49" name="TextBox 48">
            <a:extLst>
              <a:ext uri="{FF2B5EF4-FFF2-40B4-BE49-F238E27FC236}">
                <a16:creationId xmlns:a16="http://schemas.microsoft.com/office/drawing/2014/main" id="{7F6BF3C9-9B5F-D75C-8DB3-CB7BC1A104EF}"/>
              </a:ext>
            </a:extLst>
          </p:cNvPr>
          <p:cNvSpPr txBox="1"/>
          <p:nvPr/>
        </p:nvSpPr>
        <p:spPr>
          <a:xfrm>
            <a:off x="1550563" y="1013575"/>
            <a:ext cx="2639291" cy="458074"/>
          </a:xfrm>
          <a:prstGeom prst="rect">
            <a:avLst/>
          </a:prstGeom>
          <a:noFill/>
        </p:spPr>
        <p:txBody>
          <a:bodyPr wrap="square" rtlCol="0">
            <a:spAutoFit/>
          </a:bodyPr>
          <a:lstStyle/>
          <a:p>
            <a:pPr algn="just">
              <a:lnSpc>
                <a:spcPct val="150000"/>
              </a:lnSpc>
            </a:pPr>
            <a:r>
              <a:rPr lang="en-US" sz="1800" b="1" dirty="0">
                <a:solidFill>
                  <a:srgbClr val="1F2C8F"/>
                </a:solidFill>
                <a:effectLst/>
                <a:latin typeface="Times New Roman" panose="02020603050405020304" pitchFamily="18" charset="0"/>
                <a:ea typeface="Times New Roman" panose="02020603050405020304" pitchFamily="18" charset="0"/>
              </a:rPr>
              <a:t>Peak Slot Volume Data:</a:t>
            </a:r>
            <a:endParaRPr lang="en-IN" sz="1800" dirty="0">
              <a:solidFill>
                <a:srgbClr val="1F2C8F"/>
              </a:solidFill>
              <a:effectLst/>
              <a:latin typeface="Times New Roman" panose="02020603050405020304" pitchFamily="18" charset="0"/>
              <a:ea typeface="Times New Roman" panose="02020603050405020304" pitchFamily="18" charset="0"/>
            </a:endParaRPr>
          </a:p>
        </p:txBody>
      </p:sp>
      <p:sp>
        <p:nvSpPr>
          <p:cNvPr id="52" name="Content Placeholder 4">
            <a:extLst>
              <a:ext uri="{FF2B5EF4-FFF2-40B4-BE49-F238E27FC236}">
                <a16:creationId xmlns:a16="http://schemas.microsoft.com/office/drawing/2014/main" id="{6634933A-5E12-622E-F311-0D076B0DA301}"/>
              </a:ext>
            </a:extLst>
          </p:cNvPr>
          <p:cNvSpPr txBox="1">
            <a:spLocks/>
          </p:cNvSpPr>
          <p:nvPr/>
        </p:nvSpPr>
        <p:spPr>
          <a:xfrm>
            <a:off x="7148945" y="1471649"/>
            <a:ext cx="4614190" cy="5060787"/>
          </a:xfrm>
          <a:prstGeom prst="rect">
            <a:avLst/>
          </a:prstGeom>
        </p:spPr>
        <p:txBody>
          <a:bodyPr>
            <a:normAutofit/>
          </a:bodyPr>
          <a:lst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rgbClr val="1F2C8F"/>
                </a:solidFill>
              </a:rPr>
              <a:t>KEY INSIGHTS</a:t>
            </a:r>
          </a:p>
          <a:p>
            <a:pPr algn="just">
              <a:lnSpc>
                <a:spcPct val="150000"/>
              </a:lnSpc>
              <a:buFont typeface="Wingdings 3" panose="05040102010807070707" pitchFamily="18" charset="2"/>
              <a:buChar char="Ê"/>
            </a:pPr>
            <a:r>
              <a:rPr lang="en-US" sz="1800" dirty="0">
                <a:solidFill>
                  <a:srgbClr val="1F2C8F"/>
                </a:solidFill>
                <a:effectLst/>
                <a:latin typeface="Segoe UI Emoji" panose="020B0502040204020203" pitchFamily="34" charset="0"/>
                <a:ea typeface="Times New Roman" panose="02020603050405020304" pitchFamily="18" charset="0"/>
                <a:cs typeface="Segoe UI Emoji" panose="020B0502040204020203" pitchFamily="34" charset="0"/>
                <a:sym typeface="Wingdings 3" panose="05040102010807070707" pitchFamily="18" charset="2"/>
              </a:rPr>
              <a:t>Evening Peak Hours (6-8 PM) records highest traffic of 39.5%</a:t>
            </a:r>
          </a:p>
          <a:p>
            <a:pPr algn="just">
              <a:lnSpc>
                <a:spcPct val="150000"/>
              </a:lnSpc>
              <a:buFont typeface="Wingdings 3" panose="05040102010807070707" pitchFamily="18" charset="2"/>
              <a:buChar char="Ê"/>
            </a:pPr>
            <a:r>
              <a:rPr lang="en-US" sz="1800" dirty="0">
                <a:solidFill>
                  <a:srgbClr val="1F2C8F"/>
                </a:solidFill>
                <a:latin typeface="Segoe UI Emoji" panose="020B0502040204020203" pitchFamily="34" charset="0"/>
                <a:sym typeface="Wingdings 3" panose="05040102010807070707" pitchFamily="18" charset="2"/>
              </a:rPr>
              <a:t>Somnath Chowk is most congested place among the locations with vehicle count of 55,124</a:t>
            </a:r>
          </a:p>
          <a:p>
            <a:pPr algn="just">
              <a:lnSpc>
                <a:spcPct val="150000"/>
              </a:lnSpc>
              <a:buFont typeface="Wingdings 3" panose="05040102010807070707" pitchFamily="18" charset="2"/>
              <a:buChar char="Ê"/>
            </a:pPr>
            <a:r>
              <a:rPr lang="en-US" sz="1800" dirty="0">
                <a:solidFill>
                  <a:srgbClr val="1F2C8F"/>
                </a:solidFill>
                <a:latin typeface="Segoe UI Emoji" panose="020B0502040204020203" pitchFamily="34" charset="0"/>
                <a:sym typeface="Wingdings 3" panose="05040102010807070707" pitchFamily="18" charset="2"/>
              </a:rPr>
              <a:t>Afternoon Traffic suggest reduce movement during time with 28.05%</a:t>
            </a:r>
          </a:p>
          <a:p>
            <a:pPr algn="just">
              <a:lnSpc>
                <a:spcPct val="150000"/>
              </a:lnSpc>
              <a:buFont typeface="Wingdings 3" panose="05040102010807070707" pitchFamily="18" charset="2"/>
              <a:buChar char="Ê"/>
            </a:pPr>
            <a:r>
              <a:rPr lang="en-US" sz="1600" dirty="0">
                <a:solidFill>
                  <a:srgbClr val="1F2C8F"/>
                </a:solidFill>
                <a:latin typeface="Segoe UI Emoji" panose="020B0502040204020203" pitchFamily="34" charset="0"/>
                <a:sym typeface="Wingdings 3" panose="05040102010807070707" pitchFamily="18" charset="2"/>
              </a:rPr>
              <a:t>Morning peak is moderate (32,956 vehicle, 32.52%, primarily driven by office and school commuters</a:t>
            </a:r>
            <a:endParaRPr lang="en-US" sz="1600" dirty="0">
              <a:solidFill>
                <a:srgbClr val="1F2C8F"/>
              </a:solidFill>
            </a:endParaRPr>
          </a:p>
          <a:p>
            <a:pPr algn="just">
              <a:lnSpc>
                <a:spcPct val="150000"/>
              </a:lnSpc>
              <a:buFont typeface="Wingdings 3" panose="05040102010807070707" pitchFamily="18" charset="2"/>
              <a:buChar char="Ê"/>
            </a:pPr>
            <a:endParaRPr lang="en-US" sz="1600" dirty="0">
              <a:solidFill>
                <a:schemeClr val="tx1"/>
              </a:solidFill>
            </a:endParaRPr>
          </a:p>
        </p:txBody>
      </p:sp>
    </p:spTree>
    <p:extLst>
      <p:ext uri="{BB962C8B-B14F-4D97-AF65-F5344CB8AC3E}">
        <p14:creationId xmlns:p14="http://schemas.microsoft.com/office/powerpoint/2010/main" val="29064919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F63A3B-78C7-47BE-AE5E-E10140E04643}" type="slidenum">
              <a:rPr lang="en-US" smtClean="0"/>
              <a:pPr/>
              <a:t>7</a:t>
            </a:fld>
            <a:endParaRPr lang="en-US" dirty="0"/>
          </a:p>
        </p:txBody>
      </p:sp>
      <p:sp>
        <p:nvSpPr>
          <p:cNvPr id="4" name="Rectangle 3"/>
          <p:cNvSpPr/>
          <p:nvPr/>
        </p:nvSpPr>
        <p:spPr>
          <a:xfrm>
            <a:off x="2224585" y="72732"/>
            <a:ext cx="7997588" cy="6289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rgbClr val="1F2C8F"/>
                </a:solidFill>
              </a:rPr>
              <a:t>Weekdays vs. Weekend Traffic Patterns</a:t>
            </a:r>
            <a:endParaRPr lang="en-IN" sz="3200" dirty="0">
              <a:solidFill>
                <a:srgbClr val="1F2C8F"/>
              </a:solidFill>
            </a:endParaRPr>
          </a:p>
        </p:txBody>
      </p:sp>
      <p:sp>
        <p:nvSpPr>
          <p:cNvPr id="5" name="Rectangle 4"/>
          <p:cNvSpPr/>
          <p:nvPr/>
        </p:nvSpPr>
        <p:spPr>
          <a:xfrm>
            <a:off x="955343" y="701703"/>
            <a:ext cx="10686197" cy="78590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n-US" sz="1600" dirty="0">
                <a:solidFill>
                  <a:srgbClr val="1F2C8F"/>
                </a:solidFill>
              </a:rPr>
              <a:t>Null hypothesis</a:t>
            </a:r>
            <a:r>
              <a:rPr lang="en-US" sz="1600" b="1" dirty="0">
                <a:solidFill>
                  <a:srgbClr val="1F2C8F"/>
                </a:solidFill>
              </a:rPr>
              <a:t>:</a:t>
            </a:r>
            <a:r>
              <a:rPr lang="en-US" sz="1600" dirty="0">
                <a:solidFill>
                  <a:srgbClr val="1F2C8F"/>
                </a:solidFill>
              </a:rPr>
              <a:t> There is no significant difference in average traffic volume between weekdays and weekend.</a:t>
            </a:r>
            <a:endParaRPr lang="en-IN" sz="1600" dirty="0">
              <a:solidFill>
                <a:srgbClr val="1F2C8F"/>
              </a:solidFill>
            </a:endParaRPr>
          </a:p>
          <a:p>
            <a:pPr>
              <a:lnSpc>
                <a:spcPct val="150000"/>
              </a:lnSpc>
            </a:pPr>
            <a:r>
              <a:rPr lang="en-US" sz="1600" dirty="0">
                <a:solidFill>
                  <a:srgbClr val="1F2C8F"/>
                </a:solidFill>
              </a:rPr>
              <a:t>Alternative hypothesis</a:t>
            </a:r>
            <a:r>
              <a:rPr lang="en-US" sz="1600" b="1" dirty="0">
                <a:solidFill>
                  <a:srgbClr val="1F2C8F"/>
                </a:solidFill>
              </a:rPr>
              <a:t>:</a:t>
            </a:r>
            <a:r>
              <a:rPr lang="en-US" sz="1600" dirty="0">
                <a:solidFill>
                  <a:srgbClr val="1F2C8F"/>
                </a:solidFill>
              </a:rPr>
              <a:t> There is a significant difference in average traffic volume between weekdays and weekend.</a:t>
            </a:r>
            <a:endParaRPr lang="en-IN" sz="1600" dirty="0">
              <a:solidFill>
                <a:srgbClr val="1F2C8F"/>
              </a:solidFill>
            </a:endParaRPr>
          </a:p>
        </p:txBody>
      </p:sp>
      <p:graphicFrame>
        <p:nvGraphicFramePr>
          <p:cNvPr id="8" name="Table 7"/>
          <p:cNvGraphicFramePr>
            <a:graphicFrameLocks noGrp="1"/>
          </p:cNvGraphicFramePr>
          <p:nvPr>
            <p:extLst>
              <p:ext uri="{D42A27DB-BD31-4B8C-83A1-F6EECF244321}">
                <p14:modId xmlns:p14="http://schemas.microsoft.com/office/powerpoint/2010/main" val="3581693735"/>
              </p:ext>
            </p:extLst>
          </p:nvPr>
        </p:nvGraphicFramePr>
        <p:xfrm>
          <a:off x="1145150" y="1628576"/>
          <a:ext cx="2992755" cy="1546860"/>
        </p:xfrm>
        <a:graphic>
          <a:graphicData uri="http://schemas.openxmlformats.org/drawingml/2006/table">
            <a:tbl>
              <a:tblPr firstRow="1" firstCol="1" bandRow="1">
                <a:tableStyleId>{5940675A-B579-460E-94D1-54222C63F5DA}</a:tableStyleId>
              </a:tblPr>
              <a:tblGrid>
                <a:gridCol w="997585">
                  <a:extLst>
                    <a:ext uri="{9D8B030D-6E8A-4147-A177-3AD203B41FA5}">
                      <a16:colId xmlns:a16="http://schemas.microsoft.com/office/drawing/2014/main" val="20000"/>
                    </a:ext>
                  </a:extLst>
                </a:gridCol>
                <a:gridCol w="997585">
                  <a:extLst>
                    <a:ext uri="{9D8B030D-6E8A-4147-A177-3AD203B41FA5}">
                      <a16:colId xmlns:a16="http://schemas.microsoft.com/office/drawing/2014/main" val="20001"/>
                    </a:ext>
                  </a:extLst>
                </a:gridCol>
                <a:gridCol w="997585">
                  <a:extLst>
                    <a:ext uri="{9D8B030D-6E8A-4147-A177-3AD203B41FA5}">
                      <a16:colId xmlns:a16="http://schemas.microsoft.com/office/drawing/2014/main" val="20002"/>
                    </a:ext>
                  </a:extLst>
                </a:gridCol>
              </a:tblGrid>
              <a:tr h="206515">
                <a:tc>
                  <a:txBody>
                    <a:bodyPr/>
                    <a:lstStyle/>
                    <a:p>
                      <a:pPr>
                        <a:spcAft>
                          <a:spcPts val="0"/>
                        </a:spcAft>
                      </a:pPr>
                      <a:r>
                        <a:rPr lang="en-IN" sz="1200" kern="1800" dirty="0">
                          <a:solidFill>
                            <a:srgbClr val="1F2C8F"/>
                          </a:solidFill>
                          <a:effectLst/>
                        </a:rPr>
                        <a:t> </a:t>
                      </a:r>
                      <a:endParaRPr lang="en-IN" sz="12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IN" sz="1200" kern="1800" dirty="0">
                          <a:solidFill>
                            <a:srgbClr val="1F2C8F"/>
                          </a:solidFill>
                          <a:effectLst/>
                        </a:rPr>
                        <a:t>Days</a:t>
                      </a:r>
                      <a:endParaRPr lang="en-IN" sz="12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IN" sz="1200" kern="1800">
                          <a:solidFill>
                            <a:srgbClr val="1F2C8F"/>
                          </a:solidFill>
                          <a:effectLst/>
                        </a:rPr>
                        <a:t>vehicles count</a:t>
                      </a:r>
                      <a:endParaRPr lang="en-IN" sz="12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210820">
                <a:tc rowSpan="2">
                  <a:txBody>
                    <a:bodyPr/>
                    <a:lstStyle/>
                    <a:p>
                      <a:pPr>
                        <a:spcAft>
                          <a:spcPts val="0"/>
                        </a:spcAft>
                      </a:pPr>
                      <a:r>
                        <a:rPr lang="en-IN" sz="1200" kern="1800" dirty="0">
                          <a:solidFill>
                            <a:srgbClr val="1F2C8F"/>
                          </a:solidFill>
                          <a:effectLst/>
                        </a:rPr>
                        <a:t>Mean</a:t>
                      </a:r>
                      <a:endParaRPr lang="en-IN" sz="12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kern="1800" dirty="0">
                          <a:solidFill>
                            <a:srgbClr val="1F2C8F"/>
                          </a:solidFill>
                          <a:effectLst/>
                          <a:latin typeface="+mn-lt"/>
                          <a:ea typeface="+mn-ea"/>
                          <a:cs typeface="+mn-cs"/>
                        </a:rPr>
                        <a:t>weekend</a:t>
                      </a:r>
                      <a:endParaRPr lang="en-IN" sz="12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1200" kern="1800" dirty="0">
                          <a:solidFill>
                            <a:srgbClr val="1F2C8F"/>
                          </a:solidFill>
                          <a:effectLst/>
                        </a:rPr>
                        <a:t>11314</a:t>
                      </a:r>
                      <a:endParaRPr lang="en-IN" sz="12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112395">
                <a:tc vMerge="1">
                  <a:txBody>
                    <a:bodyPr/>
                    <a:lstStyle/>
                    <a:p>
                      <a:endParaRPr lang="en-IN"/>
                    </a:p>
                  </a:txBody>
                  <a:tcPr/>
                </a:tc>
                <a:tc>
                  <a:txBody>
                    <a:bodyPr/>
                    <a:lstStyle/>
                    <a:p>
                      <a:pPr>
                        <a:spcAft>
                          <a:spcPts val="0"/>
                        </a:spcAft>
                      </a:pPr>
                      <a:r>
                        <a:rPr lang="en-US" sz="1200" kern="1800" dirty="0">
                          <a:solidFill>
                            <a:srgbClr val="1F2C8F"/>
                          </a:solidFill>
                          <a:effectLst/>
                          <a:latin typeface="+mn-lt"/>
                          <a:ea typeface="+mn-ea"/>
                          <a:cs typeface="+mn-cs"/>
                        </a:rPr>
                        <a:t>weekday</a:t>
                      </a:r>
                      <a:endParaRPr lang="en-IN" sz="12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1200" kern="1800" dirty="0">
                          <a:solidFill>
                            <a:srgbClr val="1F2C8F"/>
                          </a:solidFill>
                          <a:effectLst/>
                        </a:rPr>
                        <a:t>21461</a:t>
                      </a:r>
                      <a:endParaRPr lang="en-IN" sz="12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210820">
                <a:tc rowSpan="2">
                  <a:txBody>
                    <a:bodyPr/>
                    <a:lstStyle/>
                    <a:p>
                      <a:pPr>
                        <a:spcAft>
                          <a:spcPts val="0"/>
                        </a:spcAft>
                      </a:pPr>
                      <a:r>
                        <a:rPr lang="en-IN" sz="1200" kern="1800">
                          <a:solidFill>
                            <a:srgbClr val="1F2C8F"/>
                          </a:solidFill>
                          <a:effectLst/>
                        </a:rPr>
                        <a:t>Shapiro-Wilk W</a:t>
                      </a:r>
                      <a:endParaRPr lang="en-IN" sz="12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kern="1800" dirty="0">
                          <a:solidFill>
                            <a:srgbClr val="1F2C8F"/>
                          </a:solidFill>
                          <a:effectLst/>
                          <a:latin typeface="+mn-lt"/>
                          <a:ea typeface="+mn-ea"/>
                          <a:cs typeface="+mn-cs"/>
                        </a:rPr>
                        <a:t>weekend</a:t>
                      </a:r>
                      <a:endParaRPr lang="en-IN" sz="12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1200" kern="1800" dirty="0">
                          <a:solidFill>
                            <a:srgbClr val="1F2C8F"/>
                          </a:solidFill>
                          <a:effectLst/>
                        </a:rPr>
                        <a:t>0.825</a:t>
                      </a:r>
                      <a:endParaRPr lang="en-IN" sz="12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112395">
                <a:tc vMerge="1">
                  <a:txBody>
                    <a:bodyPr/>
                    <a:lstStyle/>
                    <a:p>
                      <a:endParaRPr lang="en-IN"/>
                    </a:p>
                  </a:txBody>
                  <a:tcPr/>
                </a:tc>
                <a:tc>
                  <a:txBody>
                    <a:bodyPr/>
                    <a:lstStyle/>
                    <a:p>
                      <a:pPr>
                        <a:spcAft>
                          <a:spcPts val="0"/>
                        </a:spcAft>
                      </a:pPr>
                      <a:r>
                        <a:rPr lang="en-US" sz="1200" kern="1800" dirty="0">
                          <a:solidFill>
                            <a:srgbClr val="1F2C8F"/>
                          </a:solidFill>
                          <a:effectLst/>
                          <a:latin typeface="+mn-lt"/>
                          <a:ea typeface="+mn-ea"/>
                          <a:cs typeface="+mn-cs"/>
                        </a:rPr>
                        <a:t>weekday</a:t>
                      </a:r>
                      <a:endParaRPr lang="en-IN" sz="12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1200" kern="1800" dirty="0">
                          <a:solidFill>
                            <a:srgbClr val="1F2C8F"/>
                          </a:solidFill>
                          <a:effectLst/>
                        </a:rPr>
                        <a:t>0.949</a:t>
                      </a:r>
                      <a:endParaRPr lang="en-IN" sz="12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210820">
                <a:tc rowSpan="2">
                  <a:txBody>
                    <a:bodyPr/>
                    <a:lstStyle/>
                    <a:p>
                      <a:pPr>
                        <a:spcAft>
                          <a:spcPts val="0"/>
                        </a:spcAft>
                      </a:pPr>
                      <a:r>
                        <a:rPr lang="en-IN" sz="1200" kern="1800">
                          <a:solidFill>
                            <a:srgbClr val="1F2C8F"/>
                          </a:solidFill>
                          <a:effectLst/>
                        </a:rPr>
                        <a:t>Shapiro-Wilk p</a:t>
                      </a:r>
                      <a:endParaRPr lang="en-IN" sz="12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kern="1800" dirty="0">
                          <a:solidFill>
                            <a:srgbClr val="1F2C8F"/>
                          </a:solidFill>
                          <a:effectLst/>
                          <a:latin typeface="+mn-lt"/>
                          <a:ea typeface="+mn-ea"/>
                          <a:cs typeface="+mn-cs"/>
                        </a:rPr>
                        <a:t>weekend</a:t>
                      </a:r>
                      <a:endParaRPr lang="en-IN" sz="12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1200" kern="1800" dirty="0">
                          <a:solidFill>
                            <a:srgbClr val="1F2C8F"/>
                          </a:solidFill>
                          <a:effectLst/>
                        </a:rPr>
                        <a:t>0.098</a:t>
                      </a:r>
                      <a:endParaRPr lang="en-IN" sz="12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5"/>
                  </a:ext>
                </a:extLst>
              </a:tr>
              <a:tr h="112395">
                <a:tc vMerge="1">
                  <a:txBody>
                    <a:bodyPr/>
                    <a:lstStyle/>
                    <a:p>
                      <a:endParaRPr lang="en-IN"/>
                    </a:p>
                  </a:txBody>
                  <a:tcPr/>
                </a:tc>
                <a:tc>
                  <a:txBody>
                    <a:bodyPr/>
                    <a:lstStyle/>
                    <a:p>
                      <a:pPr>
                        <a:spcAft>
                          <a:spcPts val="0"/>
                        </a:spcAft>
                      </a:pPr>
                      <a:r>
                        <a:rPr lang="en-US" sz="1200" kern="1800" dirty="0">
                          <a:solidFill>
                            <a:srgbClr val="1F2C8F"/>
                          </a:solidFill>
                          <a:effectLst/>
                          <a:latin typeface="+mn-lt"/>
                          <a:ea typeface="+mn-ea"/>
                          <a:cs typeface="+mn-cs"/>
                        </a:rPr>
                        <a:t>weekday</a:t>
                      </a:r>
                      <a:endParaRPr lang="en-IN" sz="12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1200" kern="1800" dirty="0">
                          <a:solidFill>
                            <a:srgbClr val="1F2C8F"/>
                          </a:solidFill>
                          <a:effectLst/>
                        </a:rPr>
                        <a:t>0.732</a:t>
                      </a:r>
                      <a:endParaRPr lang="en-IN" sz="12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6"/>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1242863382"/>
              </p:ext>
            </p:extLst>
          </p:nvPr>
        </p:nvGraphicFramePr>
        <p:xfrm>
          <a:off x="1145150" y="3349693"/>
          <a:ext cx="2992755" cy="914400"/>
        </p:xfrm>
        <a:graphic>
          <a:graphicData uri="http://schemas.openxmlformats.org/drawingml/2006/table">
            <a:tbl>
              <a:tblPr firstRow="1" firstCol="1" bandRow="1">
                <a:tableStyleId>{5940675A-B579-460E-94D1-54222C63F5DA}</a:tableStyleId>
              </a:tblPr>
              <a:tblGrid>
                <a:gridCol w="598551">
                  <a:extLst>
                    <a:ext uri="{9D8B030D-6E8A-4147-A177-3AD203B41FA5}">
                      <a16:colId xmlns:a16="http://schemas.microsoft.com/office/drawing/2014/main" val="20000"/>
                    </a:ext>
                  </a:extLst>
                </a:gridCol>
                <a:gridCol w="598551">
                  <a:extLst>
                    <a:ext uri="{9D8B030D-6E8A-4147-A177-3AD203B41FA5}">
                      <a16:colId xmlns:a16="http://schemas.microsoft.com/office/drawing/2014/main" val="20001"/>
                    </a:ext>
                  </a:extLst>
                </a:gridCol>
                <a:gridCol w="598551">
                  <a:extLst>
                    <a:ext uri="{9D8B030D-6E8A-4147-A177-3AD203B41FA5}">
                      <a16:colId xmlns:a16="http://schemas.microsoft.com/office/drawing/2014/main" val="20002"/>
                    </a:ext>
                  </a:extLst>
                </a:gridCol>
                <a:gridCol w="598551">
                  <a:extLst>
                    <a:ext uri="{9D8B030D-6E8A-4147-A177-3AD203B41FA5}">
                      <a16:colId xmlns:a16="http://schemas.microsoft.com/office/drawing/2014/main" val="20003"/>
                    </a:ext>
                  </a:extLst>
                </a:gridCol>
                <a:gridCol w="598551">
                  <a:extLst>
                    <a:ext uri="{9D8B030D-6E8A-4147-A177-3AD203B41FA5}">
                      <a16:colId xmlns:a16="http://schemas.microsoft.com/office/drawing/2014/main" val="20004"/>
                    </a:ext>
                  </a:extLst>
                </a:gridCol>
              </a:tblGrid>
              <a:tr h="114508">
                <a:tc gridSpan="5">
                  <a:txBody>
                    <a:bodyPr/>
                    <a:lstStyle/>
                    <a:p>
                      <a:pPr>
                        <a:spcAft>
                          <a:spcPts val="0"/>
                        </a:spcAft>
                      </a:pPr>
                      <a:r>
                        <a:rPr lang="en-IN" sz="1200" kern="1800" dirty="0">
                          <a:solidFill>
                            <a:srgbClr val="1F2C8F"/>
                          </a:solidFill>
                          <a:effectLst/>
                        </a:rPr>
                        <a:t>Homogeneity of Variances Test (Levene's)</a:t>
                      </a:r>
                      <a:endParaRPr lang="en-IN" sz="12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0000"/>
                  </a:ext>
                </a:extLst>
              </a:tr>
              <a:tr h="114508">
                <a:tc>
                  <a:txBody>
                    <a:bodyPr/>
                    <a:lstStyle/>
                    <a:p>
                      <a:pPr>
                        <a:spcAft>
                          <a:spcPts val="0"/>
                        </a:spcAft>
                      </a:pPr>
                      <a:r>
                        <a:rPr lang="en-IN" sz="1200" kern="1800">
                          <a:solidFill>
                            <a:srgbClr val="1F2C8F"/>
                          </a:solidFill>
                          <a:effectLst/>
                        </a:rPr>
                        <a:t> </a:t>
                      </a:r>
                      <a:endParaRPr lang="en-IN" sz="12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IN" sz="1200" kern="1800" dirty="0">
                          <a:solidFill>
                            <a:srgbClr val="1F2C8F"/>
                          </a:solidFill>
                          <a:effectLst/>
                        </a:rPr>
                        <a:t>F</a:t>
                      </a:r>
                      <a:endParaRPr lang="en-IN" sz="12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IN" sz="1200" kern="1800" dirty="0" err="1">
                          <a:solidFill>
                            <a:srgbClr val="1F2C8F"/>
                          </a:solidFill>
                          <a:effectLst/>
                        </a:rPr>
                        <a:t>df</a:t>
                      </a:r>
                      <a:endParaRPr lang="en-IN" sz="12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IN" sz="1200" kern="1800">
                          <a:solidFill>
                            <a:srgbClr val="1F2C8F"/>
                          </a:solidFill>
                          <a:effectLst/>
                        </a:rPr>
                        <a:t>df2</a:t>
                      </a:r>
                      <a:endParaRPr lang="en-IN" sz="12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IN" sz="1200" kern="1800">
                          <a:solidFill>
                            <a:srgbClr val="1F2C8F"/>
                          </a:solidFill>
                          <a:effectLst/>
                        </a:rPr>
                        <a:t>p</a:t>
                      </a:r>
                      <a:endParaRPr lang="en-IN" sz="12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229016">
                <a:tc>
                  <a:txBody>
                    <a:bodyPr/>
                    <a:lstStyle/>
                    <a:p>
                      <a:pPr>
                        <a:spcAft>
                          <a:spcPts val="0"/>
                        </a:spcAft>
                      </a:pPr>
                      <a:r>
                        <a:rPr lang="en-IN" sz="1200" kern="1800">
                          <a:solidFill>
                            <a:srgbClr val="1F2C8F"/>
                          </a:solidFill>
                          <a:effectLst/>
                        </a:rPr>
                        <a:t>vehicles count</a:t>
                      </a:r>
                      <a:endParaRPr lang="en-IN" sz="12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1200" kern="1800" dirty="0">
                          <a:solidFill>
                            <a:srgbClr val="1F2C8F"/>
                          </a:solidFill>
                          <a:effectLst/>
                        </a:rPr>
                        <a:t>6.07</a:t>
                      </a:r>
                      <a:endParaRPr lang="en-IN" sz="12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1200" kern="1800" dirty="0">
                          <a:solidFill>
                            <a:srgbClr val="1F2C8F"/>
                          </a:solidFill>
                          <a:effectLst/>
                        </a:rPr>
                        <a:t>1</a:t>
                      </a:r>
                      <a:endParaRPr lang="en-IN" sz="12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1200" kern="1800" dirty="0">
                          <a:solidFill>
                            <a:srgbClr val="1F2C8F"/>
                          </a:solidFill>
                          <a:effectLst/>
                        </a:rPr>
                        <a:t>10</a:t>
                      </a:r>
                      <a:endParaRPr lang="en-IN" sz="12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1200" kern="1800" dirty="0">
                          <a:solidFill>
                            <a:srgbClr val="1F2C8F"/>
                          </a:solidFill>
                          <a:effectLst/>
                        </a:rPr>
                        <a:t>0.033</a:t>
                      </a:r>
                      <a:endParaRPr lang="en-IN" sz="12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1171986330"/>
              </p:ext>
            </p:extLst>
          </p:nvPr>
        </p:nvGraphicFramePr>
        <p:xfrm>
          <a:off x="1145147" y="4674114"/>
          <a:ext cx="3836285" cy="784990"/>
        </p:xfrm>
        <a:graphic>
          <a:graphicData uri="http://schemas.openxmlformats.org/drawingml/2006/table">
            <a:tbl>
              <a:tblPr firstRow="1" firstCol="1" bandRow="1">
                <a:tableStyleId>{5940675A-B579-460E-94D1-54222C63F5DA}</a:tableStyleId>
              </a:tblPr>
              <a:tblGrid>
                <a:gridCol w="767257">
                  <a:extLst>
                    <a:ext uri="{9D8B030D-6E8A-4147-A177-3AD203B41FA5}">
                      <a16:colId xmlns:a16="http://schemas.microsoft.com/office/drawing/2014/main" val="20000"/>
                    </a:ext>
                  </a:extLst>
                </a:gridCol>
                <a:gridCol w="767257">
                  <a:extLst>
                    <a:ext uri="{9D8B030D-6E8A-4147-A177-3AD203B41FA5}">
                      <a16:colId xmlns:a16="http://schemas.microsoft.com/office/drawing/2014/main" val="20001"/>
                    </a:ext>
                  </a:extLst>
                </a:gridCol>
                <a:gridCol w="767257">
                  <a:extLst>
                    <a:ext uri="{9D8B030D-6E8A-4147-A177-3AD203B41FA5}">
                      <a16:colId xmlns:a16="http://schemas.microsoft.com/office/drawing/2014/main" val="20002"/>
                    </a:ext>
                  </a:extLst>
                </a:gridCol>
                <a:gridCol w="767257">
                  <a:extLst>
                    <a:ext uri="{9D8B030D-6E8A-4147-A177-3AD203B41FA5}">
                      <a16:colId xmlns:a16="http://schemas.microsoft.com/office/drawing/2014/main" val="20003"/>
                    </a:ext>
                  </a:extLst>
                </a:gridCol>
                <a:gridCol w="767257">
                  <a:extLst>
                    <a:ext uri="{9D8B030D-6E8A-4147-A177-3AD203B41FA5}">
                      <a16:colId xmlns:a16="http://schemas.microsoft.com/office/drawing/2014/main" val="20004"/>
                    </a:ext>
                  </a:extLst>
                </a:gridCol>
              </a:tblGrid>
              <a:tr h="300885">
                <a:tc>
                  <a:txBody>
                    <a:bodyPr/>
                    <a:lstStyle/>
                    <a:p>
                      <a:pPr algn="ctr">
                        <a:spcAft>
                          <a:spcPts val="0"/>
                        </a:spcAft>
                      </a:pPr>
                      <a:r>
                        <a:rPr lang="en-IN" sz="1200" dirty="0">
                          <a:solidFill>
                            <a:srgbClr val="1F2C8F"/>
                          </a:solidFill>
                          <a:effectLst/>
                        </a:rPr>
                        <a:t> </a:t>
                      </a:r>
                      <a:endParaRPr lang="en-IN" sz="11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1200" dirty="0">
                          <a:solidFill>
                            <a:srgbClr val="1F2C8F"/>
                          </a:solidFill>
                          <a:effectLst/>
                        </a:rPr>
                        <a:t> </a:t>
                      </a:r>
                      <a:endParaRPr lang="en-IN" sz="11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1200">
                          <a:solidFill>
                            <a:srgbClr val="1F2C8F"/>
                          </a:solidFill>
                          <a:effectLst/>
                        </a:rPr>
                        <a:t>Statistic</a:t>
                      </a:r>
                      <a:endParaRPr lang="en-IN" sz="11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1200" dirty="0" err="1">
                          <a:solidFill>
                            <a:srgbClr val="1F2C8F"/>
                          </a:solidFill>
                          <a:effectLst/>
                        </a:rPr>
                        <a:t>df</a:t>
                      </a:r>
                      <a:endParaRPr lang="en-IN" sz="11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1200" dirty="0">
                          <a:solidFill>
                            <a:srgbClr val="1F2C8F"/>
                          </a:solidFill>
                          <a:effectLst/>
                        </a:rPr>
                        <a:t>p</a:t>
                      </a:r>
                      <a:endParaRPr lang="en-IN" sz="11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484105">
                <a:tc>
                  <a:txBody>
                    <a:bodyPr/>
                    <a:lstStyle/>
                    <a:p>
                      <a:pPr>
                        <a:spcAft>
                          <a:spcPts val="0"/>
                        </a:spcAft>
                      </a:pPr>
                      <a:r>
                        <a:rPr lang="en-IN" sz="1200">
                          <a:solidFill>
                            <a:srgbClr val="1F2C8F"/>
                          </a:solidFill>
                          <a:effectLst/>
                        </a:rPr>
                        <a:t>Vehicle count </a:t>
                      </a:r>
                      <a:endParaRPr lang="en-IN" sz="11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IN" sz="1200" dirty="0">
                          <a:solidFill>
                            <a:srgbClr val="1F2C8F"/>
                          </a:solidFill>
                          <a:effectLst/>
                        </a:rPr>
                        <a:t>Welch's t</a:t>
                      </a:r>
                      <a:endParaRPr lang="en-IN" sz="11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1200" dirty="0">
                          <a:solidFill>
                            <a:srgbClr val="1F2C8F"/>
                          </a:solidFill>
                          <a:effectLst/>
                        </a:rPr>
                        <a:t>-3.58</a:t>
                      </a:r>
                      <a:endParaRPr lang="en-IN" sz="11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1200" dirty="0">
                          <a:solidFill>
                            <a:srgbClr val="1F2C8F"/>
                          </a:solidFill>
                          <a:effectLst/>
                        </a:rPr>
                        <a:t>7.06</a:t>
                      </a:r>
                      <a:endParaRPr lang="en-IN" sz="11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1200" dirty="0">
                          <a:solidFill>
                            <a:srgbClr val="1F2C8F"/>
                          </a:solidFill>
                          <a:effectLst/>
                        </a:rPr>
                        <a:t>0.009</a:t>
                      </a:r>
                      <a:endParaRPr lang="en-IN" sz="11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bl>
          </a:graphicData>
        </a:graphic>
      </p:graphicFrame>
      <p:pic>
        <p:nvPicPr>
          <p:cNvPr id="12" name="Picture 11" descr="http://127.0.0.1:12199/a94158b3-a755-407b-b098-31e1307c36b5/20/res/20%20descriptives/resources/167b1bbc901a7dba.png"/>
          <p:cNvPicPr/>
          <p:nvPr/>
        </p:nvPicPr>
        <p:blipFill>
          <a:blip r:embed="rId2">
            <a:extLst>
              <a:ext uri="{28A0092B-C50C-407E-A947-70E740481C1C}">
                <a14:useLocalDpi xmlns:a14="http://schemas.microsoft.com/office/drawing/2010/main" val="0"/>
              </a:ext>
            </a:extLst>
          </a:blip>
          <a:srcRect/>
          <a:stretch>
            <a:fillRect/>
          </a:stretch>
        </p:blipFill>
        <p:spPr bwMode="auto">
          <a:xfrm>
            <a:off x="7765575" y="2681202"/>
            <a:ext cx="3503323" cy="2787057"/>
          </a:xfrm>
          <a:prstGeom prst="rect">
            <a:avLst/>
          </a:prstGeom>
          <a:noFill/>
          <a:ln>
            <a:noFill/>
          </a:ln>
        </p:spPr>
      </p:pic>
      <p:sp>
        <p:nvSpPr>
          <p:cNvPr id="13" name="Rectangle 12"/>
          <p:cNvSpPr/>
          <p:nvPr/>
        </p:nvSpPr>
        <p:spPr>
          <a:xfrm>
            <a:off x="1055424" y="5839663"/>
            <a:ext cx="9808588" cy="7112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600" dirty="0">
                <a:solidFill>
                  <a:srgbClr val="1F2C8F"/>
                </a:solidFill>
              </a:rPr>
              <a:t>p= 0.009&lt;0.05, we reject null hypothesis</a:t>
            </a:r>
          </a:p>
          <a:p>
            <a:r>
              <a:rPr lang="en-IN" sz="1600" dirty="0">
                <a:solidFill>
                  <a:srgbClr val="1F2C8F"/>
                </a:solidFill>
              </a:rPr>
              <a:t>Therefore, there is a significant difference in traffic volume between weekdays and weekend. </a:t>
            </a:r>
          </a:p>
          <a:p>
            <a:pPr algn="ctr"/>
            <a:endParaRPr lang="en-IN" sz="1600" dirty="0">
              <a:solidFill>
                <a:srgbClr val="1F2C8F"/>
              </a:solidFill>
            </a:endParaRPr>
          </a:p>
        </p:txBody>
      </p:sp>
      <p:sp>
        <p:nvSpPr>
          <p:cNvPr id="14" name="Rectangle 13"/>
          <p:cNvSpPr/>
          <p:nvPr/>
        </p:nvSpPr>
        <p:spPr>
          <a:xfrm>
            <a:off x="4513055" y="3178222"/>
            <a:ext cx="2893326" cy="10964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IN" sz="1600" dirty="0">
                <a:solidFill>
                  <a:srgbClr val="1F2C8F"/>
                </a:solidFill>
              </a:rPr>
              <a:t>Here p value less than 0.05, We conclude that variances are not equal.</a:t>
            </a:r>
          </a:p>
        </p:txBody>
      </p:sp>
      <p:sp>
        <p:nvSpPr>
          <p:cNvPr id="15" name="Rectangle 14"/>
          <p:cNvSpPr/>
          <p:nvPr/>
        </p:nvSpPr>
        <p:spPr>
          <a:xfrm>
            <a:off x="4503761" y="1628576"/>
            <a:ext cx="3043450" cy="14240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IN" sz="1600" dirty="0">
                <a:solidFill>
                  <a:srgbClr val="1F2C8F"/>
                </a:solidFill>
              </a:rPr>
              <a:t>Here p value for both group is greater than 0.05, We conclude that traffic volume for weekdays and weekends is normally distributed.</a:t>
            </a:r>
          </a:p>
        </p:txBody>
      </p:sp>
    </p:spTree>
    <p:extLst>
      <p:ext uri="{BB962C8B-B14F-4D97-AF65-F5344CB8AC3E}">
        <p14:creationId xmlns:p14="http://schemas.microsoft.com/office/powerpoint/2010/main" val="12910704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F63A3B-78C7-47BE-AE5E-E10140E04643}" type="slidenum">
              <a:rPr lang="en-US" smtClean="0"/>
              <a:pPr/>
              <a:t>8</a:t>
            </a:fld>
            <a:endParaRPr lang="en-US" dirty="0"/>
          </a:p>
        </p:txBody>
      </p:sp>
      <p:sp>
        <p:nvSpPr>
          <p:cNvPr id="3" name="Rectangle 2"/>
          <p:cNvSpPr/>
          <p:nvPr/>
        </p:nvSpPr>
        <p:spPr>
          <a:xfrm>
            <a:off x="1078174" y="698868"/>
            <a:ext cx="9608024" cy="74380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a:solidFill>
                  <a:srgbClr val="1F2C8F"/>
                </a:solidFill>
              </a:rPr>
              <a:t>Morning vs. Evening Peak Hour Trends</a:t>
            </a:r>
            <a:endParaRPr lang="en-IN" sz="2400" dirty="0">
              <a:solidFill>
                <a:srgbClr val="1F2C8F"/>
              </a:solidFill>
            </a:endParaRPr>
          </a:p>
        </p:txBody>
      </p:sp>
      <p:sp>
        <p:nvSpPr>
          <p:cNvPr id="4" name="Rectangle 3"/>
          <p:cNvSpPr/>
          <p:nvPr/>
        </p:nvSpPr>
        <p:spPr>
          <a:xfrm>
            <a:off x="928048" y="1190188"/>
            <a:ext cx="10727140" cy="11708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n-US" sz="1400" b="1" dirty="0">
                <a:solidFill>
                  <a:srgbClr val="1F2C8F"/>
                </a:solidFill>
              </a:rPr>
              <a:t>Null hypothesis:</a:t>
            </a:r>
            <a:r>
              <a:rPr lang="en-US" sz="1400" dirty="0">
                <a:solidFill>
                  <a:srgbClr val="1F2C8F"/>
                </a:solidFill>
              </a:rPr>
              <a:t> There is no significant difference between morning and evening peak hour traffic congestion.</a:t>
            </a:r>
            <a:endParaRPr lang="en-IN" sz="1400" dirty="0">
              <a:solidFill>
                <a:srgbClr val="1F2C8F"/>
              </a:solidFill>
            </a:endParaRPr>
          </a:p>
          <a:p>
            <a:pPr>
              <a:lnSpc>
                <a:spcPct val="150000"/>
              </a:lnSpc>
            </a:pPr>
            <a:r>
              <a:rPr lang="en-US" sz="1400" b="1" dirty="0">
                <a:solidFill>
                  <a:srgbClr val="1F2C8F"/>
                </a:solidFill>
              </a:rPr>
              <a:t>Alternative hypothesis: </a:t>
            </a:r>
            <a:r>
              <a:rPr lang="en-US" sz="1400" dirty="0">
                <a:solidFill>
                  <a:srgbClr val="1F2C8F"/>
                </a:solidFill>
              </a:rPr>
              <a:t>There is significant difference between morning and evening peak hour traffic congestion.</a:t>
            </a:r>
            <a:endParaRPr lang="en-IN" sz="1400" dirty="0">
              <a:solidFill>
                <a:srgbClr val="1F2C8F"/>
              </a:solidFill>
            </a:endParaRPr>
          </a:p>
        </p:txBody>
      </p:sp>
      <p:sp>
        <p:nvSpPr>
          <p:cNvPr id="5" name="Rectangle 4"/>
          <p:cNvSpPr/>
          <p:nvPr/>
        </p:nvSpPr>
        <p:spPr>
          <a:xfrm>
            <a:off x="286603" y="1883391"/>
            <a:ext cx="11668836" cy="485860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6" name="Table 5"/>
          <p:cNvGraphicFramePr>
            <a:graphicFrameLocks noGrp="1"/>
          </p:cNvGraphicFramePr>
          <p:nvPr>
            <p:extLst>
              <p:ext uri="{D42A27DB-BD31-4B8C-83A1-F6EECF244321}">
                <p14:modId xmlns:p14="http://schemas.microsoft.com/office/powerpoint/2010/main" val="1561274645"/>
              </p:ext>
            </p:extLst>
          </p:nvPr>
        </p:nvGraphicFramePr>
        <p:xfrm>
          <a:off x="150125" y="2331720"/>
          <a:ext cx="5199795" cy="1963424"/>
        </p:xfrm>
        <a:graphic>
          <a:graphicData uri="http://schemas.openxmlformats.org/drawingml/2006/table">
            <a:tbl>
              <a:tblPr firstRow="1" firstCol="1" bandRow="1">
                <a:tableStyleId>{5940675A-B579-460E-94D1-54222C63F5DA}</a:tableStyleId>
              </a:tblPr>
              <a:tblGrid>
                <a:gridCol w="1733265">
                  <a:extLst>
                    <a:ext uri="{9D8B030D-6E8A-4147-A177-3AD203B41FA5}">
                      <a16:colId xmlns:a16="http://schemas.microsoft.com/office/drawing/2014/main" val="20000"/>
                    </a:ext>
                  </a:extLst>
                </a:gridCol>
                <a:gridCol w="1733265">
                  <a:extLst>
                    <a:ext uri="{9D8B030D-6E8A-4147-A177-3AD203B41FA5}">
                      <a16:colId xmlns:a16="http://schemas.microsoft.com/office/drawing/2014/main" val="20001"/>
                    </a:ext>
                  </a:extLst>
                </a:gridCol>
                <a:gridCol w="1733265">
                  <a:extLst>
                    <a:ext uri="{9D8B030D-6E8A-4147-A177-3AD203B41FA5}">
                      <a16:colId xmlns:a16="http://schemas.microsoft.com/office/drawing/2014/main" val="20002"/>
                    </a:ext>
                  </a:extLst>
                </a:gridCol>
              </a:tblGrid>
              <a:tr h="238732">
                <a:tc>
                  <a:txBody>
                    <a:bodyPr/>
                    <a:lstStyle/>
                    <a:p>
                      <a:pPr algn="just">
                        <a:lnSpc>
                          <a:spcPct val="150000"/>
                        </a:lnSpc>
                        <a:spcAft>
                          <a:spcPts val="0"/>
                        </a:spcAft>
                      </a:pPr>
                      <a:r>
                        <a:rPr lang="en-IN" sz="1200" dirty="0">
                          <a:solidFill>
                            <a:srgbClr val="1F2C8F"/>
                          </a:solidFill>
                          <a:effectLst/>
                        </a:rPr>
                        <a:t> </a:t>
                      </a:r>
                      <a:endParaRPr lang="en-IN" sz="11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IN" sz="1200">
                          <a:solidFill>
                            <a:srgbClr val="1F2C8F"/>
                          </a:solidFill>
                          <a:effectLst/>
                        </a:rPr>
                        <a:t>Morning Traffic volume</a:t>
                      </a:r>
                      <a:endParaRPr lang="en-IN" sz="11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IN" sz="1200">
                          <a:solidFill>
                            <a:srgbClr val="1F2C8F"/>
                          </a:solidFill>
                          <a:effectLst/>
                        </a:rPr>
                        <a:t>Evening Traffic Volume</a:t>
                      </a:r>
                      <a:endParaRPr lang="en-IN" sz="11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238732">
                <a:tc>
                  <a:txBody>
                    <a:bodyPr/>
                    <a:lstStyle/>
                    <a:p>
                      <a:pPr algn="just">
                        <a:lnSpc>
                          <a:spcPct val="150000"/>
                        </a:lnSpc>
                        <a:spcAft>
                          <a:spcPts val="0"/>
                        </a:spcAft>
                      </a:pPr>
                      <a:r>
                        <a:rPr lang="en-IN" sz="1200" dirty="0">
                          <a:solidFill>
                            <a:srgbClr val="1F2C8F"/>
                          </a:solidFill>
                          <a:effectLst/>
                        </a:rPr>
                        <a:t>Mean</a:t>
                      </a:r>
                      <a:endParaRPr lang="en-IN" sz="11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IN" sz="1200">
                          <a:solidFill>
                            <a:srgbClr val="1F2C8F"/>
                          </a:solidFill>
                          <a:effectLst/>
                        </a:rPr>
                        <a:t>32631</a:t>
                      </a:r>
                      <a:endParaRPr lang="en-IN" sz="11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IN" sz="1200" dirty="0">
                          <a:solidFill>
                            <a:srgbClr val="1F2C8F"/>
                          </a:solidFill>
                          <a:effectLst/>
                        </a:rPr>
                        <a:t>32919</a:t>
                      </a:r>
                      <a:endParaRPr lang="en-IN" sz="11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238732">
                <a:tc>
                  <a:txBody>
                    <a:bodyPr/>
                    <a:lstStyle/>
                    <a:p>
                      <a:pPr algn="just">
                        <a:lnSpc>
                          <a:spcPct val="150000"/>
                        </a:lnSpc>
                        <a:spcAft>
                          <a:spcPts val="0"/>
                        </a:spcAft>
                      </a:pPr>
                      <a:r>
                        <a:rPr lang="en-IN" sz="1200" dirty="0">
                          <a:solidFill>
                            <a:srgbClr val="1F2C8F"/>
                          </a:solidFill>
                          <a:effectLst/>
                        </a:rPr>
                        <a:t>Median</a:t>
                      </a:r>
                      <a:endParaRPr lang="en-IN" sz="11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IN" sz="1200">
                          <a:solidFill>
                            <a:srgbClr val="1F2C8F"/>
                          </a:solidFill>
                          <a:effectLst/>
                        </a:rPr>
                        <a:t>34505</a:t>
                      </a:r>
                      <a:endParaRPr lang="en-IN" sz="11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IN" sz="1200">
                          <a:solidFill>
                            <a:srgbClr val="1F2C8F"/>
                          </a:solidFill>
                          <a:effectLst/>
                        </a:rPr>
                        <a:t>33065</a:t>
                      </a:r>
                      <a:endParaRPr lang="en-IN" sz="11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238732">
                <a:tc>
                  <a:txBody>
                    <a:bodyPr/>
                    <a:lstStyle/>
                    <a:p>
                      <a:pPr algn="just">
                        <a:lnSpc>
                          <a:spcPct val="150000"/>
                        </a:lnSpc>
                        <a:spcAft>
                          <a:spcPts val="0"/>
                        </a:spcAft>
                      </a:pPr>
                      <a:r>
                        <a:rPr lang="en-IN" sz="1200" dirty="0">
                          <a:solidFill>
                            <a:srgbClr val="1F2C8F"/>
                          </a:solidFill>
                          <a:effectLst/>
                        </a:rPr>
                        <a:t>Standard deviation</a:t>
                      </a:r>
                      <a:endParaRPr lang="en-IN" sz="11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IN" sz="1200">
                          <a:solidFill>
                            <a:srgbClr val="1F2C8F"/>
                          </a:solidFill>
                          <a:effectLst/>
                        </a:rPr>
                        <a:t>8523</a:t>
                      </a:r>
                      <a:endParaRPr lang="en-IN" sz="11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IN" sz="1200" dirty="0">
                          <a:solidFill>
                            <a:srgbClr val="1F2C8F"/>
                          </a:solidFill>
                          <a:effectLst/>
                        </a:rPr>
                        <a:t>6355</a:t>
                      </a:r>
                      <a:endParaRPr lang="en-IN" sz="11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238732">
                <a:tc>
                  <a:txBody>
                    <a:bodyPr/>
                    <a:lstStyle/>
                    <a:p>
                      <a:pPr algn="just">
                        <a:lnSpc>
                          <a:spcPct val="150000"/>
                        </a:lnSpc>
                        <a:spcAft>
                          <a:spcPts val="0"/>
                        </a:spcAft>
                      </a:pPr>
                      <a:r>
                        <a:rPr lang="en-IN" sz="1200">
                          <a:solidFill>
                            <a:srgbClr val="1F2C8F"/>
                          </a:solidFill>
                          <a:effectLst/>
                        </a:rPr>
                        <a:t>Minimum</a:t>
                      </a:r>
                      <a:endParaRPr lang="en-IN" sz="11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IN" sz="1200" dirty="0">
                          <a:solidFill>
                            <a:srgbClr val="1F2C8F"/>
                          </a:solidFill>
                          <a:effectLst/>
                        </a:rPr>
                        <a:t>23327</a:t>
                      </a:r>
                      <a:endParaRPr lang="en-IN" sz="11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IN" sz="1200">
                          <a:solidFill>
                            <a:srgbClr val="1F2C8F"/>
                          </a:solidFill>
                          <a:effectLst/>
                        </a:rPr>
                        <a:t>26492</a:t>
                      </a:r>
                      <a:endParaRPr lang="en-IN" sz="11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238732">
                <a:tc>
                  <a:txBody>
                    <a:bodyPr/>
                    <a:lstStyle/>
                    <a:p>
                      <a:pPr algn="just">
                        <a:lnSpc>
                          <a:spcPct val="150000"/>
                        </a:lnSpc>
                        <a:spcAft>
                          <a:spcPts val="0"/>
                        </a:spcAft>
                      </a:pPr>
                      <a:r>
                        <a:rPr lang="en-IN" sz="1200">
                          <a:solidFill>
                            <a:srgbClr val="1F2C8F"/>
                          </a:solidFill>
                          <a:effectLst/>
                        </a:rPr>
                        <a:t>Maximum</a:t>
                      </a:r>
                      <a:endParaRPr lang="en-IN" sz="11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IN" sz="1200" dirty="0">
                          <a:solidFill>
                            <a:srgbClr val="1F2C8F"/>
                          </a:solidFill>
                          <a:effectLst/>
                        </a:rPr>
                        <a:t>40062</a:t>
                      </a:r>
                      <a:endParaRPr lang="en-IN" sz="11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IN" sz="1200">
                          <a:solidFill>
                            <a:srgbClr val="1F2C8F"/>
                          </a:solidFill>
                          <a:effectLst/>
                        </a:rPr>
                        <a:t>39200</a:t>
                      </a:r>
                      <a:endParaRPr lang="en-IN" sz="11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5"/>
                  </a:ext>
                </a:extLst>
              </a:tr>
              <a:tr h="238732">
                <a:tc>
                  <a:txBody>
                    <a:bodyPr/>
                    <a:lstStyle/>
                    <a:p>
                      <a:pPr algn="just">
                        <a:lnSpc>
                          <a:spcPct val="150000"/>
                        </a:lnSpc>
                        <a:spcAft>
                          <a:spcPts val="0"/>
                        </a:spcAft>
                      </a:pPr>
                      <a:r>
                        <a:rPr lang="en-IN" sz="1200">
                          <a:solidFill>
                            <a:srgbClr val="1F2C8F"/>
                          </a:solidFill>
                          <a:effectLst/>
                        </a:rPr>
                        <a:t>Shapiro-Wilk W</a:t>
                      </a:r>
                      <a:endParaRPr lang="en-IN" sz="11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IN" sz="1200" dirty="0">
                          <a:solidFill>
                            <a:srgbClr val="1F2C8F"/>
                          </a:solidFill>
                          <a:effectLst/>
                        </a:rPr>
                        <a:t>0.964</a:t>
                      </a:r>
                      <a:endParaRPr lang="en-IN" sz="11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IN" sz="1200" dirty="0">
                          <a:solidFill>
                            <a:srgbClr val="1F2C8F"/>
                          </a:solidFill>
                          <a:effectLst/>
                        </a:rPr>
                        <a:t>1.000</a:t>
                      </a:r>
                      <a:endParaRPr lang="en-IN" sz="11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6"/>
                  </a:ext>
                </a:extLst>
              </a:tr>
              <a:tr h="238732">
                <a:tc>
                  <a:txBody>
                    <a:bodyPr/>
                    <a:lstStyle/>
                    <a:p>
                      <a:pPr algn="just">
                        <a:lnSpc>
                          <a:spcPct val="150000"/>
                        </a:lnSpc>
                        <a:spcAft>
                          <a:spcPts val="0"/>
                        </a:spcAft>
                      </a:pPr>
                      <a:r>
                        <a:rPr lang="en-IN" sz="1200">
                          <a:solidFill>
                            <a:srgbClr val="1F2C8F"/>
                          </a:solidFill>
                          <a:effectLst/>
                        </a:rPr>
                        <a:t>Shapiro-Wilk p</a:t>
                      </a:r>
                      <a:endParaRPr lang="en-IN" sz="11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IN" sz="1200" dirty="0">
                          <a:solidFill>
                            <a:srgbClr val="1F2C8F"/>
                          </a:solidFill>
                          <a:effectLst/>
                        </a:rPr>
                        <a:t>0.634</a:t>
                      </a:r>
                      <a:endParaRPr lang="en-IN" sz="11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IN" sz="1200" dirty="0">
                          <a:solidFill>
                            <a:srgbClr val="1F2C8F"/>
                          </a:solidFill>
                          <a:effectLst/>
                        </a:rPr>
                        <a:t>0.962</a:t>
                      </a:r>
                      <a:endParaRPr lang="en-IN" sz="11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7"/>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2347892350"/>
              </p:ext>
            </p:extLst>
          </p:nvPr>
        </p:nvGraphicFramePr>
        <p:xfrm>
          <a:off x="163773" y="4704036"/>
          <a:ext cx="4995080" cy="635083"/>
        </p:xfrm>
        <a:graphic>
          <a:graphicData uri="http://schemas.openxmlformats.org/drawingml/2006/table">
            <a:tbl>
              <a:tblPr firstRow="1" firstCol="1" bandRow="1">
                <a:tableStyleId>{5940675A-B579-460E-94D1-54222C63F5DA}</a:tableStyleId>
              </a:tblPr>
              <a:tblGrid>
                <a:gridCol w="724078">
                  <a:extLst>
                    <a:ext uri="{9D8B030D-6E8A-4147-A177-3AD203B41FA5}">
                      <a16:colId xmlns:a16="http://schemas.microsoft.com/office/drawing/2014/main" val="20000"/>
                    </a:ext>
                  </a:extLst>
                </a:gridCol>
                <a:gridCol w="1091076">
                  <a:extLst>
                    <a:ext uri="{9D8B030D-6E8A-4147-A177-3AD203B41FA5}">
                      <a16:colId xmlns:a16="http://schemas.microsoft.com/office/drawing/2014/main" val="20001"/>
                    </a:ext>
                  </a:extLst>
                </a:gridCol>
                <a:gridCol w="860782">
                  <a:extLst>
                    <a:ext uri="{9D8B030D-6E8A-4147-A177-3AD203B41FA5}">
                      <a16:colId xmlns:a16="http://schemas.microsoft.com/office/drawing/2014/main" val="20002"/>
                    </a:ext>
                  </a:extLst>
                </a:gridCol>
                <a:gridCol w="927073">
                  <a:extLst>
                    <a:ext uri="{9D8B030D-6E8A-4147-A177-3AD203B41FA5}">
                      <a16:colId xmlns:a16="http://schemas.microsoft.com/office/drawing/2014/main" val="20003"/>
                    </a:ext>
                  </a:extLst>
                </a:gridCol>
                <a:gridCol w="705934">
                  <a:extLst>
                    <a:ext uri="{9D8B030D-6E8A-4147-A177-3AD203B41FA5}">
                      <a16:colId xmlns:a16="http://schemas.microsoft.com/office/drawing/2014/main" val="20004"/>
                    </a:ext>
                  </a:extLst>
                </a:gridCol>
                <a:gridCol w="686137">
                  <a:extLst>
                    <a:ext uri="{9D8B030D-6E8A-4147-A177-3AD203B41FA5}">
                      <a16:colId xmlns:a16="http://schemas.microsoft.com/office/drawing/2014/main" val="20005"/>
                    </a:ext>
                  </a:extLst>
                </a:gridCol>
              </a:tblGrid>
              <a:tr h="192543">
                <a:tc>
                  <a:txBody>
                    <a:bodyPr/>
                    <a:lstStyle/>
                    <a:p>
                      <a:pPr algn="just">
                        <a:lnSpc>
                          <a:spcPct val="150000"/>
                        </a:lnSpc>
                        <a:spcAft>
                          <a:spcPts val="0"/>
                        </a:spcAft>
                      </a:pPr>
                      <a:r>
                        <a:rPr lang="en-IN" sz="1200" dirty="0">
                          <a:solidFill>
                            <a:srgbClr val="1F2C8F"/>
                          </a:solidFill>
                          <a:effectLst/>
                        </a:rPr>
                        <a:t> </a:t>
                      </a:r>
                      <a:endParaRPr lang="en-IN" sz="11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IN" sz="1200" dirty="0">
                          <a:solidFill>
                            <a:srgbClr val="1F2C8F"/>
                          </a:solidFill>
                          <a:effectLst/>
                        </a:rPr>
                        <a:t> </a:t>
                      </a:r>
                      <a:endParaRPr lang="en-IN" sz="11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IN" sz="1200" dirty="0">
                          <a:solidFill>
                            <a:srgbClr val="1F2C8F"/>
                          </a:solidFill>
                          <a:effectLst/>
                        </a:rPr>
                        <a:t> </a:t>
                      </a:r>
                      <a:endParaRPr lang="en-IN" sz="11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IN" sz="1200" dirty="0">
                          <a:solidFill>
                            <a:srgbClr val="1F2C8F"/>
                          </a:solidFill>
                          <a:effectLst/>
                        </a:rPr>
                        <a:t>Statistic</a:t>
                      </a:r>
                      <a:endParaRPr lang="en-IN" sz="11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IN" sz="1200" dirty="0" err="1">
                          <a:solidFill>
                            <a:srgbClr val="1F2C8F"/>
                          </a:solidFill>
                          <a:effectLst/>
                        </a:rPr>
                        <a:t>Df</a:t>
                      </a:r>
                      <a:endParaRPr lang="en-IN" sz="11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IN" sz="1200">
                          <a:solidFill>
                            <a:srgbClr val="1F2C8F"/>
                          </a:solidFill>
                          <a:effectLst/>
                        </a:rPr>
                        <a:t>P</a:t>
                      </a:r>
                      <a:endParaRPr lang="en-IN" sz="11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389655">
                <a:tc>
                  <a:txBody>
                    <a:bodyPr/>
                    <a:lstStyle/>
                    <a:p>
                      <a:pPr algn="just">
                        <a:lnSpc>
                          <a:spcPct val="150000"/>
                        </a:lnSpc>
                        <a:spcAft>
                          <a:spcPts val="0"/>
                        </a:spcAft>
                      </a:pPr>
                      <a:r>
                        <a:rPr lang="en-IN" sz="1200">
                          <a:solidFill>
                            <a:srgbClr val="1F2C8F"/>
                          </a:solidFill>
                          <a:effectLst/>
                        </a:rPr>
                        <a:t>Morning</a:t>
                      </a:r>
                      <a:endParaRPr lang="en-IN" sz="11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IN" sz="1200" dirty="0">
                          <a:solidFill>
                            <a:srgbClr val="1F2C8F"/>
                          </a:solidFill>
                          <a:effectLst/>
                        </a:rPr>
                        <a:t>Evening</a:t>
                      </a:r>
                      <a:endParaRPr lang="en-IN" sz="11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IN" sz="1200" dirty="0">
                          <a:solidFill>
                            <a:srgbClr val="1F2C8F"/>
                          </a:solidFill>
                          <a:effectLst/>
                        </a:rPr>
                        <a:t>Student's </a:t>
                      </a:r>
                      <a:endParaRPr lang="en-IN" sz="11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IN" sz="1200" dirty="0">
                          <a:solidFill>
                            <a:srgbClr val="1F2C8F"/>
                          </a:solidFill>
                          <a:effectLst/>
                        </a:rPr>
                        <a:t>-0.199</a:t>
                      </a:r>
                      <a:endParaRPr lang="en-IN" sz="11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IN" sz="1200" dirty="0">
                          <a:solidFill>
                            <a:srgbClr val="1F2C8F"/>
                          </a:solidFill>
                          <a:effectLst/>
                        </a:rPr>
                        <a:t>2.00</a:t>
                      </a:r>
                      <a:endParaRPr lang="en-IN" sz="11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IN" sz="1200" dirty="0">
                          <a:solidFill>
                            <a:srgbClr val="1F2C8F"/>
                          </a:solidFill>
                          <a:effectLst/>
                        </a:rPr>
                        <a:t>0.861</a:t>
                      </a:r>
                      <a:endParaRPr lang="en-IN" sz="11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bl>
          </a:graphicData>
        </a:graphic>
      </p:graphicFrame>
      <p:graphicFrame>
        <p:nvGraphicFramePr>
          <p:cNvPr id="8" name="Chart 7"/>
          <p:cNvGraphicFramePr/>
          <p:nvPr>
            <p:extLst>
              <p:ext uri="{D42A27DB-BD31-4B8C-83A1-F6EECF244321}">
                <p14:modId xmlns:p14="http://schemas.microsoft.com/office/powerpoint/2010/main" val="3573383094"/>
              </p:ext>
            </p:extLst>
          </p:nvPr>
        </p:nvGraphicFramePr>
        <p:xfrm>
          <a:off x="6197259" y="3429000"/>
          <a:ext cx="5758180" cy="2840990"/>
        </p:xfrm>
        <a:graphic>
          <a:graphicData uri="http://schemas.openxmlformats.org/drawingml/2006/chart">
            <c:chart xmlns:c="http://schemas.openxmlformats.org/drawingml/2006/chart" xmlns:r="http://schemas.openxmlformats.org/officeDocument/2006/relationships" r:id="rId2"/>
          </a:graphicData>
        </a:graphic>
      </p:graphicFrame>
      <p:sp>
        <p:nvSpPr>
          <p:cNvPr id="9" name="Rectangle 8"/>
          <p:cNvSpPr/>
          <p:nvPr/>
        </p:nvSpPr>
        <p:spPr>
          <a:xfrm>
            <a:off x="286603" y="5923127"/>
            <a:ext cx="6250675" cy="8188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50000"/>
              </a:lnSpc>
            </a:pPr>
            <a:endParaRPr lang="en-IN" sz="1400" dirty="0">
              <a:solidFill>
                <a:schemeClr val="tx1"/>
              </a:solidFill>
            </a:endParaRPr>
          </a:p>
        </p:txBody>
      </p:sp>
      <p:sp>
        <p:nvSpPr>
          <p:cNvPr id="11" name="Rectangle 10"/>
          <p:cNvSpPr/>
          <p:nvPr/>
        </p:nvSpPr>
        <p:spPr>
          <a:xfrm>
            <a:off x="6045959" y="2404838"/>
            <a:ext cx="5609230" cy="8433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IN" sz="1400" dirty="0">
                <a:solidFill>
                  <a:srgbClr val="1F2C8F"/>
                </a:solidFill>
              </a:rPr>
              <a:t>Here p value for Two group is greater than 0.05, We conclude that traffic volume for morning and evening is normally distributed.</a:t>
            </a:r>
          </a:p>
        </p:txBody>
      </p:sp>
      <p:sp>
        <p:nvSpPr>
          <p:cNvPr id="12" name="Rectangle 11"/>
          <p:cNvSpPr/>
          <p:nvPr/>
        </p:nvSpPr>
        <p:spPr>
          <a:xfrm>
            <a:off x="163773" y="5684290"/>
            <a:ext cx="6851176" cy="47767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IN" sz="1400" dirty="0">
                <a:solidFill>
                  <a:srgbClr val="1F2C8F"/>
                </a:solidFill>
              </a:rPr>
              <a:t>Here p-value &gt; 0.05 for all variable hence we fail to reject null hypothesis.</a:t>
            </a:r>
          </a:p>
          <a:p>
            <a:pPr algn="just"/>
            <a:r>
              <a:rPr lang="en-IN" sz="1400" b="1" dirty="0">
                <a:solidFill>
                  <a:schemeClr val="tx1"/>
                </a:solidFill>
              </a:rPr>
              <a:t> </a:t>
            </a:r>
            <a:endParaRPr lang="en-IN" sz="1400" dirty="0">
              <a:solidFill>
                <a:schemeClr val="tx1"/>
              </a:solidFill>
            </a:endParaRPr>
          </a:p>
        </p:txBody>
      </p:sp>
      <p:sp>
        <p:nvSpPr>
          <p:cNvPr id="13" name="Rectangle 12"/>
          <p:cNvSpPr/>
          <p:nvPr/>
        </p:nvSpPr>
        <p:spPr>
          <a:xfrm>
            <a:off x="163774" y="6011832"/>
            <a:ext cx="6796584" cy="5800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50000"/>
              </a:lnSpc>
            </a:pPr>
            <a:r>
              <a:rPr lang="en-IN" sz="1400" dirty="0">
                <a:solidFill>
                  <a:srgbClr val="1F2C8F"/>
                </a:solidFill>
              </a:rPr>
              <a:t>This means is no significant difference between morning and evening peak hour traffic volume</a:t>
            </a:r>
            <a:r>
              <a:rPr lang="en-IN" sz="1600" dirty="0">
                <a:solidFill>
                  <a:srgbClr val="1F2C8F"/>
                </a:solidFill>
              </a:rPr>
              <a:t>.</a:t>
            </a:r>
          </a:p>
        </p:txBody>
      </p:sp>
      <p:sp>
        <p:nvSpPr>
          <p:cNvPr id="14" name="Rectangle 13"/>
          <p:cNvSpPr/>
          <p:nvPr/>
        </p:nvSpPr>
        <p:spPr>
          <a:xfrm>
            <a:off x="1705970" y="118837"/>
            <a:ext cx="8732505" cy="8365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rgbClr val="1F2C8F"/>
                </a:solidFill>
              </a:rPr>
              <a:t>Peak Hour Congestion Patterns</a:t>
            </a:r>
            <a:endParaRPr lang="en-IN" sz="3200" b="1" dirty="0">
              <a:solidFill>
                <a:srgbClr val="1F2C8F"/>
              </a:solidFill>
            </a:endParaRPr>
          </a:p>
        </p:txBody>
      </p:sp>
    </p:spTree>
    <p:extLst>
      <p:ext uri="{BB962C8B-B14F-4D97-AF65-F5344CB8AC3E}">
        <p14:creationId xmlns:p14="http://schemas.microsoft.com/office/powerpoint/2010/main" val="35163183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F63A3B-78C7-47BE-AE5E-E10140E04643}" type="slidenum">
              <a:rPr lang="en-US" smtClean="0"/>
              <a:pPr/>
              <a:t>9</a:t>
            </a:fld>
            <a:endParaRPr lang="en-US" dirty="0"/>
          </a:p>
        </p:txBody>
      </p:sp>
      <p:sp>
        <p:nvSpPr>
          <p:cNvPr id="3" name="Rectangle 2"/>
          <p:cNvSpPr/>
          <p:nvPr/>
        </p:nvSpPr>
        <p:spPr>
          <a:xfrm>
            <a:off x="832513" y="-300251"/>
            <a:ext cx="10263117" cy="14318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3600" dirty="0">
              <a:solidFill>
                <a:schemeClr val="tx1"/>
              </a:solidFill>
            </a:endParaRPr>
          </a:p>
        </p:txBody>
      </p:sp>
      <p:sp>
        <p:nvSpPr>
          <p:cNvPr id="4" name="Rectangle 3"/>
          <p:cNvSpPr/>
          <p:nvPr/>
        </p:nvSpPr>
        <p:spPr>
          <a:xfrm>
            <a:off x="245660" y="701702"/>
            <a:ext cx="11696131" cy="61562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Rectangle 4"/>
          <p:cNvSpPr/>
          <p:nvPr/>
        </p:nvSpPr>
        <p:spPr>
          <a:xfrm>
            <a:off x="245660" y="1"/>
            <a:ext cx="11327641" cy="7017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1F2C8F"/>
                </a:solidFill>
              </a:rPr>
              <a:t>Comparison of Peak Hours Congestion Patterns Across Three Circles</a:t>
            </a:r>
            <a:endParaRPr lang="en-IN" sz="2400" b="1" dirty="0">
              <a:solidFill>
                <a:srgbClr val="1F2C8F"/>
              </a:solidFill>
            </a:endParaRPr>
          </a:p>
        </p:txBody>
      </p:sp>
      <p:sp>
        <p:nvSpPr>
          <p:cNvPr id="6" name="Rectangle 5"/>
          <p:cNvSpPr/>
          <p:nvPr/>
        </p:nvSpPr>
        <p:spPr>
          <a:xfrm>
            <a:off x="627797" y="872447"/>
            <a:ext cx="11177516" cy="71635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n-US" sz="1600" dirty="0">
                <a:solidFill>
                  <a:srgbClr val="1F2C8F"/>
                </a:solidFill>
              </a:rPr>
              <a:t>Null hypothesis</a:t>
            </a:r>
            <a:r>
              <a:rPr lang="en-US" sz="1600" b="1" dirty="0">
                <a:solidFill>
                  <a:srgbClr val="1F2C8F"/>
                </a:solidFill>
              </a:rPr>
              <a:t>:</a:t>
            </a:r>
            <a:r>
              <a:rPr lang="en-US" sz="1600" dirty="0">
                <a:solidFill>
                  <a:srgbClr val="1F2C8F"/>
                </a:solidFill>
              </a:rPr>
              <a:t> There is no significant difference between traffic congestion among the three circles.</a:t>
            </a:r>
            <a:endParaRPr lang="en-IN" sz="1600" dirty="0">
              <a:solidFill>
                <a:srgbClr val="1F2C8F"/>
              </a:solidFill>
            </a:endParaRPr>
          </a:p>
          <a:p>
            <a:pPr>
              <a:lnSpc>
                <a:spcPct val="150000"/>
              </a:lnSpc>
            </a:pPr>
            <a:r>
              <a:rPr lang="en-US" sz="1600" dirty="0">
                <a:solidFill>
                  <a:srgbClr val="1F2C8F"/>
                </a:solidFill>
              </a:rPr>
              <a:t>Alternative hypothesis</a:t>
            </a:r>
            <a:r>
              <a:rPr lang="en-US" sz="1600" b="1" dirty="0">
                <a:solidFill>
                  <a:srgbClr val="1F2C8F"/>
                </a:solidFill>
              </a:rPr>
              <a:t>:</a:t>
            </a:r>
            <a:r>
              <a:rPr lang="en-US" sz="1600" dirty="0">
                <a:solidFill>
                  <a:srgbClr val="1F2C8F"/>
                </a:solidFill>
              </a:rPr>
              <a:t> At least one of the circles has a significantly different traffic congestion level.</a:t>
            </a:r>
            <a:endParaRPr lang="en-IN" sz="1600" dirty="0">
              <a:solidFill>
                <a:srgbClr val="1F2C8F"/>
              </a:solidFill>
            </a:endParaRPr>
          </a:p>
          <a:p>
            <a:pPr algn="ctr">
              <a:lnSpc>
                <a:spcPct val="150000"/>
              </a:lnSpc>
            </a:pPr>
            <a:endParaRPr lang="en-IN" sz="1600" dirty="0">
              <a:solidFill>
                <a:srgbClr val="1F2C8F"/>
              </a:solidFill>
            </a:endParaRPr>
          </a:p>
        </p:txBody>
      </p:sp>
      <p:sp>
        <p:nvSpPr>
          <p:cNvPr id="7" name="Rectangle 6"/>
          <p:cNvSpPr/>
          <p:nvPr/>
        </p:nvSpPr>
        <p:spPr>
          <a:xfrm>
            <a:off x="382137" y="2074460"/>
            <a:ext cx="11191164" cy="46265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8" name="Table 7"/>
          <p:cNvGraphicFramePr>
            <a:graphicFrameLocks noGrp="1"/>
          </p:cNvGraphicFramePr>
          <p:nvPr>
            <p:extLst>
              <p:ext uri="{D42A27DB-BD31-4B8C-83A1-F6EECF244321}">
                <p14:modId xmlns:p14="http://schemas.microsoft.com/office/powerpoint/2010/main" val="1581721959"/>
              </p:ext>
            </p:extLst>
          </p:nvPr>
        </p:nvGraphicFramePr>
        <p:xfrm>
          <a:off x="360233" y="1656417"/>
          <a:ext cx="2839086" cy="1198563"/>
        </p:xfrm>
        <a:graphic>
          <a:graphicData uri="http://schemas.openxmlformats.org/drawingml/2006/table">
            <a:tbl>
              <a:tblPr firstRow="1" firstCol="1" bandRow="1">
                <a:tableStyleId>{5940675A-B579-460E-94D1-54222C63F5DA}</a:tableStyleId>
              </a:tblPr>
              <a:tblGrid>
                <a:gridCol w="946362">
                  <a:extLst>
                    <a:ext uri="{9D8B030D-6E8A-4147-A177-3AD203B41FA5}">
                      <a16:colId xmlns:a16="http://schemas.microsoft.com/office/drawing/2014/main" val="20000"/>
                    </a:ext>
                  </a:extLst>
                </a:gridCol>
                <a:gridCol w="946362">
                  <a:extLst>
                    <a:ext uri="{9D8B030D-6E8A-4147-A177-3AD203B41FA5}">
                      <a16:colId xmlns:a16="http://schemas.microsoft.com/office/drawing/2014/main" val="20001"/>
                    </a:ext>
                  </a:extLst>
                </a:gridCol>
                <a:gridCol w="946362">
                  <a:extLst>
                    <a:ext uri="{9D8B030D-6E8A-4147-A177-3AD203B41FA5}">
                      <a16:colId xmlns:a16="http://schemas.microsoft.com/office/drawing/2014/main" val="20002"/>
                    </a:ext>
                  </a:extLst>
                </a:gridCol>
              </a:tblGrid>
              <a:tr h="333375">
                <a:tc gridSpan="3">
                  <a:txBody>
                    <a:bodyPr/>
                    <a:lstStyle/>
                    <a:p>
                      <a:pPr>
                        <a:lnSpc>
                          <a:spcPct val="150000"/>
                        </a:lnSpc>
                        <a:spcAft>
                          <a:spcPts val="0"/>
                        </a:spcAft>
                      </a:pPr>
                      <a:r>
                        <a:rPr lang="en-IN" sz="1200" dirty="0">
                          <a:solidFill>
                            <a:srgbClr val="1F2C8F"/>
                          </a:solidFill>
                          <a:effectLst/>
                        </a:rPr>
                        <a:t>Normality Test (Shapiro-</a:t>
                      </a:r>
                      <a:r>
                        <a:rPr lang="en-IN" sz="1200" dirty="0" err="1">
                          <a:solidFill>
                            <a:srgbClr val="1F2C8F"/>
                          </a:solidFill>
                          <a:effectLst/>
                        </a:rPr>
                        <a:t>Wilk</a:t>
                      </a:r>
                      <a:r>
                        <a:rPr lang="en-IN" sz="1200" dirty="0">
                          <a:solidFill>
                            <a:srgbClr val="1F2C8F"/>
                          </a:solidFill>
                          <a:effectLst/>
                        </a:rPr>
                        <a:t>)</a:t>
                      </a:r>
                      <a:endParaRPr lang="en-IN" sz="12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0000"/>
                  </a:ext>
                </a:extLst>
              </a:tr>
              <a:tr h="345440">
                <a:tc>
                  <a:txBody>
                    <a:bodyPr/>
                    <a:lstStyle/>
                    <a:p>
                      <a:endParaRPr lang="en-IN" sz="1200" dirty="0">
                        <a:solidFill>
                          <a:srgbClr val="1F2C8F"/>
                        </a:solidFill>
                        <a:effectLst/>
                        <a:latin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Aft>
                          <a:spcPts val="0"/>
                        </a:spcAft>
                      </a:pPr>
                      <a:r>
                        <a:rPr lang="en-IN" sz="1200" dirty="0">
                          <a:solidFill>
                            <a:srgbClr val="1F2C8F"/>
                          </a:solidFill>
                          <a:effectLst/>
                        </a:rPr>
                        <a:t>W</a:t>
                      </a:r>
                      <a:endParaRPr lang="en-IN" sz="12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IN" sz="1200" dirty="0">
                          <a:solidFill>
                            <a:srgbClr val="1F2C8F"/>
                          </a:solidFill>
                          <a:effectLst/>
                        </a:rPr>
                        <a:t>P</a:t>
                      </a:r>
                      <a:endParaRPr lang="en-IN" sz="12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320675">
                <a:tc>
                  <a:txBody>
                    <a:bodyPr/>
                    <a:lstStyle/>
                    <a:p>
                      <a:pPr>
                        <a:lnSpc>
                          <a:spcPct val="150000"/>
                        </a:lnSpc>
                        <a:spcAft>
                          <a:spcPts val="0"/>
                        </a:spcAft>
                      </a:pPr>
                      <a:r>
                        <a:rPr lang="en-IN" sz="1200">
                          <a:solidFill>
                            <a:srgbClr val="1F2C8F"/>
                          </a:solidFill>
                          <a:effectLst/>
                        </a:rPr>
                        <a:t>Traffic Volume</a:t>
                      </a:r>
                      <a:endParaRPr lang="en-IN" sz="12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IN" sz="1200" dirty="0">
                          <a:solidFill>
                            <a:srgbClr val="1F2C8F"/>
                          </a:solidFill>
                          <a:effectLst/>
                        </a:rPr>
                        <a:t>0.986</a:t>
                      </a:r>
                      <a:endParaRPr lang="en-IN" sz="12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IN" sz="1200" dirty="0">
                          <a:solidFill>
                            <a:srgbClr val="1F2C8F"/>
                          </a:solidFill>
                          <a:effectLst/>
                        </a:rPr>
                        <a:t>0.977</a:t>
                      </a:r>
                      <a:endParaRPr lang="en-IN" sz="12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2623952371"/>
              </p:ext>
            </p:extLst>
          </p:nvPr>
        </p:nvGraphicFramePr>
        <p:xfrm>
          <a:off x="245660" y="3209597"/>
          <a:ext cx="3357350" cy="1418066"/>
        </p:xfrm>
        <a:graphic>
          <a:graphicData uri="http://schemas.openxmlformats.org/drawingml/2006/table">
            <a:tbl>
              <a:tblPr firstRow="1" firstCol="1" bandRow="1">
                <a:tableStyleId>{5940675A-B579-460E-94D1-54222C63F5DA}</a:tableStyleId>
              </a:tblPr>
              <a:tblGrid>
                <a:gridCol w="671900">
                  <a:extLst>
                    <a:ext uri="{9D8B030D-6E8A-4147-A177-3AD203B41FA5}">
                      <a16:colId xmlns:a16="http://schemas.microsoft.com/office/drawing/2014/main" val="20000"/>
                    </a:ext>
                  </a:extLst>
                </a:gridCol>
                <a:gridCol w="671900">
                  <a:extLst>
                    <a:ext uri="{9D8B030D-6E8A-4147-A177-3AD203B41FA5}">
                      <a16:colId xmlns:a16="http://schemas.microsoft.com/office/drawing/2014/main" val="20001"/>
                    </a:ext>
                  </a:extLst>
                </a:gridCol>
                <a:gridCol w="671900">
                  <a:extLst>
                    <a:ext uri="{9D8B030D-6E8A-4147-A177-3AD203B41FA5}">
                      <a16:colId xmlns:a16="http://schemas.microsoft.com/office/drawing/2014/main" val="20002"/>
                    </a:ext>
                  </a:extLst>
                </a:gridCol>
                <a:gridCol w="671900">
                  <a:extLst>
                    <a:ext uri="{9D8B030D-6E8A-4147-A177-3AD203B41FA5}">
                      <a16:colId xmlns:a16="http://schemas.microsoft.com/office/drawing/2014/main" val="20003"/>
                    </a:ext>
                  </a:extLst>
                </a:gridCol>
                <a:gridCol w="669750">
                  <a:extLst>
                    <a:ext uri="{9D8B030D-6E8A-4147-A177-3AD203B41FA5}">
                      <a16:colId xmlns:a16="http://schemas.microsoft.com/office/drawing/2014/main" val="20004"/>
                    </a:ext>
                  </a:extLst>
                </a:gridCol>
              </a:tblGrid>
              <a:tr h="461684">
                <a:tc gridSpan="5">
                  <a:txBody>
                    <a:bodyPr/>
                    <a:lstStyle/>
                    <a:p>
                      <a:pPr algn="l">
                        <a:lnSpc>
                          <a:spcPct val="150000"/>
                        </a:lnSpc>
                        <a:spcAft>
                          <a:spcPts val="0"/>
                        </a:spcAft>
                      </a:pPr>
                      <a:r>
                        <a:rPr lang="en-IN" sz="1200" dirty="0">
                          <a:solidFill>
                            <a:srgbClr val="1F2C8F"/>
                          </a:solidFill>
                          <a:effectLst/>
                        </a:rPr>
                        <a:t>Homogeneity of Variances Test (Levene's)</a:t>
                      </a:r>
                      <a:endParaRPr lang="en-IN" sz="12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0000"/>
                  </a:ext>
                </a:extLst>
              </a:tr>
              <a:tr h="236985">
                <a:tc>
                  <a:txBody>
                    <a:bodyPr/>
                    <a:lstStyle/>
                    <a:p>
                      <a:pPr algn="l">
                        <a:lnSpc>
                          <a:spcPct val="150000"/>
                        </a:lnSpc>
                        <a:spcAft>
                          <a:spcPts val="0"/>
                        </a:spcAft>
                      </a:pPr>
                      <a:r>
                        <a:rPr lang="en-IN" sz="1200">
                          <a:solidFill>
                            <a:srgbClr val="1F2C8F"/>
                          </a:solidFill>
                          <a:effectLst/>
                        </a:rPr>
                        <a:t> </a:t>
                      </a:r>
                      <a:endParaRPr lang="en-IN" sz="12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IN" sz="1200" dirty="0">
                          <a:solidFill>
                            <a:srgbClr val="1F2C8F"/>
                          </a:solidFill>
                          <a:effectLst/>
                        </a:rPr>
                        <a:t>F</a:t>
                      </a:r>
                      <a:endParaRPr lang="en-IN" sz="12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IN" sz="1200" dirty="0">
                          <a:solidFill>
                            <a:srgbClr val="1F2C8F"/>
                          </a:solidFill>
                          <a:effectLst/>
                        </a:rPr>
                        <a:t>df1</a:t>
                      </a:r>
                      <a:endParaRPr lang="en-IN" sz="12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IN" sz="1200" dirty="0">
                          <a:solidFill>
                            <a:srgbClr val="1F2C8F"/>
                          </a:solidFill>
                          <a:effectLst/>
                        </a:rPr>
                        <a:t>df2</a:t>
                      </a:r>
                      <a:endParaRPr lang="en-IN" sz="12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IN" sz="1200">
                          <a:solidFill>
                            <a:srgbClr val="1F2C8F"/>
                          </a:solidFill>
                          <a:effectLst/>
                        </a:rPr>
                        <a:t>P</a:t>
                      </a:r>
                      <a:endParaRPr lang="en-IN" sz="12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710954">
                <a:tc>
                  <a:txBody>
                    <a:bodyPr/>
                    <a:lstStyle/>
                    <a:p>
                      <a:pPr algn="l">
                        <a:lnSpc>
                          <a:spcPct val="150000"/>
                        </a:lnSpc>
                        <a:spcAft>
                          <a:spcPts val="0"/>
                        </a:spcAft>
                      </a:pPr>
                      <a:r>
                        <a:rPr lang="en-IN" sz="1200">
                          <a:solidFill>
                            <a:srgbClr val="1F2C8F"/>
                          </a:solidFill>
                          <a:effectLst/>
                        </a:rPr>
                        <a:t>Traffic Volume</a:t>
                      </a:r>
                      <a:endParaRPr lang="en-IN" sz="12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IN" sz="1200" dirty="0">
                          <a:solidFill>
                            <a:srgbClr val="1F2C8F"/>
                          </a:solidFill>
                          <a:effectLst/>
                        </a:rPr>
                        <a:t>1.04e+31</a:t>
                      </a:r>
                      <a:endParaRPr lang="en-IN" sz="12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IN" sz="1200" dirty="0">
                          <a:solidFill>
                            <a:srgbClr val="1F2C8F"/>
                          </a:solidFill>
                          <a:effectLst/>
                        </a:rPr>
                        <a:t>2</a:t>
                      </a:r>
                      <a:endParaRPr lang="en-IN" sz="12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IN" sz="1200" dirty="0">
                          <a:solidFill>
                            <a:srgbClr val="1F2C8F"/>
                          </a:solidFill>
                          <a:effectLst/>
                        </a:rPr>
                        <a:t>3</a:t>
                      </a:r>
                      <a:endParaRPr lang="en-IN" sz="12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IN" sz="1200" dirty="0">
                          <a:solidFill>
                            <a:srgbClr val="1F2C8F"/>
                          </a:solidFill>
                          <a:effectLst/>
                        </a:rPr>
                        <a:t>&lt;.001</a:t>
                      </a:r>
                      <a:endParaRPr lang="en-IN" sz="12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bl>
          </a:graphicData>
        </a:graphic>
      </p:graphicFrame>
      <p:graphicFrame>
        <p:nvGraphicFramePr>
          <p:cNvPr id="12" name="Table 11"/>
          <p:cNvGraphicFramePr>
            <a:graphicFrameLocks noGrp="1"/>
          </p:cNvGraphicFramePr>
          <p:nvPr>
            <p:extLst>
              <p:ext uri="{D42A27DB-BD31-4B8C-83A1-F6EECF244321}">
                <p14:modId xmlns:p14="http://schemas.microsoft.com/office/powerpoint/2010/main" val="831368810"/>
              </p:ext>
            </p:extLst>
          </p:nvPr>
        </p:nvGraphicFramePr>
        <p:xfrm>
          <a:off x="360233" y="5082452"/>
          <a:ext cx="3464470" cy="1167329"/>
        </p:xfrm>
        <a:graphic>
          <a:graphicData uri="http://schemas.openxmlformats.org/drawingml/2006/table">
            <a:tbl>
              <a:tblPr firstRow="1" firstCol="1" bandRow="1">
                <a:tableStyleId>{5940675A-B579-460E-94D1-54222C63F5DA}</a:tableStyleId>
              </a:tblPr>
              <a:tblGrid>
                <a:gridCol w="692894">
                  <a:extLst>
                    <a:ext uri="{9D8B030D-6E8A-4147-A177-3AD203B41FA5}">
                      <a16:colId xmlns:a16="http://schemas.microsoft.com/office/drawing/2014/main" val="20000"/>
                    </a:ext>
                  </a:extLst>
                </a:gridCol>
                <a:gridCol w="692894">
                  <a:extLst>
                    <a:ext uri="{9D8B030D-6E8A-4147-A177-3AD203B41FA5}">
                      <a16:colId xmlns:a16="http://schemas.microsoft.com/office/drawing/2014/main" val="20001"/>
                    </a:ext>
                  </a:extLst>
                </a:gridCol>
                <a:gridCol w="692894">
                  <a:extLst>
                    <a:ext uri="{9D8B030D-6E8A-4147-A177-3AD203B41FA5}">
                      <a16:colId xmlns:a16="http://schemas.microsoft.com/office/drawing/2014/main" val="20002"/>
                    </a:ext>
                  </a:extLst>
                </a:gridCol>
                <a:gridCol w="692894">
                  <a:extLst>
                    <a:ext uri="{9D8B030D-6E8A-4147-A177-3AD203B41FA5}">
                      <a16:colId xmlns:a16="http://schemas.microsoft.com/office/drawing/2014/main" val="20003"/>
                    </a:ext>
                  </a:extLst>
                </a:gridCol>
                <a:gridCol w="692894">
                  <a:extLst>
                    <a:ext uri="{9D8B030D-6E8A-4147-A177-3AD203B41FA5}">
                      <a16:colId xmlns:a16="http://schemas.microsoft.com/office/drawing/2014/main" val="20004"/>
                    </a:ext>
                  </a:extLst>
                </a:gridCol>
              </a:tblGrid>
              <a:tr h="225491">
                <a:tc gridSpan="5">
                  <a:txBody>
                    <a:bodyPr/>
                    <a:lstStyle/>
                    <a:p>
                      <a:pPr>
                        <a:lnSpc>
                          <a:spcPct val="150000"/>
                        </a:lnSpc>
                        <a:spcAft>
                          <a:spcPts val="0"/>
                        </a:spcAft>
                      </a:pPr>
                      <a:r>
                        <a:rPr lang="en-IN" sz="1200" dirty="0">
                          <a:solidFill>
                            <a:srgbClr val="1F2C8F"/>
                          </a:solidFill>
                          <a:effectLst/>
                        </a:rPr>
                        <a:t>One-Way ANOVA (Welch's)</a:t>
                      </a:r>
                      <a:endParaRPr lang="en-IN" sz="11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0000"/>
                  </a:ext>
                </a:extLst>
              </a:tr>
              <a:tr h="225491">
                <a:tc>
                  <a:txBody>
                    <a:bodyPr/>
                    <a:lstStyle/>
                    <a:p>
                      <a:pPr algn="just">
                        <a:lnSpc>
                          <a:spcPct val="150000"/>
                        </a:lnSpc>
                        <a:spcAft>
                          <a:spcPts val="0"/>
                        </a:spcAft>
                      </a:pPr>
                      <a:r>
                        <a:rPr lang="en-IN" sz="1200" dirty="0">
                          <a:solidFill>
                            <a:srgbClr val="1F2C8F"/>
                          </a:solidFill>
                          <a:effectLst/>
                        </a:rPr>
                        <a:t> </a:t>
                      </a:r>
                      <a:endParaRPr lang="en-IN" sz="11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IN" sz="1200" dirty="0">
                          <a:solidFill>
                            <a:srgbClr val="1F2C8F"/>
                          </a:solidFill>
                          <a:effectLst/>
                        </a:rPr>
                        <a:t>F</a:t>
                      </a:r>
                      <a:endParaRPr lang="en-IN" sz="11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IN" sz="1200" dirty="0">
                          <a:solidFill>
                            <a:srgbClr val="1F2C8F"/>
                          </a:solidFill>
                          <a:effectLst/>
                        </a:rPr>
                        <a:t>df1</a:t>
                      </a:r>
                      <a:endParaRPr lang="en-IN" sz="11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IN" sz="1200">
                          <a:solidFill>
                            <a:srgbClr val="1F2C8F"/>
                          </a:solidFill>
                          <a:effectLst/>
                        </a:rPr>
                        <a:t>df2</a:t>
                      </a:r>
                      <a:endParaRPr lang="en-IN" sz="11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IN" sz="1200" dirty="0">
                          <a:solidFill>
                            <a:srgbClr val="1F2C8F"/>
                          </a:solidFill>
                          <a:effectLst/>
                        </a:rPr>
                        <a:t>P</a:t>
                      </a:r>
                      <a:endParaRPr lang="en-IN" sz="11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676473">
                <a:tc>
                  <a:txBody>
                    <a:bodyPr/>
                    <a:lstStyle/>
                    <a:p>
                      <a:pPr algn="just">
                        <a:lnSpc>
                          <a:spcPct val="150000"/>
                        </a:lnSpc>
                        <a:spcAft>
                          <a:spcPts val="0"/>
                        </a:spcAft>
                      </a:pPr>
                      <a:r>
                        <a:rPr lang="en-IN" sz="1200">
                          <a:solidFill>
                            <a:srgbClr val="1F2C8F"/>
                          </a:solidFill>
                          <a:effectLst/>
                        </a:rPr>
                        <a:t>Traffic Volume</a:t>
                      </a:r>
                      <a:endParaRPr lang="en-IN" sz="11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IN" sz="1200">
                          <a:solidFill>
                            <a:srgbClr val="1F2C8F"/>
                          </a:solidFill>
                          <a:effectLst/>
                        </a:rPr>
                        <a:t>41.2</a:t>
                      </a:r>
                      <a:endParaRPr lang="en-IN" sz="11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IN" sz="1200" dirty="0">
                          <a:solidFill>
                            <a:srgbClr val="1F2C8F"/>
                          </a:solidFill>
                          <a:effectLst/>
                        </a:rPr>
                        <a:t>2</a:t>
                      </a:r>
                      <a:endParaRPr lang="en-IN" sz="11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IN" sz="1200" dirty="0">
                          <a:solidFill>
                            <a:srgbClr val="1F2C8F"/>
                          </a:solidFill>
                          <a:effectLst/>
                        </a:rPr>
                        <a:t>1.72</a:t>
                      </a:r>
                      <a:endParaRPr lang="en-IN" sz="11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IN" sz="1200" dirty="0">
                          <a:solidFill>
                            <a:srgbClr val="1F2C8F"/>
                          </a:solidFill>
                          <a:effectLst/>
                        </a:rPr>
                        <a:t>0.035</a:t>
                      </a:r>
                      <a:endParaRPr lang="en-IN" sz="11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bl>
          </a:graphicData>
        </a:graphic>
      </p:graphicFrame>
      <p:sp>
        <p:nvSpPr>
          <p:cNvPr id="13" name="Rectangle 12"/>
          <p:cNvSpPr/>
          <p:nvPr/>
        </p:nvSpPr>
        <p:spPr>
          <a:xfrm>
            <a:off x="4358397" y="3586941"/>
            <a:ext cx="6018663" cy="5049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600" dirty="0">
                <a:solidFill>
                  <a:srgbClr val="1F2C8F"/>
                </a:solidFill>
              </a:rPr>
              <a:t>Here p value less than 0.05, We conclude that variances are not equal.</a:t>
            </a:r>
          </a:p>
        </p:txBody>
      </p:sp>
      <p:sp>
        <p:nvSpPr>
          <p:cNvPr id="14" name="Rectangle 13"/>
          <p:cNvSpPr/>
          <p:nvPr/>
        </p:nvSpPr>
        <p:spPr>
          <a:xfrm>
            <a:off x="3849063" y="1713048"/>
            <a:ext cx="7083188" cy="9463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IN" sz="1600" dirty="0">
                <a:solidFill>
                  <a:srgbClr val="1F2C8F"/>
                </a:solidFill>
              </a:rPr>
              <a:t>Here p value for three group is greater than 0.05, We conclude that traffic volume for morning and evening is normally distributed.</a:t>
            </a:r>
          </a:p>
          <a:p>
            <a:pPr algn="just"/>
            <a:r>
              <a:rPr lang="en-IN" sz="1400" dirty="0">
                <a:solidFill>
                  <a:srgbClr val="1F2C8F"/>
                </a:solidFill>
              </a:rPr>
              <a:t> </a:t>
            </a:r>
          </a:p>
        </p:txBody>
      </p:sp>
      <p:sp>
        <p:nvSpPr>
          <p:cNvPr id="15" name="Rectangle 14"/>
          <p:cNvSpPr/>
          <p:nvPr/>
        </p:nvSpPr>
        <p:spPr>
          <a:xfrm>
            <a:off x="4358397" y="5464665"/>
            <a:ext cx="6681210" cy="3957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50000"/>
              </a:lnSpc>
            </a:pPr>
            <a:r>
              <a:rPr lang="en-IN" sz="1600" dirty="0">
                <a:solidFill>
                  <a:srgbClr val="1F2C8F"/>
                </a:solidFill>
              </a:rPr>
              <a:t>Here p- value (0.035) &lt; 0.05 for all variable hence we reject null hypothesis.</a:t>
            </a:r>
          </a:p>
          <a:p>
            <a:pPr algn="just"/>
            <a:r>
              <a:rPr lang="en-IN" sz="1600" dirty="0">
                <a:solidFill>
                  <a:srgbClr val="1F2C8F"/>
                </a:solidFill>
              </a:rPr>
              <a:t>This means is a significant difference in traffic volume across the different groups</a:t>
            </a:r>
            <a:r>
              <a:rPr lang="en-IN" sz="1600" dirty="0">
                <a:solidFill>
                  <a:schemeClr val="tx1">
                    <a:lumMod val="65000"/>
                    <a:lumOff val="35000"/>
                  </a:schemeClr>
                </a:solidFill>
              </a:rPr>
              <a:t>.</a:t>
            </a:r>
          </a:p>
        </p:txBody>
      </p:sp>
    </p:spTree>
    <p:extLst>
      <p:ext uri="{BB962C8B-B14F-4D97-AF65-F5344CB8AC3E}">
        <p14:creationId xmlns:p14="http://schemas.microsoft.com/office/powerpoint/2010/main" val="17636976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B219B-7E3A-7E84-6386-37313F0CFB09}"/>
              </a:ext>
            </a:extLst>
          </p:cNvPr>
          <p:cNvSpPr>
            <a:spLocks noGrp="1"/>
          </p:cNvSpPr>
          <p:nvPr>
            <p:ph type="title"/>
          </p:nvPr>
        </p:nvSpPr>
        <p:spPr>
          <a:xfrm>
            <a:off x="530813" y="-535398"/>
            <a:ext cx="7023378" cy="2495028"/>
          </a:xfrm>
        </p:spPr>
        <p:txBody>
          <a:bodyPr/>
          <a:lstStyle/>
          <a:p>
            <a:r>
              <a:rPr lang="en-IN" sz="2800" b="1" dirty="0"/>
              <a:t>Accident Statistics &amp; Black Spots:</a:t>
            </a:r>
            <a:br>
              <a:rPr lang="en-IN" sz="2800" dirty="0"/>
            </a:br>
            <a:endParaRPr lang="en-US" sz="2800" dirty="0"/>
          </a:p>
        </p:txBody>
      </p:sp>
      <p:sp>
        <p:nvSpPr>
          <p:cNvPr id="3" name="Text Placeholder 2">
            <a:extLst>
              <a:ext uri="{FF2B5EF4-FFF2-40B4-BE49-F238E27FC236}">
                <a16:creationId xmlns:a16="http://schemas.microsoft.com/office/drawing/2014/main" id="{A2E339BF-E6D7-DD0E-AF02-6813852EE723}"/>
              </a:ext>
            </a:extLst>
          </p:cNvPr>
          <p:cNvSpPr>
            <a:spLocks noGrp="1"/>
          </p:cNvSpPr>
          <p:nvPr>
            <p:ph idx="1"/>
          </p:nvPr>
        </p:nvSpPr>
        <p:spPr>
          <a:xfrm>
            <a:off x="619562" y="1839912"/>
            <a:ext cx="5792955" cy="4787758"/>
          </a:xfrm>
        </p:spPr>
        <p:txBody>
          <a:bodyPr>
            <a:normAutofit fontScale="92500" lnSpcReduction="10000"/>
          </a:bodyPr>
          <a:lstStyle/>
          <a:p>
            <a:r>
              <a:rPr lang="en-US" sz="2800" dirty="0">
                <a:ln>
                  <a:noFill/>
                </a:ln>
                <a:effectLst>
                  <a:outerShdw blurRad="38100" dist="19050" dir="2700000" algn="tl">
                    <a:schemeClr val="dk1">
                      <a:alpha val="40000"/>
                    </a:schemeClr>
                  </a:outerShdw>
                </a:effectLst>
                <a:latin typeface="Times New Roman" panose="02020603050405020304" pitchFamily="18" charset="0"/>
                <a:ea typeface="Times New Roman" panose="02020603050405020304" pitchFamily="18" charset="0"/>
              </a:rPr>
              <a:t>•  </a:t>
            </a:r>
            <a:r>
              <a:rPr lang="en-US" sz="2800" dirty="0">
                <a:ln>
                  <a:noFill/>
                </a:ln>
                <a:solidFill>
                  <a:srgbClr val="1F2C8F"/>
                </a:solidFill>
                <a:latin typeface="Times New Roman" panose="02020603050405020304" pitchFamily="18" charset="0"/>
                <a:ea typeface="Times New Roman" panose="02020603050405020304" pitchFamily="18" charset="0"/>
              </a:rPr>
              <a:t>INSIGHTS</a:t>
            </a:r>
          </a:p>
          <a:p>
            <a:endParaRPr lang="en-US" sz="2800" dirty="0">
              <a:ln>
                <a:noFill/>
              </a:ln>
              <a:solidFill>
                <a:srgbClr val="1F2C8F"/>
              </a:solidFill>
              <a:latin typeface="Times New Roman" panose="02020603050405020304" pitchFamily="18" charset="0"/>
              <a:ea typeface="Times New Roman" panose="02020603050405020304" pitchFamily="18" charset="0"/>
            </a:endParaRPr>
          </a:p>
          <a:p>
            <a:pPr marL="285750" indent="-285750" algn="just">
              <a:lnSpc>
                <a:spcPct val="150000"/>
              </a:lnSpc>
              <a:buFont typeface="Wingdings 3" panose="05040102010807070707" pitchFamily="18" charset="2"/>
              <a:buChar char="Ê"/>
            </a:pPr>
            <a:r>
              <a:rPr lang="en-US" sz="1800" dirty="0">
                <a:ln>
                  <a:noFill/>
                </a:ln>
                <a:solidFill>
                  <a:srgbClr val="1F2C8F"/>
                </a:solidFill>
                <a:latin typeface="Segoe UI Emoji" panose="020B0502040204020203" pitchFamily="34" charset="0"/>
                <a:ea typeface="Segoe UI Emoji" panose="020B0502040204020203" pitchFamily="34" charset="0"/>
              </a:rPr>
              <a:t>Thaltej Circle is most accident-prone area, with the highest total accidents, injury accidents, and property damage accident</a:t>
            </a:r>
            <a:r>
              <a:rPr lang="en-US" sz="1800" dirty="0">
                <a:ln>
                  <a:noFill/>
                </a:ln>
                <a:solidFill>
                  <a:srgbClr val="1F2C8F"/>
                </a:solidFill>
                <a:effectLst>
                  <a:outerShdw blurRad="38100" dist="19050" dir="2700000" algn="tl">
                    <a:schemeClr val="dk1">
                      <a:alpha val="40000"/>
                    </a:schemeClr>
                  </a:outerShdw>
                </a:effectLst>
                <a:latin typeface="Segoe UI Emoji" panose="020B0502040204020203" pitchFamily="34" charset="0"/>
                <a:ea typeface="Segoe UI Emoji" panose="020B0502040204020203" pitchFamily="34" charset="0"/>
              </a:rPr>
              <a:t>.</a:t>
            </a:r>
          </a:p>
          <a:p>
            <a:pPr algn="just">
              <a:lnSpc>
                <a:spcPct val="150000"/>
              </a:lnSpc>
            </a:pPr>
            <a:endParaRPr lang="en-IN" sz="1800" dirty="0">
              <a:solidFill>
                <a:srgbClr val="1F2C8F"/>
              </a:solidFill>
              <a:effectLst/>
              <a:latin typeface="Segoe UI Emoji" panose="020B0502040204020203" pitchFamily="34" charset="0"/>
              <a:ea typeface="Segoe UI Emoji" panose="020B0502040204020203" pitchFamily="34" charset="0"/>
            </a:endParaRPr>
          </a:p>
          <a:p>
            <a:pPr marL="285750" indent="-285750" algn="just">
              <a:lnSpc>
                <a:spcPct val="150000"/>
              </a:lnSpc>
              <a:buFont typeface="Wingdings 3" panose="05040102010807070707" pitchFamily="18" charset="2"/>
              <a:buChar char="Ê"/>
            </a:pPr>
            <a:r>
              <a:rPr lang="en-US" sz="1800" dirty="0">
                <a:ln>
                  <a:noFill/>
                </a:ln>
                <a:solidFill>
                  <a:srgbClr val="1F2C8F"/>
                </a:solidFill>
                <a:latin typeface="Segoe UI Emoji" panose="020B0502040204020203" pitchFamily="34" charset="0"/>
                <a:ea typeface="Segoe UI Emoji" panose="020B0502040204020203" pitchFamily="34" charset="0"/>
              </a:rPr>
              <a:t>Despite having fewer total accident, Chandlodiya and Gurudwara Circle have a higher proportion of fatal accident compared to other location</a:t>
            </a:r>
          </a:p>
          <a:p>
            <a:pPr algn="just">
              <a:lnSpc>
                <a:spcPct val="150000"/>
              </a:lnSpc>
            </a:pPr>
            <a:endParaRPr lang="en-IN" sz="1800" dirty="0">
              <a:solidFill>
                <a:srgbClr val="1F2C8F"/>
              </a:solidFill>
              <a:effectLst/>
              <a:latin typeface="Segoe UI Emoji" panose="020B0502040204020203" pitchFamily="34" charset="0"/>
              <a:ea typeface="Segoe UI Emoji" panose="020B0502040204020203" pitchFamily="34" charset="0"/>
            </a:endParaRPr>
          </a:p>
          <a:p>
            <a:pPr marL="285750" indent="-285750" algn="just">
              <a:lnSpc>
                <a:spcPct val="150000"/>
              </a:lnSpc>
              <a:buFont typeface="Wingdings 3" panose="05040102010807070707" pitchFamily="18" charset="2"/>
              <a:buChar char="Ê"/>
            </a:pPr>
            <a:r>
              <a:rPr lang="en-US" sz="1800" dirty="0">
                <a:ln>
                  <a:noFill/>
                </a:ln>
                <a:solidFill>
                  <a:srgbClr val="1F2C8F"/>
                </a:solidFill>
                <a:effectLst>
                  <a:outerShdw blurRad="38100" dist="19050" dir="2700000" algn="tl">
                    <a:schemeClr val="dk1">
                      <a:alpha val="40000"/>
                    </a:schemeClr>
                  </a:outerShdw>
                </a:effectLst>
                <a:latin typeface="Segoe UI Emoji" panose="020B0502040204020203" pitchFamily="34" charset="0"/>
                <a:ea typeface="Segoe UI Emoji" panose="020B0502040204020203" pitchFamily="34" charset="0"/>
              </a:rPr>
              <a:t> </a:t>
            </a:r>
            <a:r>
              <a:rPr lang="en-US" sz="1800" dirty="0">
                <a:ln>
                  <a:noFill/>
                </a:ln>
                <a:solidFill>
                  <a:srgbClr val="1F2C8F"/>
                </a:solidFill>
                <a:latin typeface="Segoe UI Emoji" panose="020B0502040204020203" pitchFamily="34" charset="0"/>
                <a:ea typeface="Segoe UI Emoji" panose="020B0502040204020203" pitchFamily="34" charset="0"/>
              </a:rPr>
              <a:t>Injury accidents are the most common type of accident across all location accounting for more than half of all accidents.</a:t>
            </a:r>
            <a:endParaRPr lang="en-IN" sz="1800" dirty="0">
              <a:solidFill>
                <a:srgbClr val="1F2C8F"/>
              </a:solidFill>
              <a:latin typeface="Segoe UI Emoji" panose="020B0502040204020203" pitchFamily="34" charset="0"/>
              <a:ea typeface="Segoe UI Emoji" panose="020B0502040204020203" pitchFamily="34" charset="0"/>
            </a:endParaRPr>
          </a:p>
          <a:p>
            <a:endParaRPr lang="en-US" sz="1400" dirty="0">
              <a:latin typeface="Sabon Next LT (Body)"/>
              <a:cs typeface="Arial" panose="020B0604020202020204" pitchFamily="34" charset="0"/>
            </a:endParaRPr>
          </a:p>
        </p:txBody>
      </p:sp>
      <p:sp>
        <p:nvSpPr>
          <p:cNvPr id="14" name="Picture Placeholder 13">
            <a:extLst>
              <a:ext uri="{FF2B5EF4-FFF2-40B4-BE49-F238E27FC236}">
                <a16:creationId xmlns:a16="http://schemas.microsoft.com/office/drawing/2014/main" id="{F9FE4024-D7A4-F0CD-6793-82203676B3CE}"/>
              </a:ext>
            </a:extLst>
          </p:cNvPr>
          <p:cNvSpPr>
            <a:spLocks noGrp="1"/>
          </p:cNvSpPr>
          <p:nvPr>
            <p:ph type="pic" sz="quarter" idx="11"/>
          </p:nvPr>
        </p:nvSpPr>
        <p:spPr/>
      </p:sp>
      <p:pic>
        <p:nvPicPr>
          <p:cNvPr id="15" name="Picture 14">
            <a:extLst>
              <a:ext uri="{FF2B5EF4-FFF2-40B4-BE49-F238E27FC236}">
                <a16:creationId xmlns:a16="http://schemas.microsoft.com/office/drawing/2014/main" id="{3B73FE31-5A89-D60B-FEBD-D67D26A820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14194" y="410780"/>
            <a:ext cx="4426707" cy="6447220"/>
          </a:xfrm>
          <a:prstGeom prst="rect">
            <a:avLst/>
          </a:prstGeom>
          <a:ln>
            <a:noFill/>
          </a:ln>
        </p:spPr>
      </p:pic>
      <p:sp>
        <p:nvSpPr>
          <p:cNvPr id="17" name="TextBox 75">
            <a:extLst>
              <a:ext uri="{FF2B5EF4-FFF2-40B4-BE49-F238E27FC236}">
                <a16:creationId xmlns:a16="http://schemas.microsoft.com/office/drawing/2014/main" id="{563BD7C5-4352-438D-AD70-9AE76295FC88}"/>
              </a:ext>
            </a:extLst>
          </p:cNvPr>
          <p:cNvSpPr txBox="1"/>
          <p:nvPr/>
        </p:nvSpPr>
        <p:spPr>
          <a:xfrm>
            <a:off x="9627546" y="1378902"/>
            <a:ext cx="1171633" cy="461010"/>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p>
            <a:pPr>
              <a:buNone/>
            </a:pPr>
            <a:r>
              <a:rPr lang="en-US" sz="1100" b="1" dirty="0">
                <a:solidFill>
                  <a:srgbClr val="000000"/>
                </a:solidFill>
                <a:effectLst/>
                <a:ea typeface="Times New Roman" panose="02020603050405020304" pitchFamily="18" charset="0"/>
                <a:cs typeface="Times New Roman" panose="02020603050405020304" pitchFamily="18" charset="0"/>
              </a:rPr>
              <a:t>Chandlodiya</a:t>
            </a:r>
            <a:endParaRPr lang="en-IN" sz="1100" dirty="0">
              <a:effectLst/>
              <a:latin typeface="Times New Roman" panose="02020603050405020304" pitchFamily="18" charset="0"/>
              <a:ea typeface="Times New Roman" panose="02020603050405020304" pitchFamily="18" charset="0"/>
            </a:endParaRPr>
          </a:p>
          <a:p>
            <a:pPr algn="ctr"/>
            <a:r>
              <a:rPr lang="en-US" sz="1100" b="1" dirty="0">
                <a:solidFill>
                  <a:srgbClr val="000000"/>
                </a:solidFill>
                <a:effectLst/>
                <a:ea typeface="Times New Roman" panose="02020603050405020304" pitchFamily="18" charset="0"/>
                <a:cs typeface="Times New Roman" panose="02020603050405020304" pitchFamily="18" charset="0"/>
              </a:rPr>
              <a:t>25</a:t>
            </a:r>
            <a:endParaRPr lang="en-IN" sz="1100" dirty="0">
              <a:effectLst/>
              <a:latin typeface="Times New Roman" panose="02020603050405020304" pitchFamily="18" charset="0"/>
              <a:ea typeface="Times New Roman" panose="02020603050405020304" pitchFamily="18" charset="0"/>
            </a:endParaRPr>
          </a:p>
        </p:txBody>
      </p:sp>
      <p:sp>
        <p:nvSpPr>
          <p:cNvPr id="18" name="TextBox 86">
            <a:extLst>
              <a:ext uri="{FF2B5EF4-FFF2-40B4-BE49-F238E27FC236}">
                <a16:creationId xmlns:a16="http://schemas.microsoft.com/office/drawing/2014/main" id="{A9B9A4DE-486B-444C-AA04-42C0471EF9ED}"/>
              </a:ext>
            </a:extLst>
          </p:cNvPr>
          <p:cNvSpPr txBox="1"/>
          <p:nvPr/>
        </p:nvSpPr>
        <p:spPr>
          <a:xfrm>
            <a:off x="8024466" y="2511107"/>
            <a:ext cx="1171489" cy="464185"/>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p>
            <a:pPr fontAlgn="base">
              <a:buNone/>
            </a:pPr>
            <a:r>
              <a:rPr lang="en-US" sz="1100" b="1" dirty="0">
                <a:solidFill>
                  <a:srgbClr val="000000"/>
                </a:solidFill>
                <a:effectLst/>
                <a:ea typeface="Times New Roman" panose="02020603050405020304" pitchFamily="18" charset="0"/>
                <a:cs typeface="Times New Roman" panose="02020603050405020304" pitchFamily="18" charset="0"/>
              </a:rPr>
              <a:t>Thaltej Circle</a:t>
            </a:r>
            <a:endParaRPr lang="en-IN" sz="1100" dirty="0">
              <a:effectLst/>
              <a:latin typeface="Times New Roman" panose="02020603050405020304" pitchFamily="18" charset="0"/>
              <a:ea typeface="Times New Roman" panose="02020603050405020304" pitchFamily="18" charset="0"/>
            </a:endParaRPr>
          </a:p>
          <a:p>
            <a:pPr algn="ctr"/>
            <a:r>
              <a:rPr lang="en-US" sz="1100" b="1" dirty="0">
                <a:solidFill>
                  <a:srgbClr val="000000"/>
                </a:solidFill>
                <a:effectLst/>
                <a:ea typeface="Times New Roman" panose="02020603050405020304" pitchFamily="18" charset="0"/>
                <a:cs typeface="Times New Roman" panose="02020603050405020304" pitchFamily="18" charset="0"/>
              </a:rPr>
              <a:t>43</a:t>
            </a:r>
            <a:endParaRPr lang="en-IN" sz="1100" dirty="0">
              <a:effectLst/>
              <a:latin typeface="Times New Roman" panose="02020603050405020304" pitchFamily="18" charset="0"/>
              <a:ea typeface="Times New Roman" panose="02020603050405020304" pitchFamily="18" charset="0"/>
            </a:endParaRPr>
          </a:p>
        </p:txBody>
      </p:sp>
      <p:sp>
        <p:nvSpPr>
          <p:cNvPr id="19" name="TextBox 83">
            <a:extLst>
              <a:ext uri="{FF2B5EF4-FFF2-40B4-BE49-F238E27FC236}">
                <a16:creationId xmlns:a16="http://schemas.microsoft.com/office/drawing/2014/main" id="{40ED4C13-2BD1-4FD8-BD9E-2D178756CA37}"/>
              </a:ext>
            </a:extLst>
          </p:cNvPr>
          <p:cNvSpPr txBox="1"/>
          <p:nvPr/>
        </p:nvSpPr>
        <p:spPr>
          <a:xfrm>
            <a:off x="8994133" y="3549173"/>
            <a:ext cx="1448731" cy="464185"/>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p>
            <a:pPr>
              <a:buNone/>
            </a:pPr>
            <a:r>
              <a:rPr lang="en-US" sz="1100" b="1" dirty="0">
                <a:solidFill>
                  <a:srgbClr val="000000"/>
                </a:solidFill>
                <a:effectLst/>
                <a:ea typeface="Times New Roman" panose="02020603050405020304" pitchFamily="18" charset="0"/>
                <a:cs typeface="Times New Roman" panose="02020603050405020304" pitchFamily="18" charset="0"/>
              </a:rPr>
              <a:t>Gurudwara Circle</a:t>
            </a:r>
            <a:endParaRPr lang="en-IN" sz="1100" dirty="0">
              <a:effectLst/>
              <a:latin typeface="Times New Roman" panose="02020603050405020304" pitchFamily="18" charset="0"/>
              <a:ea typeface="Times New Roman" panose="02020603050405020304" pitchFamily="18" charset="0"/>
            </a:endParaRPr>
          </a:p>
          <a:p>
            <a:pPr algn="ctr"/>
            <a:r>
              <a:rPr lang="en-US" sz="1100" b="1" dirty="0">
                <a:solidFill>
                  <a:srgbClr val="000000"/>
                </a:solidFill>
                <a:effectLst/>
                <a:ea typeface="Times New Roman" panose="02020603050405020304" pitchFamily="18" charset="0"/>
                <a:cs typeface="Times New Roman" panose="02020603050405020304" pitchFamily="18" charset="0"/>
              </a:rPr>
              <a:t>22</a:t>
            </a:r>
            <a:endParaRPr lang="en-IN" sz="1100" dirty="0">
              <a:effectLst/>
              <a:latin typeface="Times New Roman" panose="02020603050405020304" pitchFamily="18" charset="0"/>
              <a:ea typeface="Times New Roman" panose="02020603050405020304" pitchFamily="18" charset="0"/>
            </a:endParaRPr>
          </a:p>
        </p:txBody>
      </p:sp>
      <p:sp>
        <p:nvSpPr>
          <p:cNvPr id="20" name="TextBox 62">
            <a:extLst>
              <a:ext uri="{FF2B5EF4-FFF2-40B4-BE49-F238E27FC236}">
                <a16:creationId xmlns:a16="http://schemas.microsoft.com/office/drawing/2014/main" id="{F2766567-4817-D93D-D024-7536FC73FE73}"/>
              </a:ext>
            </a:extLst>
          </p:cNvPr>
          <p:cNvSpPr txBox="1"/>
          <p:nvPr/>
        </p:nvSpPr>
        <p:spPr>
          <a:xfrm>
            <a:off x="7622511" y="4193785"/>
            <a:ext cx="803910" cy="483870"/>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p>
            <a:pPr>
              <a:buNone/>
            </a:pPr>
            <a:r>
              <a:rPr lang="en-US" sz="1100" b="1">
                <a:solidFill>
                  <a:srgbClr val="000000"/>
                </a:solidFill>
                <a:effectLst/>
                <a:ea typeface="Times New Roman" panose="02020603050405020304" pitchFamily="18" charset="0"/>
                <a:cs typeface="Times New Roman" panose="02020603050405020304" pitchFamily="18" charset="0"/>
              </a:rPr>
              <a:t>Karnavati</a:t>
            </a:r>
            <a:endParaRPr lang="en-IN" sz="1100">
              <a:effectLst/>
              <a:latin typeface="Times New Roman" panose="02020603050405020304" pitchFamily="18" charset="0"/>
              <a:ea typeface="Times New Roman" panose="02020603050405020304" pitchFamily="18" charset="0"/>
            </a:endParaRPr>
          </a:p>
          <a:p>
            <a:pPr algn="ctr"/>
            <a:r>
              <a:rPr lang="en-US" sz="1100" b="1">
                <a:solidFill>
                  <a:srgbClr val="000000"/>
                </a:solidFill>
                <a:effectLst/>
                <a:ea typeface="Times New Roman" panose="02020603050405020304" pitchFamily="18" charset="0"/>
                <a:cs typeface="Times New Roman" panose="02020603050405020304" pitchFamily="18" charset="0"/>
              </a:rPr>
              <a:t>35</a:t>
            </a:r>
            <a:endParaRPr lang="en-IN" sz="1100">
              <a:effectLst/>
              <a:latin typeface="Times New Roman" panose="02020603050405020304" pitchFamily="18" charset="0"/>
              <a:ea typeface="Times New Roman" panose="02020603050405020304" pitchFamily="18" charset="0"/>
            </a:endParaRPr>
          </a:p>
        </p:txBody>
      </p:sp>
      <p:sp>
        <p:nvSpPr>
          <p:cNvPr id="21" name="TextBox 77">
            <a:extLst>
              <a:ext uri="{FF2B5EF4-FFF2-40B4-BE49-F238E27FC236}">
                <a16:creationId xmlns:a16="http://schemas.microsoft.com/office/drawing/2014/main" id="{D6CC9B39-08F1-433B-A5E4-4BC812045C4B}"/>
              </a:ext>
            </a:extLst>
          </p:cNvPr>
          <p:cNvSpPr txBox="1"/>
          <p:nvPr/>
        </p:nvSpPr>
        <p:spPr>
          <a:xfrm>
            <a:off x="7728542" y="5434503"/>
            <a:ext cx="1411605" cy="461645"/>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p>
            <a:pPr algn="ctr">
              <a:buNone/>
            </a:pPr>
            <a:r>
              <a:rPr lang="en-US" sz="1100" b="1" dirty="0">
                <a:solidFill>
                  <a:srgbClr val="000000"/>
                </a:solidFill>
                <a:effectLst/>
                <a:ea typeface="Times New Roman" panose="02020603050405020304" pitchFamily="18" charset="0"/>
                <a:cs typeface="Times New Roman" panose="02020603050405020304" pitchFamily="18" charset="0"/>
              </a:rPr>
              <a:t>Sanand Cross Road      35</a:t>
            </a:r>
            <a:endParaRPr lang="en-IN" sz="1100" dirty="0">
              <a:effectLst/>
              <a:latin typeface="Times New Roman" panose="02020603050405020304" pitchFamily="18" charset="0"/>
              <a:ea typeface="Times New Roman" panose="02020603050405020304" pitchFamily="18" charset="0"/>
            </a:endParaRPr>
          </a:p>
          <a:p>
            <a:pPr algn="ctr"/>
            <a:r>
              <a:rPr lang="en-US" sz="1100" b="1" dirty="0">
                <a:solidFill>
                  <a:srgbClr val="000000"/>
                </a:solidFill>
                <a:effectLst/>
                <a:ea typeface="Times New Roman" panose="02020603050405020304" pitchFamily="18" charset="0"/>
                <a:cs typeface="Times New Roman" panose="02020603050405020304" pitchFamily="18" charset="0"/>
              </a:rPr>
              <a:t>25</a:t>
            </a:r>
            <a:endParaRPr lang="en-IN" sz="1100" dirty="0">
              <a:effectLst/>
              <a:latin typeface="Times New Roman" panose="02020603050405020304" pitchFamily="18" charset="0"/>
              <a:ea typeface="Times New Roman" panose="02020603050405020304" pitchFamily="18" charset="0"/>
            </a:endParaRPr>
          </a:p>
        </p:txBody>
      </p:sp>
      <p:sp>
        <p:nvSpPr>
          <p:cNvPr id="22" name="TextBox 87">
            <a:extLst>
              <a:ext uri="{FF2B5EF4-FFF2-40B4-BE49-F238E27FC236}">
                <a16:creationId xmlns:a16="http://schemas.microsoft.com/office/drawing/2014/main" id="{3C17D9A5-79A9-4A18-82E0-ABCA5E9F6D2D}"/>
              </a:ext>
            </a:extLst>
          </p:cNvPr>
          <p:cNvSpPr txBox="1"/>
          <p:nvPr/>
        </p:nvSpPr>
        <p:spPr>
          <a:xfrm>
            <a:off x="10506071" y="4435720"/>
            <a:ext cx="1461135" cy="461010"/>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p>
            <a:r>
              <a:rPr lang="en-US" sz="1800">
                <a:solidFill>
                  <a:srgbClr val="000000"/>
                </a:solidFill>
                <a:effectLst/>
                <a:ea typeface="Times New Roman" panose="02020603050405020304" pitchFamily="18" charset="0"/>
                <a:cs typeface="Times New Roman" panose="02020603050405020304" pitchFamily="18" charset="0"/>
              </a:rPr>
              <a:t>Ahmedabad</a:t>
            </a:r>
            <a:endParaRPr lang="en-IN" sz="110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9529238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181F5-E325-B589-D6CC-42AFFA9B3DD6}"/>
              </a:ext>
            </a:extLst>
          </p:cNvPr>
          <p:cNvSpPr>
            <a:spLocks noGrp="1"/>
          </p:cNvSpPr>
          <p:nvPr>
            <p:ph type="title"/>
          </p:nvPr>
        </p:nvSpPr>
        <p:spPr>
          <a:xfrm>
            <a:off x="198796" y="-175399"/>
            <a:ext cx="9130398" cy="1762599"/>
          </a:xfrm>
        </p:spPr>
        <p:txBody>
          <a:bodyPr/>
          <a:lstStyle/>
          <a:p>
            <a:r>
              <a:rPr lang="en-IN" b="1" dirty="0"/>
              <a:t>Public Transport Utilization</a:t>
            </a:r>
            <a:endParaRPr lang="en-IN" dirty="0"/>
          </a:p>
        </p:txBody>
      </p:sp>
      <p:grpSp>
        <p:nvGrpSpPr>
          <p:cNvPr id="23" name="Group 22">
            <a:extLst>
              <a:ext uri="{FF2B5EF4-FFF2-40B4-BE49-F238E27FC236}">
                <a16:creationId xmlns:a16="http://schemas.microsoft.com/office/drawing/2014/main" id="{9F0CB023-16A9-B6A0-248F-A08826E3B8C0}"/>
              </a:ext>
            </a:extLst>
          </p:cNvPr>
          <p:cNvGrpSpPr/>
          <p:nvPr/>
        </p:nvGrpSpPr>
        <p:grpSpPr>
          <a:xfrm>
            <a:off x="698695" y="1281914"/>
            <a:ext cx="4679237" cy="4153984"/>
            <a:chOff x="750618" y="2135233"/>
            <a:chExt cx="4679237" cy="4153984"/>
          </a:xfrm>
        </p:grpSpPr>
        <p:grpSp>
          <p:nvGrpSpPr>
            <p:cNvPr id="8" name="Group 7">
              <a:extLst>
                <a:ext uri="{FF2B5EF4-FFF2-40B4-BE49-F238E27FC236}">
                  <a16:creationId xmlns:a16="http://schemas.microsoft.com/office/drawing/2014/main" id="{82F89A95-4B35-AE7D-5A0F-2A5E927922E2}"/>
                </a:ext>
              </a:extLst>
            </p:cNvPr>
            <p:cNvGrpSpPr/>
            <p:nvPr/>
          </p:nvGrpSpPr>
          <p:grpSpPr>
            <a:xfrm>
              <a:off x="750618" y="2135233"/>
              <a:ext cx="4679237" cy="4153984"/>
              <a:chOff x="0" y="-264617"/>
              <a:chExt cx="2928730" cy="2555245"/>
            </a:xfrm>
          </p:grpSpPr>
          <p:grpSp>
            <p:nvGrpSpPr>
              <p:cNvPr id="9" name="Group 8">
                <a:extLst>
                  <a:ext uri="{FF2B5EF4-FFF2-40B4-BE49-F238E27FC236}">
                    <a16:creationId xmlns:a16="http://schemas.microsoft.com/office/drawing/2014/main" id="{AE29DA27-2574-C3DC-6774-3500767699B5}"/>
                  </a:ext>
                </a:extLst>
              </p:cNvPr>
              <p:cNvGrpSpPr/>
              <p:nvPr/>
            </p:nvGrpSpPr>
            <p:grpSpPr>
              <a:xfrm>
                <a:off x="130859" y="160674"/>
                <a:ext cx="2722678" cy="2129954"/>
                <a:chOff x="130948" y="145024"/>
                <a:chExt cx="3421711" cy="2729616"/>
              </a:xfrm>
            </p:grpSpPr>
            <p:graphicFrame>
              <p:nvGraphicFramePr>
                <p:cNvPr id="11" name="Chart 10">
                  <a:extLst>
                    <a:ext uri="{FF2B5EF4-FFF2-40B4-BE49-F238E27FC236}">
                      <a16:creationId xmlns:a16="http://schemas.microsoft.com/office/drawing/2014/main" id="{A8E4D5F5-66F2-33A8-C97A-982463A87449}"/>
                    </a:ext>
                  </a:extLst>
                </p:cNvPr>
                <p:cNvGraphicFramePr/>
                <p:nvPr>
                  <p:extLst>
                    <p:ext uri="{D42A27DB-BD31-4B8C-83A1-F6EECF244321}">
                      <p14:modId xmlns:p14="http://schemas.microsoft.com/office/powerpoint/2010/main" val="1614223794"/>
                    </p:ext>
                  </p:extLst>
                </p:nvPr>
              </p:nvGraphicFramePr>
              <p:xfrm>
                <a:off x="130948" y="145024"/>
                <a:ext cx="3421711" cy="272961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2" name="Chart 11">
                  <a:extLst>
                    <a:ext uri="{FF2B5EF4-FFF2-40B4-BE49-F238E27FC236}">
                      <a16:creationId xmlns:a16="http://schemas.microsoft.com/office/drawing/2014/main" id="{2D5CC03D-3090-74BB-39D6-FBCAAD37DC90}"/>
                    </a:ext>
                  </a:extLst>
                </p:cNvPr>
                <p:cNvGraphicFramePr/>
                <p:nvPr>
                  <p:extLst>
                    <p:ext uri="{D42A27DB-BD31-4B8C-83A1-F6EECF244321}">
                      <p14:modId xmlns:p14="http://schemas.microsoft.com/office/powerpoint/2010/main" val="1754622647"/>
                    </p:ext>
                  </p:extLst>
                </p:nvPr>
              </p:nvGraphicFramePr>
              <p:xfrm>
                <a:off x="764979" y="432120"/>
                <a:ext cx="2153650" cy="1921400"/>
              </p:xfrm>
              <a:graphic>
                <a:graphicData uri="http://schemas.openxmlformats.org/drawingml/2006/chart">
                  <c:chart xmlns:c="http://schemas.openxmlformats.org/drawingml/2006/chart" xmlns:r="http://schemas.openxmlformats.org/officeDocument/2006/relationships" r:id="rId3"/>
                </a:graphicData>
              </a:graphic>
            </p:graphicFrame>
          </p:grpSp>
          <p:sp>
            <p:nvSpPr>
              <p:cNvPr id="10" name="TextBox 54">
                <a:extLst>
                  <a:ext uri="{FF2B5EF4-FFF2-40B4-BE49-F238E27FC236}">
                    <a16:creationId xmlns:a16="http://schemas.microsoft.com/office/drawing/2014/main" id="{D110EF6D-246A-CBC0-1A77-2B93BEF6BAF0}"/>
                  </a:ext>
                </a:extLst>
              </p:cNvPr>
              <p:cNvSpPr txBox="1"/>
              <p:nvPr/>
            </p:nvSpPr>
            <p:spPr>
              <a:xfrm>
                <a:off x="0" y="-264617"/>
                <a:ext cx="2928730" cy="291548"/>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p>
                <a:r>
                  <a:rPr lang="en-IN" sz="1600" dirty="0">
                    <a:solidFill>
                      <a:srgbClr val="1F2C8F"/>
                    </a:solidFill>
                    <a:effectLst/>
                    <a:latin typeface="Times New Roman" panose="02020603050405020304" pitchFamily="18" charset="0"/>
                    <a:ea typeface="Times New Roman" panose="02020603050405020304" pitchFamily="18" charset="0"/>
                  </a:rPr>
                  <a:t>Public Transportation Use by Age Group and Gender</a:t>
                </a:r>
                <a:endParaRPr lang="en-IN" sz="2800" dirty="0">
                  <a:solidFill>
                    <a:srgbClr val="1F2C8F"/>
                  </a:solidFill>
                  <a:effectLst/>
                  <a:latin typeface="Times New Roman" panose="02020603050405020304" pitchFamily="18" charset="0"/>
                  <a:ea typeface="Times New Roman" panose="02020603050405020304" pitchFamily="18" charset="0"/>
                </a:endParaRPr>
              </a:p>
            </p:txBody>
          </p:sp>
        </p:grpSp>
        <p:sp>
          <p:nvSpPr>
            <p:cNvPr id="16" name="TextBox 15">
              <a:extLst>
                <a:ext uri="{FF2B5EF4-FFF2-40B4-BE49-F238E27FC236}">
                  <a16:creationId xmlns:a16="http://schemas.microsoft.com/office/drawing/2014/main" id="{D1A8AF82-CB61-E62A-8DAD-A301825622E5}"/>
                </a:ext>
              </a:extLst>
            </p:cNvPr>
            <p:cNvSpPr txBox="1"/>
            <p:nvPr/>
          </p:nvSpPr>
          <p:spPr>
            <a:xfrm rot="21403762">
              <a:off x="3046538" y="5455129"/>
              <a:ext cx="682907" cy="307777"/>
            </a:xfrm>
            <a:prstGeom prst="rect">
              <a:avLst/>
            </a:prstGeom>
            <a:noFill/>
          </p:spPr>
          <p:txBody>
            <a:bodyPr wrap="square" rtlCol="0">
              <a:spAutoFit/>
            </a:bodyPr>
            <a:lstStyle/>
            <a:p>
              <a:r>
                <a:rPr lang="en-IN" sz="1400" dirty="0"/>
                <a:t>125</a:t>
              </a:r>
            </a:p>
          </p:txBody>
        </p:sp>
        <p:sp>
          <p:nvSpPr>
            <p:cNvPr id="17" name="TextBox 16">
              <a:extLst>
                <a:ext uri="{FF2B5EF4-FFF2-40B4-BE49-F238E27FC236}">
                  <a16:creationId xmlns:a16="http://schemas.microsoft.com/office/drawing/2014/main" id="{7DF0AFE2-C3CD-7624-5355-D0BD180566C7}"/>
                </a:ext>
              </a:extLst>
            </p:cNvPr>
            <p:cNvSpPr txBox="1"/>
            <p:nvPr/>
          </p:nvSpPr>
          <p:spPr>
            <a:xfrm rot="18321573">
              <a:off x="1930227" y="3301654"/>
              <a:ext cx="682907" cy="307777"/>
            </a:xfrm>
            <a:prstGeom prst="rect">
              <a:avLst/>
            </a:prstGeom>
            <a:noFill/>
          </p:spPr>
          <p:txBody>
            <a:bodyPr wrap="square" rtlCol="0">
              <a:spAutoFit/>
            </a:bodyPr>
            <a:lstStyle/>
            <a:p>
              <a:r>
                <a:rPr lang="en-IN" sz="1400" dirty="0"/>
                <a:t>27</a:t>
              </a:r>
            </a:p>
          </p:txBody>
        </p:sp>
        <p:sp>
          <p:nvSpPr>
            <p:cNvPr id="18" name="TextBox 17">
              <a:extLst>
                <a:ext uri="{FF2B5EF4-FFF2-40B4-BE49-F238E27FC236}">
                  <a16:creationId xmlns:a16="http://schemas.microsoft.com/office/drawing/2014/main" id="{A0DD51BC-BAE1-98C4-22BC-8BE9CADA0076}"/>
                </a:ext>
              </a:extLst>
            </p:cNvPr>
            <p:cNvSpPr txBox="1"/>
            <p:nvPr/>
          </p:nvSpPr>
          <p:spPr>
            <a:xfrm rot="1419530">
              <a:off x="3288911" y="3080697"/>
              <a:ext cx="545675" cy="276999"/>
            </a:xfrm>
            <a:prstGeom prst="rect">
              <a:avLst/>
            </a:prstGeom>
            <a:noFill/>
          </p:spPr>
          <p:txBody>
            <a:bodyPr wrap="square" rtlCol="0">
              <a:spAutoFit/>
            </a:bodyPr>
            <a:lstStyle/>
            <a:p>
              <a:r>
                <a:rPr lang="en-IN" sz="1200" dirty="0"/>
                <a:t>14</a:t>
              </a:r>
            </a:p>
          </p:txBody>
        </p:sp>
        <p:sp>
          <p:nvSpPr>
            <p:cNvPr id="20" name="TextBox 19">
              <a:extLst>
                <a:ext uri="{FF2B5EF4-FFF2-40B4-BE49-F238E27FC236}">
                  <a16:creationId xmlns:a16="http://schemas.microsoft.com/office/drawing/2014/main" id="{4AFAE97B-8868-3FD6-F700-1C2AC7D6F8C4}"/>
                </a:ext>
              </a:extLst>
            </p:cNvPr>
            <p:cNvSpPr txBox="1"/>
            <p:nvPr/>
          </p:nvSpPr>
          <p:spPr>
            <a:xfrm>
              <a:off x="2914811" y="2661151"/>
              <a:ext cx="682907" cy="307777"/>
            </a:xfrm>
            <a:prstGeom prst="rect">
              <a:avLst/>
            </a:prstGeom>
            <a:noFill/>
          </p:spPr>
          <p:txBody>
            <a:bodyPr wrap="square" rtlCol="0">
              <a:spAutoFit/>
            </a:bodyPr>
            <a:lstStyle/>
            <a:p>
              <a:r>
                <a:rPr lang="en-IN" sz="1400" dirty="0"/>
                <a:t>3</a:t>
              </a:r>
            </a:p>
          </p:txBody>
        </p:sp>
        <p:sp>
          <p:nvSpPr>
            <p:cNvPr id="22" name="TextBox 21">
              <a:extLst>
                <a:ext uri="{FF2B5EF4-FFF2-40B4-BE49-F238E27FC236}">
                  <a16:creationId xmlns:a16="http://schemas.microsoft.com/office/drawing/2014/main" id="{327666DA-E77B-6B9B-8F84-AEC69567ECBD}"/>
                </a:ext>
              </a:extLst>
            </p:cNvPr>
            <p:cNvSpPr txBox="1"/>
            <p:nvPr/>
          </p:nvSpPr>
          <p:spPr>
            <a:xfrm rot="20582719">
              <a:off x="2728003" y="2973611"/>
              <a:ext cx="682907" cy="307777"/>
            </a:xfrm>
            <a:prstGeom prst="rect">
              <a:avLst/>
            </a:prstGeom>
            <a:noFill/>
          </p:spPr>
          <p:txBody>
            <a:bodyPr wrap="square" rtlCol="0">
              <a:spAutoFit/>
            </a:bodyPr>
            <a:lstStyle/>
            <a:p>
              <a:r>
                <a:rPr lang="en-IN" sz="1400" dirty="0"/>
                <a:t>7</a:t>
              </a:r>
            </a:p>
          </p:txBody>
        </p:sp>
      </p:grpSp>
      <p:sp>
        <p:nvSpPr>
          <p:cNvPr id="24" name="TextBox 23">
            <a:extLst>
              <a:ext uri="{FF2B5EF4-FFF2-40B4-BE49-F238E27FC236}">
                <a16:creationId xmlns:a16="http://schemas.microsoft.com/office/drawing/2014/main" id="{6D26A445-9870-7269-9E7B-D148D1372889}"/>
              </a:ext>
            </a:extLst>
          </p:cNvPr>
          <p:cNvSpPr txBox="1"/>
          <p:nvPr/>
        </p:nvSpPr>
        <p:spPr>
          <a:xfrm>
            <a:off x="5940987" y="1278617"/>
            <a:ext cx="4679237" cy="4555093"/>
          </a:xfrm>
          <a:prstGeom prst="rect">
            <a:avLst/>
          </a:prstGeom>
          <a:noFill/>
        </p:spPr>
        <p:txBody>
          <a:bodyPr wrap="square" rtlCol="0">
            <a:spAutoFit/>
          </a:bodyPr>
          <a:lstStyle/>
          <a:p>
            <a:r>
              <a:rPr lang="en-US" sz="2800" dirty="0">
                <a:solidFill>
                  <a:srgbClr val="1F2C8F"/>
                </a:solidFill>
                <a:effectLst/>
                <a:latin typeface="Segoe UI Emoji" panose="020B0502040204020203" pitchFamily="34" charset="0"/>
                <a:ea typeface="Segoe UI Emoji" panose="020B0502040204020203" pitchFamily="34" charset="0"/>
              </a:rPr>
              <a:t>• KEY OBSERVATION:</a:t>
            </a:r>
          </a:p>
          <a:p>
            <a:endParaRPr lang="en-US" sz="2800" dirty="0">
              <a:solidFill>
                <a:srgbClr val="1F2C8F"/>
              </a:solidFill>
              <a:effectLst/>
              <a:latin typeface="Segoe UI Emoji" panose="020B0502040204020203" pitchFamily="34" charset="0"/>
              <a:ea typeface="Segoe UI Emoji" panose="020B0502040204020203" pitchFamily="34" charset="0"/>
            </a:endParaRPr>
          </a:p>
          <a:p>
            <a:pPr marL="285750" indent="-285750">
              <a:buFont typeface="Wingdings 3" panose="05040102010807070707" pitchFamily="18" charset="2"/>
              <a:buChar char="Ê"/>
            </a:pPr>
            <a:r>
              <a:rPr lang="en-US" dirty="0">
                <a:solidFill>
                  <a:srgbClr val="1F2C8F"/>
                </a:solidFill>
                <a:effectLst/>
                <a:latin typeface="Segoe UI Emoji" panose="020B0502040204020203" pitchFamily="34" charset="0"/>
                <a:ea typeface="Segoe UI Emoji" panose="020B0502040204020203" pitchFamily="34" charset="0"/>
              </a:rPr>
              <a:t>The 18-25 age group constitutes the largest share of public transport users, indicating strong reliance among students and young professionals</a:t>
            </a:r>
            <a:endParaRPr lang="en-IN" dirty="0">
              <a:solidFill>
                <a:srgbClr val="1F2C8F"/>
              </a:solidFill>
              <a:effectLst/>
              <a:latin typeface="Segoe UI Emoji" panose="020B0502040204020203" pitchFamily="34" charset="0"/>
              <a:ea typeface="Segoe UI Emoji" panose="020B0502040204020203" pitchFamily="34" charset="0"/>
            </a:endParaRPr>
          </a:p>
          <a:p>
            <a:endParaRPr lang="en-US" sz="1800" dirty="0">
              <a:solidFill>
                <a:srgbClr val="1F2C8F"/>
              </a:solidFill>
              <a:effectLst/>
              <a:latin typeface="Segoe UI Emoji" panose="020B0502040204020203" pitchFamily="34" charset="0"/>
              <a:ea typeface="Segoe UI Emoji" panose="020B0502040204020203" pitchFamily="34" charset="0"/>
            </a:endParaRPr>
          </a:p>
          <a:p>
            <a:pPr marL="285750" indent="-285750">
              <a:buFont typeface="Wingdings 3" panose="05040102010807070707" pitchFamily="18" charset="2"/>
              <a:buChar char="Ê"/>
            </a:pPr>
            <a:r>
              <a:rPr lang="en-US" sz="1800" dirty="0">
                <a:solidFill>
                  <a:srgbClr val="1F2C8F"/>
                </a:solidFill>
                <a:effectLst/>
                <a:latin typeface="Segoe UI Emoji" panose="020B0502040204020203" pitchFamily="34" charset="0"/>
                <a:ea typeface="Segoe UI Emoji" panose="020B0502040204020203" pitchFamily="34" charset="0"/>
              </a:rPr>
              <a:t>Male passengers account for 59% of public transport users, while female passengers constitute 41%. </a:t>
            </a:r>
          </a:p>
          <a:p>
            <a:endParaRPr lang="en-US" sz="1800" dirty="0">
              <a:solidFill>
                <a:srgbClr val="1F2C8F"/>
              </a:solidFill>
              <a:effectLst/>
              <a:latin typeface="Segoe UI Emoji" panose="020B0502040204020203" pitchFamily="34" charset="0"/>
              <a:ea typeface="Segoe UI Emoji" panose="020B0502040204020203" pitchFamily="34" charset="0"/>
            </a:endParaRPr>
          </a:p>
          <a:p>
            <a:pPr marL="285750" indent="-285750">
              <a:buFont typeface="Wingdings 3" panose="05040102010807070707" pitchFamily="18" charset="2"/>
              <a:buChar char="Ê"/>
            </a:pPr>
            <a:r>
              <a:rPr lang="en-US" sz="1800" dirty="0">
                <a:solidFill>
                  <a:srgbClr val="1F2C8F"/>
                </a:solidFill>
                <a:effectLst/>
                <a:latin typeface="Segoe UI Emoji" panose="020B0502040204020203" pitchFamily="34" charset="0"/>
                <a:ea typeface="Segoe UI Emoji" panose="020B0502040204020203" pitchFamily="34" charset="0"/>
                <a:sym typeface="Wingdings 3" panose="05040102010807070707" pitchFamily="18" charset="2"/>
              </a:rPr>
              <a:t> </a:t>
            </a:r>
            <a:r>
              <a:rPr lang="en-US" sz="1800" dirty="0">
                <a:solidFill>
                  <a:srgbClr val="1F2C8F"/>
                </a:solidFill>
                <a:effectLst/>
                <a:latin typeface="Segoe UI Emoji" panose="020B0502040204020203" pitchFamily="34" charset="0"/>
                <a:ea typeface="Segoe UI Emoji" panose="020B0502040204020203" pitchFamily="34" charset="0"/>
              </a:rPr>
              <a:t>It indicates improving gender representation but also highlights the need for more gender-friendly initiatives.</a:t>
            </a:r>
          </a:p>
          <a:p>
            <a:endParaRPr lang="en-US" sz="1800" dirty="0">
              <a:solidFill>
                <a:srgbClr val="1F2C8F"/>
              </a:solidFill>
              <a:effectLst/>
              <a:latin typeface="Segoe UI Emoji" panose="020B0502040204020203" pitchFamily="34" charset="0"/>
              <a:ea typeface="Segoe UI Emoji" panose="020B0502040204020203" pitchFamily="34" charset="0"/>
            </a:endParaRPr>
          </a:p>
        </p:txBody>
      </p:sp>
    </p:spTree>
    <p:extLst>
      <p:ext uri="{BB962C8B-B14F-4D97-AF65-F5344CB8AC3E}">
        <p14:creationId xmlns:p14="http://schemas.microsoft.com/office/powerpoint/2010/main" val="23441232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endParaRPr lang="en-IN"/>
          </a:p>
        </p:txBody>
      </p:sp>
      <p:graphicFrame>
        <p:nvGraphicFramePr>
          <p:cNvPr id="7" name="Picture Placeholder 6"/>
          <p:cNvGraphicFramePr>
            <a:graphicFrameLocks noGrp="1"/>
          </p:cNvGraphicFramePr>
          <p:nvPr>
            <p:ph type="pic" sz="quarter" idx="11"/>
            <p:extLst>
              <p:ext uri="{D42A27DB-BD31-4B8C-83A1-F6EECF244321}">
                <p14:modId xmlns:p14="http://schemas.microsoft.com/office/powerpoint/2010/main" val="581846686"/>
              </p:ext>
            </p:extLst>
          </p:nvPr>
        </p:nvGraphicFramePr>
        <p:xfrm>
          <a:off x="812241" y="2712553"/>
          <a:ext cx="4344985" cy="1662072"/>
        </p:xfrm>
        <a:graphic>
          <a:graphicData uri="http://schemas.openxmlformats.org/drawingml/2006/table">
            <a:tbl>
              <a:tblPr firstRow="1" firstCol="1" bandRow="1">
                <a:tableStyleId>{5940675A-B579-460E-94D1-54222C63F5DA}</a:tableStyleId>
              </a:tblPr>
              <a:tblGrid>
                <a:gridCol w="868997">
                  <a:extLst>
                    <a:ext uri="{9D8B030D-6E8A-4147-A177-3AD203B41FA5}">
                      <a16:colId xmlns:a16="http://schemas.microsoft.com/office/drawing/2014/main" val="20000"/>
                    </a:ext>
                  </a:extLst>
                </a:gridCol>
                <a:gridCol w="868997">
                  <a:extLst>
                    <a:ext uri="{9D8B030D-6E8A-4147-A177-3AD203B41FA5}">
                      <a16:colId xmlns:a16="http://schemas.microsoft.com/office/drawing/2014/main" val="20001"/>
                    </a:ext>
                  </a:extLst>
                </a:gridCol>
                <a:gridCol w="868997">
                  <a:extLst>
                    <a:ext uri="{9D8B030D-6E8A-4147-A177-3AD203B41FA5}">
                      <a16:colId xmlns:a16="http://schemas.microsoft.com/office/drawing/2014/main" val="20002"/>
                    </a:ext>
                  </a:extLst>
                </a:gridCol>
                <a:gridCol w="868997">
                  <a:extLst>
                    <a:ext uri="{9D8B030D-6E8A-4147-A177-3AD203B41FA5}">
                      <a16:colId xmlns:a16="http://schemas.microsoft.com/office/drawing/2014/main" val="20003"/>
                    </a:ext>
                  </a:extLst>
                </a:gridCol>
                <a:gridCol w="868997">
                  <a:extLst>
                    <a:ext uri="{9D8B030D-6E8A-4147-A177-3AD203B41FA5}">
                      <a16:colId xmlns:a16="http://schemas.microsoft.com/office/drawing/2014/main" val="20004"/>
                    </a:ext>
                  </a:extLst>
                </a:gridCol>
              </a:tblGrid>
              <a:tr h="232638">
                <a:tc>
                  <a:txBody>
                    <a:bodyPr/>
                    <a:lstStyle/>
                    <a:p>
                      <a:endParaRPr lang="en-IN" sz="1200" dirty="0">
                        <a:solidFill>
                          <a:srgbClr val="1F2C8F"/>
                        </a:solidFill>
                        <a:effectLst/>
                        <a:latin typeface="Calibri" panose="020F0502020204030204" pitchFamily="34" charset="0"/>
                        <a:cs typeface="Times New Roman" panose="02020603050405020304" pitchFamily="18" charset="0"/>
                      </a:endParaRPr>
                    </a:p>
                  </a:txBody>
                  <a:tcPr marL="64922" marR="64922" marT="0" marB="0"/>
                </a:tc>
                <a:tc gridSpan="3">
                  <a:txBody>
                    <a:bodyPr/>
                    <a:lstStyle/>
                    <a:p>
                      <a:pPr algn="ctr">
                        <a:spcAft>
                          <a:spcPts val="0"/>
                        </a:spcAft>
                      </a:pPr>
                      <a:r>
                        <a:rPr lang="en-IN" sz="1200">
                          <a:solidFill>
                            <a:srgbClr val="1F2C8F"/>
                          </a:solidFill>
                          <a:effectLst/>
                        </a:rPr>
                        <a:t>Transportation</a:t>
                      </a:r>
                      <a:endParaRPr lang="en-IN" sz="12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4922" marR="64922" marT="0" marB="0"/>
                </a:tc>
                <a:tc hMerge="1">
                  <a:txBody>
                    <a:bodyPr/>
                    <a:lstStyle/>
                    <a:p>
                      <a:endParaRPr lang="en-IN"/>
                    </a:p>
                  </a:txBody>
                  <a:tcPr/>
                </a:tc>
                <a:tc hMerge="1">
                  <a:txBody>
                    <a:bodyPr/>
                    <a:lstStyle/>
                    <a:p>
                      <a:endParaRPr lang="en-IN"/>
                    </a:p>
                  </a:txBody>
                  <a:tcPr/>
                </a:tc>
                <a:tc>
                  <a:txBody>
                    <a:bodyPr/>
                    <a:lstStyle/>
                    <a:p>
                      <a:endParaRPr lang="en-IN" sz="1200">
                        <a:solidFill>
                          <a:srgbClr val="1F2C8F"/>
                        </a:solidFill>
                        <a:effectLst/>
                        <a:latin typeface="Calibri" panose="020F0502020204030204" pitchFamily="34" charset="0"/>
                        <a:cs typeface="Times New Roman" panose="02020603050405020304" pitchFamily="18" charset="0"/>
                      </a:endParaRPr>
                    </a:p>
                  </a:txBody>
                  <a:tcPr marL="64922" marR="64922" marT="0" marB="0"/>
                </a:tc>
                <a:extLst>
                  <a:ext uri="{0D108BD9-81ED-4DB2-BD59-A6C34878D82A}">
                    <a16:rowId xmlns:a16="http://schemas.microsoft.com/office/drawing/2014/main" val="10000"/>
                  </a:ext>
                </a:extLst>
              </a:tr>
              <a:tr h="346252">
                <a:tc>
                  <a:txBody>
                    <a:bodyPr/>
                    <a:lstStyle/>
                    <a:p>
                      <a:pPr algn="ctr">
                        <a:spcAft>
                          <a:spcPts val="0"/>
                        </a:spcAft>
                      </a:pPr>
                      <a:r>
                        <a:rPr lang="en-IN" sz="1200" dirty="0">
                          <a:solidFill>
                            <a:srgbClr val="1F2C8F"/>
                          </a:solidFill>
                          <a:effectLst/>
                        </a:rPr>
                        <a:t>Age Group </a:t>
                      </a:r>
                      <a:endParaRPr lang="en-IN" sz="12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4922" marR="64922" marT="0" marB="0"/>
                </a:tc>
                <a:tc>
                  <a:txBody>
                    <a:bodyPr/>
                    <a:lstStyle/>
                    <a:p>
                      <a:pPr algn="ctr">
                        <a:spcAft>
                          <a:spcPts val="0"/>
                        </a:spcAft>
                      </a:pPr>
                      <a:r>
                        <a:rPr lang="en-IN" sz="1200" dirty="0">
                          <a:solidFill>
                            <a:srgbClr val="1F2C8F"/>
                          </a:solidFill>
                          <a:effectLst/>
                        </a:rPr>
                        <a:t>Public Transit</a:t>
                      </a:r>
                      <a:endParaRPr lang="en-IN" sz="12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4922" marR="64922" marT="0" marB="0"/>
                </a:tc>
                <a:tc>
                  <a:txBody>
                    <a:bodyPr/>
                    <a:lstStyle/>
                    <a:p>
                      <a:pPr algn="ctr">
                        <a:spcAft>
                          <a:spcPts val="0"/>
                        </a:spcAft>
                      </a:pPr>
                      <a:r>
                        <a:rPr lang="en-IN" sz="1200">
                          <a:solidFill>
                            <a:srgbClr val="1F2C8F"/>
                          </a:solidFill>
                          <a:effectLst/>
                        </a:rPr>
                        <a:t>Four-Wheeler</a:t>
                      </a:r>
                      <a:endParaRPr lang="en-IN" sz="12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4922" marR="64922" marT="0" marB="0"/>
                </a:tc>
                <a:tc>
                  <a:txBody>
                    <a:bodyPr/>
                    <a:lstStyle/>
                    <a:p>
                      <a:pPr algn="ctr">
                        <a:spcAft>
                          <a:spcPts val="0"/>
                        </a:spcAft>
                      </a:pPr>
                      <a:r>
                        <a:rPr lang="en-IN" sz="1200">
                          <a:solidFill>
                            <a:srgbClr val="1F2C8F"/>
                          </a:solidFill>
                          <a:effectLst/>
                        </a:rPr>
                        <a:t>Two-Wheeler</a:t>
                      </a:r>
                      <a:endParaRPr lang="en-IN" sz="12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4922" marR="64922" marT="0" marB="0"/>
                </a:tc>
                <a:tc>
                  <a:txBody>
                    <a:bodyPr/>
                    <a:lstStyle/>
                    <a:p>
                      <a:pPr algn="ctr">
                        <a:spcAft>
                          <a:spcPts val="0"/>
                        </a:spcAft>
                      </a:pPr>
                      <a:r>
                        <a:rPr lang="en-IN" sz="1200">
                          <a:solidFill>
                            <a:srgbClr val="1F2C8F"/>
                          </a:solidFill>
                          <a:effectLst/>
                        </a:rPr>
                        <a:t>Total</a:t>
                      </a:r>
                      <a:endParaRPr lang="en-IN" sz="12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4922" marR="64922" marT="0" marB="0"/>
                </a:tc>
                <a:extLst>
                  <a:ext uri="{0D108BD9-81ED-4DB2-BD59-A6C34878D82A}">
                    <a16:rowId xmlns:a16="http://schemas.microsoft.com/office/drawing/2014/main" val="10001"/>
                  </a:ext>
                </a:extLst>
              </a:tr>
              <a:tr h="232638">
                <a:tc>
                  <a:txBody>
                    <a:bodyPr/>
                    <a:lstStyle/>
                    <a:p>
                      <a:pPr>
                        <a:spcAft>
                          <a:spcPts val="0"/>
                        </a:spcAft>
                      </a:pPr>
                      <a:r>
                        <a:rPr lang="en-IN" sz="1200">
                          <a:solidFill>
                            <a:srgbClr val="1F2C8F"/>
                          </a:solidFill>
                          <a:effectLst/>
                        </a:rPr>
                        <a:t>Young-Teen</a:t>
                      </a:r>
                      <a:endParaRPr lang="en-IN" sz="12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4922" marR="64922" marT="0" marB="0"/>
                </a:tc>
                <a:tc>
                  <a:txBody>
                    <a:bodyPr/>
                    <a:lstStyle/>
                    <a:p>
                      <a:pPr algn="ctr">
                        <a:spcAft>
                          <a:spcPts val="0"/>
                        </a:spcAft>
                      </a:pPr>
                      <a:r>
                        <a:rPr lang="en-IN" sz="1200" dirty="0">
                          <a:solidFill>
                            <a:srgbClr val="1F2C8F"/>
                          </a:solidFill>
                          <a:effectLst/>
                        </a:rPr>
                        <a:t>139</a:t>
                      </a:r>
                      <a:endParaRPr lang="en-IN" sz="12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4922" marR="64922" marT="0" marB="0"/>
                </a:tc>
                <a:tc>
                  <a:txBody>
                    <a:bodyPr/>
                    <a:lstStyle/>
                    <a:p>
                      <a:pPr algn="ctr">
                        <a:spcAft>
                          <a:spcPts val="0"/>
                        </a:spcAft>
                      </a:pPr>
                      <a:r>
                        <a:rPr lang="en-IN" sz="1200" dirty="0">
                          <a:solidFill>
                            <a:srgbClr val="1F2C8F"/>
                          </a:solidFill>
                          <a:effectLst/>
                        </a:rPr>
                        <a:t>47</a:t>
                      </a:r>
                      <a:endParaRPr lang="en-IN" sz="12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4922" marR="64922" marT="0" marB="0"/>
                </a:tc>
                <a:tc>
                  <a:txBody>
                    <a:bodyPr/>
                    <a:lstStyle/>
                    <a:p>
                      <a:pPr algn="ctr">
                        <a:spcAft>
                          <a:spcPts val="0"/>
                        </a:spcAft>
                      </a:pPr>
                      <a:r>
                        <a:rPr lang="en-IN" sz="1200" dirty="0">
                          <a:solidFill>
                            <a:srgbClr val="1F2C8F"/>
                          </a:solidFill>
                          <a:effectLst/>
                        </a:rPr>
                        <a:t>92</a:t>
                      </a:r>
                      <a:endParaRPr lang="en-IN" sz="12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4922" marR="64922" marT="0" marB="0"/>
                </a:tc>
                <a:tc>
                  <a:txBody>
                    <a:bodyPr/>
                    <a:lstStyle/>
                    <a:p>
                      <a:pPr algn="ctr">
                        <a:spcAft>
                          <a:spcPts val="0"/>
                        </a:spcAft>
                      </a:pPr>
                      <a:r>
                        <a:rPr lang="en-IN" sz="1200">
                          <a:solidFill>
                            <a:srgbClr val="1F2C8F"/>
                          </a:solidFill>
                          <a:effectLst/>
                        </a:rPr>
                        <a:t>278</a:t>
                      </a:r>
                      <a:endParaRPr lang="en-IN" sz="12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4922" marR="64922" marT="0" marB="0"/>
                </a:tc>
                <a:extLst>
                  <a:ext uri="{0D108BD9-81ED-4DB2-BD59-A6C34878D82A}">
                    <a16:rowId xmlns:a16="http://schemas.microsoft.com/office/drawing/2014/main" val="10002"/>
                  </a:ext>
                </a:extLst>
              </a:tr>
              <a:tr h="346252">
                <a:tc>
                  <a:txBody>
                    <a:bodyPr/>
                    <a:lstStyle/>
                    <a:p>
                      <a:pPr>
                        <a:spcAft>
                          <a:spcPts val="0"/>
                        </a:spcAft>
                      </a:pPr>
                      <a:r>
                        <a:rPr lang="en-IN" sz="1200" dirty="0">
                          <a:solidFill>
                            <a:srgbClr val="1F2C8F"/>
                          </a:solidFill>
                          <a:effectLst/>
                        </a:rPr>
                        <a:t>Middle Aged</a:t>
                      </a:r>
                      <a:endParaRPr lang="en-IN" sz="12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4922" marR="64922" marT="0" marB="0"/>
                </a:tc>
                <a:tc>
                  <a:txBody>
                    <a:bodyPr/>
                    <a:lstStyle/>
                    <a:p>
                      <a:pPr algn="ctr">
                        <a:spcAft>
                          <a:spcPts val="0"/>
                        </a:spcAft>
                      </a:pPr>
                      <a:r>
                        <a:rPr lang="en-IN" sz="1200" dirty="0">
                          <a:solidFill>
                            <a:srgbClr val="1F2C8F"/>
                          </a:solidFill>
                          <a:effectLst/>
                        </a:rPr>
                        <a:t>27</a:t>
                      </a:r>
                      <a:endParaRPr lang="en-IN" sz="12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4922" marR="64922" marT="0" marB="0"/>
                </a:tc>
                <a:tc>
                  <a:txBody>
                    <a:bodyPr/>
                    <a:lstStyle/>
                    <a:p>
                      <a:pPr algn="ctr">
                        <a:spcAft>
                          <a:spcPts val="0"/>
                        </a:spcAft>
                      </a:pPr>
                      <a:r>
                        <a:rPr lang="en-IN" sz="1200">
                          <a:solidFill>
                            <a:srgbClr val="1F2C8F"/>
                          </a:solidFill>
                          <a:effectLst/>
                        </a:rPr>
                        <a:t>18</a:t>
                      </a:r>
                      <a:endParaRPr lang="en-IN" sz="12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4922" marR="64922" marT="0" marB="0"/>
                </a:tc>
                <a:tc>
                  <a:txBody>
                    <a:bodyPr/>
                    <a:lstStyle/>
                    <a:p>
                      <a:pPr algn="ctr">
                        <a:spcAft>
                          <a:spcPts val="0"/>
                        </a:spcAft>
                      </a:pPr>
                      <a:r>
                        <a:rPr lang="en-IN" sz="1200" dirty="0">
                          <a:solidFill>
                            <a:srgbClr val="1F2C8F"/>
                          </a:solidFill>
                          <a:effectLst/>
                        </a:rPr>
                        <a:t>23</a:t>
                      </a:r>
                      <a:endParaRPr lang="en-IN" sz="12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4922" marR="64922" marT="0" marB="0"/>
                </a:tc>
                <a:tc>
                  <a:txBody>
                    <a:bodyPr/>
                    <a:lstStyle/>
                    <a:p>
                      <a:pPr algn="ctr">
                        <a:spcAft>
                          <a:spcPts val="0"/>
                        </a:spcAft>
                      </a:pPr>
                      <a:r>
                        <a:rPr lang="en-IN" sz="1200">
                          <a:solidFill>
                            <a:srgbClr val="1F2C8F"/>
                          </a:solidFill>
                          <a:effectLst/>
                        </a:rPr>
                        <a:t>68</a:t>
                      </a:r>
                      <a:endParaRPr lang="en-IN" sz="12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4922" marR="64922" marT="0" marB="0"/>
                </a:tc>
                <a:extLst>
                  <a:ext uri="{0D108BD9-81ED-4DB2-BD59-A6C34878D82A}">
                    <a16:rowId xmlns:a16="http://schemas.microsoft.com/office/drawing/2014/main" val="10003"/>
                  </a:ext>
                </a:extLst>
              </a:tr>
              <a:tr h="232638">
                <a:tc>
                  <a:txBody>
                    <a:bodyPr/>
                    <a:lstStyle/>
                    <a:p>
                      <a:pPr>
                        <a:spcAft>
                          <a:spcPts val="0"/>
                        </a:spcAft>
                      </a:pPr>
                      <a:r>
                        <a:rPr lang="en-IN" sz="1200">
                          <a:solidFill>
                            <a:srgbClr val="1F2C8F"/>
                          </a:solidFill>
                          <a:effectLst/>
                        </a:rPr>
                        <a:t>Senior</a:t>
                      </a:r>
                      <a:endParaRPr lang="en-IN" sz="12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4922" marR="64922" marT="0" marB="0"/>
                </a:tc>
                <a:tc>
                  <a:txBody>
                    <a:bodyPr/>
                    <a:lstStyle/>
                    <a:p>
                      <a:pPr algn="ctr">
                        <a:spcAft>
                          <a:spcPts val="0"/>
                        </a:spcAft>
                      </a:pPr>
                      <a:r>
                        <a:rPr lang="en-IN" sz="1200">
                          <a:solidFill>
                            <a:srgbClr val="1F2C8F"/>
                          </a:solidFill>
                          <a:effectLst/>
                        </a:rPr>
                        <a:t>10</a:t>
                      </a:r>
                      <a:endParaRPr lang="en-IN" sz="12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4922" marR="64922" marT="0" marB="0"/>
                </a:tc>
                <a:tc>
                  <a:txBody>
                    <a:bodyPr/>
                    <a:lstStyle/>
                    <a:p>
                      <a:pPr algn="ctr">
                        <a:spcAft>
                          <a:spcPts val="0"/>
                        </a:spcAft>
                      </a:pPr>
                      <a:r>
                        <a:rPr lang="en-IN" sz="1200">
                          <a:solidFill>
                            <a:srgbClr val="1F2C8F"/>
                          </a:solidFill>
                          <a:effectLst/>
                        </a:rPr>
                        <a:t>5</a:t>
                      </a:r>
                      <a:endParaRPr lang="en-IN" sz="12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4922" marR="64922" marT="0" marB="0"/>
                </a:tc>
                <a:tc>
                  <a:txBody>
                    <a:bodyPr/>
                    <a:lstStyle/>
                    <a:p>
                      <a:pPr algn="ctr">
                        <a:spcAft>
                          <a:spcPts val="0"/>
                        </a:spcAft>
                      </a:pPr>
                      <a:r>
                        <a:rPr lang="en-IN" sz="1200">
                          <a:solidFill>
                            <a:srgbClr val="1F2C8F"/>
                          </a:solidFill>
                          <a:effectLst/>
                        </a:rPr>
                        <a:t>5</a:t>
                      </a:r>
                      <a:endParaRPr lang="en-IN" sz="12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4922" marR="64922" marT="0" marB="0"/>
                </a:tc>
                <a:tc>
                  <a:txBody>
                    <a:bodyPr/>
                    <a:lstStyle/>
                    <a:p>
                      <a:pPr algn="ctr">
                        <a:spcAft>
                          <a:spcPts val="0"/>
                        </a:spcAft>
                      </a:pPr>
                      <a:r>
                        <a:rPr lang="en-IN" sz="1200" dirty="0">
                          <a:solidFill>
                            <a:srgbClr val="1F2C8F"/>
                          </a:solidFill>
                          <a:effectLst/>
                        </a:rPr>
                        <a:t>20</a:t>
                      </a:r>
                      <a:endParaRPr lang="en-IN" sz="12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4922" marR="64922" marT="0" marB="0"/>
                </a:tc>
                <a:extLst>
                  <a:ext uri="{0D108BD9-81ED-4DB2-BD59-A6C34878D82A}">
                    <a16:rowId xmlns:a16="http://schemas.microsoft.com/office/drawing/2014/main" val="10004"/>
                  </a:ext>
                </a:extLst>
              </a:tr>
              <a:tr h="232638">
                <a:tc>
                  <a:txBody>
                    <a:bodyPr/>
                    <a:lstStyle/>
                    <a:p>
                      <a:pPr>
                        <a:spcAft>
                          <a:spcPts val="0"/>
                        </a:spcAft>
                      </a:pPr>
                      <a:r>
                        <a:rPr lang="en-IN" sz="1200">
                          <a:solidFill>
                            <a:srgbClr val="1F2C8F"/>
                          </a:solidFill>
                          <a:effectLst/>
                        </a:rPr>
                        <a:t>Total</a:t>
                      </a:r>
                      <a:endParaRPr lang="en-IN" sz="12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4922" marR="64922" marT="0" marB="0"/>
                </a:tc>
                <a:tc>
                  <a:txBody>
                    <a:bodyPr/>
                    <a:lstStyle/>
                    <a:p>
                      <a:pPr algn="ctr">
                        <a:spcAft>
                          <a:spcPts val="0"/>
                        </a:spcAft>
                      </a:pPr>
                      <a:r>
                        <a:rPr lang="en-IN" sz="1200">
                          <a:solidFill>
                            <a:srgbClr val="1F2C8F"/>
                          </a:solidFill>
                          <a:effectLst/>
                        </a:rPr>
                        <a:t>176</a:t>
                      </a:r>
                      <a:endParaRPr lang="en-IN" sz="12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4922" marR="64922" marT="0" marB="0"/>
                </a:tc>
                <a:tc>
                  <a:txBody>
                    <a:bodyPr/>
                    <a:lstStyle/>
                    <a:p>
                      <a:pPr algn="ctr">
                        <a:spcAft>
                          <a:spcPts val="0"/>
                        </a:spcAft>
                      </a:pPr>
                      <a:r>
                        <a:rPr lang="en-IN" sz="1200">
                          <a:solidFill>
                            <a:srgbClr val="1F2C8F"/>
                          </a:solidFill>
                          <a:effectLst/>
                        </a:rPr>
                        <a:t>70</a:t>
                      </a:r>
                      <a:endParaRPr lang="en-IN" sz="12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4922" marR="64922" marT="0" marB="0"/>
                </a:tc>
                <a:tc>
                  <a:txBody>
                    <a:bodyPr/>
                    <a:lstStyle/>
                    <a:p>
                      <a:pPr algn="ctr">
                        <a:spcAft>
                          <a:spcPts val="0"/>
                        </a:spcAft>
                      </a:pPr>
                      <a:r>
                        <a:rPr lang="en-IN" sz="1200">
                          <a:solidFill>
                            <a:srgbClr val="1F2C8F"/>
                          </a:solidFill>
                          <a:effectLst/>
                        </a:rPr>
                        <a:t>120</a:t>
                      </a:r>
                      <a:endParaRPr lang="en-IN" sz="12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4922" marR="64922" marT="0" marB="0"/>
                </a:tc>
                <a:tc>
                  <a:txBody>
                    <a:bodyPr/>
                    <a:lstStyle/>
                    <a:p>
                      <a:pPr algn="ctr">
                        <a:spcAft>
                          <a:spcPts val="0"/>
                        </a:spcAft>
                      </a:pPr>
                      <a:r>
                        <a:rPr lang="en-IN" sz="1200" dirty="0">
                          <a:solidFill>
                            <a:srgbClr val="1F2C8F"/>
                          </a:solidFill>
                          <a:effectLst/>
                        </a:rPr>
                        <a:t>366</a:t>
                      </a:r>
                      <a:endParaRPr lang="en-IN" sz="12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4922" marR="64922" marT="0" marB="0"/>
                </a:tc>
                <a:extLst>
                  <a:ext uri="{0D108BD9-81ED-4DB2-BD59-A6C34878D82A}">
                    <a16:rowId xmlns:a16="http://schemas.microsoft.com/office/drawing/2014/main" val="10005"/>
                  </a:ext>
                </a:extLst>
              </a:tr>
            </a:tbl>
          </a:graphicData>
        </a:graphic>
      </p:graphicFrame>
      <p:sp>
        <p:nvSpPr>
          <p:cNvPr id="4" name="Rectangle 3"/>
          <p:cNvSpPr/>
          <p:nvPr/>
        </p:nvSpPr>
        <p:spPr>
          <a:xfrm>
            <a:off x="1869743" y="341194"/>
            <a:ext cx="6196084" cy="8188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rgbClr val="1F2C8F"/>
                </a:solidFill>
                <a:effectLst>
                  <a:outerShdw blurRad="38100" dist="19050" dir="2700000" algn="tl">
                    <a:schemeClr val="dk1">
                      <a:alpha val="40000"/>
                    </a:schemeClr>
                  </a:outerShdw>
                </a:effectLst>
              </a:rPr>
              <a:t>Chi-Square Test </a:t>
            </a:r>
            <a:endParaRPr lang="en-IN" sz="3200" dirty="0">
              <a:solidFill>
                <a:srgbClr val="1F2C8F"/>
              </a:solidFill>
            </a:endParaRPr>
          </a:p>
        </p:txBody>
      </p:sp>
      <p:sp>
        <p:nvSpPr>
          <p:cNvPr id="5" name="Rectangle 4"/>
          <p:cNvSpPr/>
          <p:nvPr/>
        </p:nvSpPr>
        <p:spPr>
          <a:xfrm>
            <a:off x="286603" y="1061623"/>
            <a:ext cx="8598090" cy="923330"/>
          </a:xfrm>
          <a:prstGeom prst="rect">
            <a:avLst/>
          </a:prstGeom>
        </p:spPr>
        <p:txBody>
          <a:bodyPr wrap="square">
            <a:spAutoFit/>
          </a:bodyPr>
          <a:lstStyle/>
          <a:p>
            <a:pPr algn="just">
              <a:lnSpc>
                <a:spcPct val="150000"/>
              </a:lnSpc>
              <a:spcAft>
                <a:spcPts val="0"/>
              </a:spcAft>
            </a:pPr>
            <a:r>
              <a:rPr lang="en-US" dirty="0">
                <a:solidFill>
                  <a:srgbClr val="1F2C8F"/>
                </a:solidFill>
                <a:latin typeface="Times New Roman" panose="02020603050405020304" pitchFamily="18" charset="0"/>
                <a:ea typeface="Times New Roman" panose="02020603050405020304" pitchFamily="18" charset="0"/>
              </a:rPr>
              <a:t>Null Hypothesis </a:t>
            </a:r>
            <a:r>
              <a:rPr lang="en-US" b="1" dirty="0">
                <a:solidFill>
                  <a:srgbClr val="1F2C8F"/>
                </a:solidFill>
                <a:latin typeface="Times New Roman" panose="02020603050405020304" pitchFamily="18" charset="0"/>
                <a:ea typeface="Times New Roman" panose="02020603050405020304" pitchFamily="18" charset="0"/>
              </a:rPr>
              <a:t>:</a:t>
            </a:r>
            <a:r>
              <a:rPr lang="en-US" dirty="0">
                <a:solidFill>
                  <a:srgbClr val="1F2C8F"/>
                </a:solidFill>
                <a:latin typeface="Times New Roman" panose="02020603050405020304" pitchFamily="18" charset="0"/>
                <a:ea typeface="Times New Roman" panose="02020603050405020304" pitchFamily="18" charset="0"/>
              </a:rPr>
              <a:t> There is no association between age group and transportation mode.</a:t>
            </a:r>
            <a:endParaRPr lang="en-IN" sz="1600" dirty="0">
              <a:solidFill>
                <a:srgbClr val="1F2C8F"/>
              </a:solidFill>
              <a:latin typeface="Times New Roman" panose="02020603050405020304" pitchFamily="18" charset="0"/>
              <a:ea typeface="Times New Roman" panose="02020603050405020304" pitchFamily="18" charset="0"/>
            </a:endParaRPr>
          </a:p>
          <a:p>
            <a:pPr>
              <a:lnSpc>
                <a:spcPct val="150000"/>
              </a:lnSpc>
            </a:pPr>
            <a:r>
              <a:rPr lang="en-US" dirty="0">
                <a:solidFill>
                  <a:srgbClr val="1F2C8F"/>
                </a:solidFill>
                <a:latin typeface="Times New Roman" panose="02020603050405020304" pitchFamily="18" charset="0"/>
                <a:ea typeface="Times New Roman" panose="02020603050405020304" pitchFamily="18" charset="0"/>
              </a:rPr>
              <a:t>Alternative Hypothesis </a:t>
            </a:r>
            <a:r>
              <a:rPr lang="en-US" b="1" dirty="0">
                <a:solidFill>
                  <a:srgbClr val="1F2C8F"/>
                </a:solidFill>
                <a:latin typeface="Times New Roman" panose="02020603050405020304" pitchFamily="18" charset="0"/>
                <a:ea typeface="Times New Roman" panose="02020603050405020304" pitchFamily="18" charset="0"/>
              </a:rPr>
              <a:t>: </a:t>
            </a:r>
            <a:r>
              <a:rPr lang="en-US" dirty="0">
                <a:solidFill>
                  <a:srgbClr val="1F2C8F"/>
                </a:solidFill>
                <a:latin typeface="Times New Roman" panose="02020603050405020304" pitchFamily="18" charset="0"/>
                <a:ea typeface="Times New Roman" panose="02020603050405020304" pitchFamily="18" charset="0"/>
              </a:rPr>
              <a:t>There is an association between age group and transportation </a:t>
            </a:r>
            <a:endParaRPr lang="en-IN" dirty="0">
              <a:solidFill>
                <a:srgbClr val="1F2C8F"/>
              </a:solidFill>
            </a:endParaRPr>
          </a:p>
        </p:txBody>
      </p:sp>
      <p:sp>
        <p:nvSpPr>
          <p:cNvPr id="6" name="Rectangle 5"/>
          <p:cNvSpPr/>
          <p:nvPr/>
        </p:nvSpPr>
        <p:spPr>
          <a:xfrm>
            <a:off x="812241" y="2034701"/>
            <a:ext cx="2115003" cy="458074"/>
          </a:xfrm>
          <a:prstGeom prst="rect">
            <a:avLst/>
          </a:prstGeom>
        </p:spPr>
        <p:txBody>
          <a:bodyPr wrap="none">
            <a:spAutoFit/>
          </a:bodyPr>
          <a:lstStyle/>
          <a:p>
            <a:pPr algn="just">
              <a:lnSpc>
                <a:spcPct val="150000"/>
              </a:lnSpc>
              <a:spcAft>
                <a:spcPts val="0"/>
              </a:spcAft>
            </a:pPr>
            <a:r>
              <a:rPr lang="en-IN" b="1" dirty="0">
                <a:solidFill>
                  <a:srgbClr val="1F2C8F"/>
                </a:solidFill>
                <a:latin typeface="Times New Roman" panose="02020603050405020304" pitchFamily="18" charset="0"/>
                <a:ea typeface="Times New Roman" panose="02020603050405020304" pitchFamily="18" charset="0"/>
              </a:rPr>
              <a:t>Contingency Tables</a:t>
            </a:r>
            <a:endParaRPr lang="en-IN" sz="1400" dirty="0">
              <a:solidFill>
                <a:srgbClr val="1F2C8F"/>
              </a:solidFill>
              <a:effectLst/>
              <a:latin typeface="Times New Roman" panose="02020603050405020304" pitchFamily="18" charset="0"/>
              <a:ea typeface="Times New Roman" panose="02020603050405020304" pitchFamily="18" charset="0"/>
            </a:endParaRPr>
          </a:p>
        </p:txBody>
      </p:sp>
      <p:sp>
        <p:nvSpPr>
          <p:cNvPr id="8" name="Rectangle 7"/>
          <p:cNvSpPr/>
          <p:nvPr/>
        </p:nvSpPr>
        <p:spPr>
          <a:xfrm>
            <a:off x="6884777" y="2263738"/>
            <a:ext cx="906338" cy="369332"/>
          </a:xfrm>
          <a:prstGeom prst="rect">
            <a:avLst/>
          </a:prstGeom>
        </p:spPr>
        <p:txBody>
          <a:bodyPr wrap="none">
            <a:spAutoFit/>
          </a:bodyPr>
          <a:lstStyle/>
          <a:p>
            <a:pPr>
              <a:spcAft>
                <a:spcPts val="0"/>
              </a:spcAft>
            </a:pPr>
            <a:r>
              <a:rPr lang="en-IN" b="1" dirty="0">
                <a:solidFill>
                  <a:srgbClr val="1F2C8F"/>
                </a:solidFill>
                <a:latin typeface="Times New Roman" panose="02020603050405020304" pitchFamily="18" charset="0"/>
                <a:ea typeface="Times New Roman" panose="02020603050405020304" pitchFamily="18" charset="0"/>
              </a:rPr>
              <a:t>χ² Tests</a:t>
            </a:r>
            <a:endParaRPr lang="en-IN" sz="1400" dirty="0">
              <a:solidFill>
                <a:srgbClr val="1F2C8F"/>
              </a:solidFill>
              <a:effectLst/>
              <a:latin typeface="Times New Roman" panose="02020603050405020304" pitchFamily="18" charset="0"/>
              <a:ea typeface="Times New Roman" panose="02020603050405020304" pitchFamily="18" charset="0"/>
            </a:endParaRPr>
          </a:p>
        </p:txBody>
      </p:sp>
      <p:graphicFrame>
        <p:nvGraphicFramePr>
          <p:cNvPr id="9" name="Table 8"/>
          <p:cNvGraphicFramePr>
            <a:graphicFrameLocks noGrp="1"/>
          </p:cNvGraphicFramePr>
          <p:nvPr>
            <p:extLst>
              <p:ext uri="{D42A27DB-BD31-4B8C-83A1-F6EECF244321}">
                <p14:modId xmlns:p14="http://schemas.microsoft.com/office/powerpoint/2010/main" val="189440196"/>
              </p:ext>
            </p:extLst>
          </p:nvPr>
        </p:nvGraphicFramePr>
        <p:xfrm>
          <a:off x="6505324" y="2911855"/>
          <a:ext cx="3512132" cy="800336"/>
        </p:xfrm>
        <a:graphic>
          <a:graphicData uri="http://schemas.openxmlformats.org/drawingml/2006/table">
            <a:tbl>
              <a:tblPr firstRow="1" firstCol="1" bandRow="1">
                <a:tableStyleId>{5940675A-B579-460E-94D1-54222C63F5DA}</a:tableStyleId>
              </a:tblPr>
              <a:tblGrid>
                <a:gridCol w="878033">
                  <a:extLst>
                    <a:ext uri="{9D8B030D-6E8A-4147-A177-3AD203B41FA5}">
                      <a16:colId xmlns:a16="http://schemas.microsoft.com/office/drawing/2014/main" val="20000"/>
                    </a:ext>
                  </a:extLst>
                </a:gridCol>
                <a:gridCol w="878033">
                  <a:extLst>
                    <a:ext uri="{9D8B030D-6E8A-4147-A177-3AD203B41FA5}">
                      <a16:colId xmlns:a16="http://schemas.microsoft.com/office/drawing/2014/main" val="20001"/>
                    </a:ext>
                  </a:extLst>
                </a:gridCol>
                <a:gridCol w="878033">
                  <a:extLst>
                    <a:ext uri="{9D8B030D-6E8A-4147-A177-3AD203B41FA5}">
                      <a16:colId xmlns:a16="http://schemas.microsoft.com/office/drawing/2014/main" val="20002"/>
                    </a:ext>
                  </a:extLst>
                </a:gridCol>
                <a:gridCol w="878033">
                  <a:extLst>
                    <a:ext uri="{9D8B030D-6E8A-4147-A177-3AD203B41FA5}">
                      <a16:colId xmlns:a16="http://schemas.microsoft.com/office/drawing/2014/main" val="20003"/>
                    </a:ext>
                  </a:extLst>
                </a:gridCol>
              </a:tblGrid>
              <a:tr h="269204">
                <a:tc>
                  <a:txBody>
                    <a:bodyPr/>
                    <a:lstStyle/>
                    <a:p>
                      <a:pPr algn="ctr">
                        <a:spcAft>
                          <a:spcPts val="0"/>
                        </a:spcAft>
                      </a:pPr>
                      <a:r>
                        <a:rPr lang="en-IN" sz="1200" dirty="0">
                          <a:solidFill>
                            <a:srgbClr val="1F2C8F"/>
                          </a:solidFill>
                          <a:effectLst/>
                        </a:rPr>
                        <a:t> </a:t>
                      </a:r>
                      <a:endParaRPr lang="en-IN" sz="11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1200">
                          <a:solidFill>
                            <a:srgbClr val="1F2C8F"/>
                          </a:solidFill>
                          <a:effectLst/>
                        </a:rPr>
                        <a:t>Value</a:t>
                      </a:r>
                      <a:endParaRPr lang="en-IN" sz="11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1200">
                          <a:solidFill>
                            <a:srgbClr val="1F2C8F"/>
                          </a:solidFill>
                          <a:effectLst/>
                        </a:rPr>
                        <a:t>df</a:t>
                      </a:r>
                      <a:endParaRPr lang="en-IN" sz="11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1200">
                          <a:solidFill>
                            <a:srgbClr val="1F2C8F"/>
                          </a:solidFill>
                          <a:effectLst/>
                        </a:rPr>
                        <a:t>p</a:t>
                      </a:r>
                      <a:endParaRPr lang="en-IN" sz="11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261928">
                <a:tc>
                  <a:txBody>
                    <a:bodyPr/>
                    <a:lstStyle/>
                    <a:p>
                      <a:pPr>
                        <a:spcAft>
                          <a:spcPts val="0"/>
                        </a:spcAft>
                      </a:pPr>
                      <a:r>
                        <a:rPr lang="en-IN" sz="1200">
                          <a:solidFill>
                            <a:srgbClr val="1F2C8F"/>
                          </a:solidFill>
                          <a:effectLst/>
                        </a:rPr>
                        <a:t>χ²</a:t>
                      </a:r>
                      <a:endParaRPr lang="en-IN" sz="11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1200" dirty="0">
                          <a:solidFill>
                            <a:srgbClr val="1F2C8F"/>
                          </a:solidFill>
                          <a:effectLst/>
                        </a:rPr>
                        <a:t>4.61</a:t>
                      </a:r>
                      <a:endParaRPr lang="en-IN" sz="11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1200">
                          <a:solidFill>
                            <a:srgbClr val="1F2C8F"/>
                          </a:solidFill>
                          <a:effectLst/>
                        </a:rPr>
                        <a:t>4</a:t>
                      </a:r>
                      <a:endParaRPr lang="en-IN" sz="11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1200">
                          <a:solidFill>
                            <a:srgbClr val="1F2C8F"/>
                          </a:solidFill>
                          <a:effectLst/>
                        </a:rPr>
                        <a:t>0.329</a:t>
                      </a:r>
                      <a:endParaRPr lang="en-IN" sz="11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269204">
                <a:tc>
                  <a:txBody>
                    <a:bodyPr/>
                    <a:lstStyle/>
                    <a:p>
                      <a:pPr>
                        <a:spcAft>
                          <a:spcPts val="0"/>
                        </a:spcAft>
                      </a:pPr>
                      <a:r>
                        <a:rPr lang="en-IN" sz="1200">
                          <a:solidFill>
                            <a:srgbClr val="1F2C8F"/>
                          </a:solidFill>
                          <a:effectLst/>
                        </a:rPr>
                        <a:t>N</a:t>
                      </a:r>
                      <a:endParaRPr lang="en-IN" sz="11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1200" dirty="0">
                          <a:solidFill>
                            <a:srgbClr val="1F2C8F"/>
                          </a:solidFill>
                          <a:effectLst/>
                        </a:rPr>
                        <a:t>366</a:t>
                      </a:r>
                      <a:endParaRPr lang="en-IN" sz="11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n-IN" sz="1100" dirty="0">
                        <a:solidFill>
                          <a:srgbClr val="1F2C8F"/>
                        </a:solidFill>
                        <a:effectLst/>
                        <a:latin typeface="Calibri" panose="020F0502020204030204" pitchFamily="34" charset="0"/>
                        <a:cs typeface="Times New Roman" panose="02020603050405020304" pitchFamily="18" charset="0"/>
                      </a:endParaRPr>
                    </a:p>
                  </a:txBody>
                  <a:tcPr marL="68580" marR="68580" marT="0" marB="0"/>
                </a:tc>
                <a:tc>
                  <a:txBody>
                    <a:bodyPr/>
                    <a:lstStyle/>
                    <a:p>
                      <a:endParaRPr lang="en-IN" sz="1100" dirty="0">
                        <a:solidFill>
                          <a:srgbClr val="1F2C8F"/>
                        </a:solidFill>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bl>
          </a:graphicData>
        </a:graphic>
      </p:graphicFrame>
      <p:sp>
        <p:nvSpPr>
          <p:cNvPr id="10" name="Rectangle 9"/>
          <p:cNvSpPr/>
          <p:nvPr/>
        </p:nvSpPr>
        <p:spPr>
          <a:xfrm>
            <a:off x="5330027" y="4529881"/>
            <a:ext cx="6096000" cy="1525418"/>
          </a:xfrm>
          <a:prstGeom prst="rect">
            <a:avLst/>
          </a:prstGeom>
        </p:spPr>
        <p:txBody>
          <a:bodyPr wrap="square">
            <a:spAutoFit/>
          </a:bodyPr>
          <a:lstStyle/>
          <a:p>
            <a:pPr algn="just">
              <a:lnSpc>
                <a:spcPct val="150000"/>
              </a:lnSpc>
              <a:spcAft>
                <a:spcPts val="0"/>
              </a:spcAft>
            </a:pPr>
            <a:r>
              <a:rPr lang="en-US" sz="1600" dirty="0">
                <a:solidFill>
                  <a:srgbClr val="1F2C8F"/>
                </a:solidFill>
                <a:latin typeface="Times New Roman" panose="02020603050405020304" pitchFamily="18" charset="0"/>
                <a:ea typeface="Times New Roman" panose="02020603050405020304" pitchFamily="18" charset="0"/>
              </a:rPr>
              <a:t>p-value greater than 0.05 would indicate we fail to reject the null hypothesis.</a:t>
            </a:r>
            <a:endParaRPr lang="en-IN" sz="1600" dirty="0">
              <a:solidFill>
                <a:srgbClr val="1F2C8F"/>
              </a:solidFill>
              <a:latin typeface="Times New Roman" panose="02020603050405020304" pitchFamily="18" charset="0"/>
              <a:ea typeface="Times New Roman" panose="02020603050405020304" pitchFamily="18" charset="0"/>
            </a:endParaRPr>
          </a:p>
          <a:p>
            <a:pPr algn="just">
              <a:lnSpc>
                <a:spcPct val="150000"/>
              </a:lnSpc>
              <a:spcAft>
                <a:spcPts val="0"/>
              </a:spcAft>
            </a:pPr>
            <a:r>
              <a:rPr lang="en-US" sz="1600" dirty="0">
                <a:solidFill>
                  <a:srgbClr val="1F2C8F"/>
                </a:solidFill>
                <a:latin typeface="Times New Roman" panose="02020603050405020304" pitchFamily="18" charset="0"/>
                <a:ea typeface="Times New Roman" panose="02020603050405020304" pitchFamily="18" charset="0"/>
              </a:rPr>
              <a:t>Thus, there’s no significant association between age group and transportation mode.</a:t>
            </a:r>
            <a:endParaRPr lang="en-IN" sz="1600" dirty="0">
              <a:solidFill>
                <a:srgbClr val="1F2C8F"/>
              </a:solidFill>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3123761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endParaRPr lang="en-IN" dirty="0"/>
          </a:p>
        </p:txBody>
      </p:sp>
      <p:graphicFrame>
        <p:nvGraphicFramePr>
          <p:cNvPr id="19" name="Content Placeholder 18"/>
          <p:cNvGraphicFramePr>
            <a:graphicFrameLocks noGrp="1"/>
          </p:cNvGraphicFramePr>
          <p:nvPr>
            <p:ph sz="quarter" idx="4"/>
            <p:extLst>
              <p:ext uri="{D42A27DB-BD31-4B8C-83A1-F6EECF244321}">
                <p14:modId xmlns:p14="http://schemas.microsoft.com/office/powerpoint/2010/main" val="4223823874"/>
              </p:ext>
            </p:extLst>
          </p:nvPr>
        </p:nvGraphicFramePr>
        <p:xfrm>
          <a:off x="629910" y="5089862"/>
          <a:ext cx="5111115" cy="1525270"/>
        </p:xfrm>
        <a:graphic>
          <a:graphicData uri="http://schemas.openxmlformats.org/drawingml/2006/table">
            <a:tbl>
              <a:tblPr firstRow="1" firstCol="1" bandRow="1">
                <a:tableStyleId>{5940675A-B579-460E-94D1-54222C63F5DA}</a:tableStyleId>
              </a:tblPr>
              <a:tblGrid>
                <a:gridCol w="3686810">
                  <a:extLst>
                    <a:ext uri="{9D8B030D-6E8A-4147-A177-3AD203B41FA5}">
                      <a16:colId xmlns:a16="http://schemas.microsoft.com/office/drawing/2014/main" val="20000"/>
                    </a:ext>
                  </a:extLst>
                </a:gridCol>
                <a:gridCol w="1424305">
                  <a:extLst>
                    <a:ext uri="{9D8B030D-6E8A-4147-A177-3AD203B41FA5}">
                      <a16:colId xmlns:a16="http://schemas.microsoft.com/office/drawing/2014/main" val="20001"/>
                    </a:ext>
                  </a:extLst>
                </a:gridCol>
              </a:tblGrid>
              <a:tr h="219710">
                <a:tc>
                  <a:txBody>
                    <a:bodyPr/>
                    <a:lstStyle/>
                    <a:p>
                      <a:pPr algn="ctr">
                        <a:spcAft>
                          <a:spcPts val="0"/>
                        </a:spcAft>
                      </a:pPr>
                      <a:r>
                        <a:rPr lang="en-US" sz="1400" dirty="0">
                          <a:solidFill>
                            <a:srgbClr val="1F2C8F"/>
                          </a:solidFill>
                          <a:effectLst/>
                        </a:rPr>
                        <a:t>Impact Type</a:t>
                      </a:r>
                      <a:endParaRPr lang="en-IN" sz="14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US" sz="1400">
                          <a:solidFill>
                            <a:srgbClr val="1F2C8F"/>
                          </a:solidFill>
                          <a:effectLst/>
                        </a:rPr>
                        <a:t>% of Respondents</a:t>
                      </a:r>
                      <a:endParaRPr lang="en-IN" sz="14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219710">
                <a:tc>
                  <a:txBody>
                    <a:bodyPr/>
                    <a:lstStyle/>
                    <a:p>
                      <a:pPr>
                        <a:spcAft>
                          <a:spcPts val="0"/>
                        </a:spcAft>
                      </a:pPr>
                      <a:r>
                        <a:rPr lang="en-US" sz="1400" dirty="0">
                          <a:solidFill>
                            <a:srgbClr val="1F2C8F"/>
                          </a:solidFill>
                          <a:effectLst/>
                        </a:rPr>
                        <a:t>Increase in Travel Time</a:t>
                      </a:r>
                      <a:endParaRPr lang="en-IN" sz="14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US" sz="1400">
                          <a:solidFill>
                            <a:srgbClr val="1F2C8F"/>
                          </a:solidFill>
                          <a:effectLst/>
                        </a:rPr>
                        <a:t>75.4%</a:t>
                      </a:r>
                      <a:endParaRPr lang="en-IN" sz="14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219710">
                <a:tc>
                  <a:txBody>
                    <a:bodyPr/>
                    <a:lstStyle/>
                    <a:p>
                      <a:pPr>
                        <a:spcAft>
                          <a:spcPts val="0"/>
                        </a:spcAft>
                      </a:pPr>
                      <a:r>
                        <a:rPr lang="en-US" sz="1400" dirty="0">
                          <a:solidFill>
                            <a:srgbClr val="1F2C8F"/>
                          </a:solidFill>
                          <a:effectLst/>
                        </a:rPr>
                        <a:t>Stress and Fatigue</a:t>
                      </a:r>
                      <a:endParaRPr lang="en-IN" sz="14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US" sz="1400">
                          <a:solidFill>
                            <a:srgbClr val="1F2C8F"/>
                          </a:solidFill>
                          <a:effectLst/>
                        </a:rPr>
                        <a:t>61.0%</a:t>
                      </a:r>
                      <a:endParaRPr lang="en-IN" sz="14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219710">
                <a:tc>
                  <a:txBody>
                    <a:bodyPr/>
                    <a:lstStyle/>
                    <a:p>
                      <a:pPr>
                        <a:spcAft>
                          <a:spcPts val="0"/>
                        </a:spcAft>
                      </a:pPr>
                      <a:r>
                        <a:rPr lang="en-US" sz="1400" dirty="0">
                          <a:solidFill>
                            <a:srgbClr val="1F2C8F"/>
                          </a:solidFill>
                          <a:effectLst/>
                        </a:rPr>
                        <a:t>Increased Fuel Consumption</a:t>
                      </a:r>
                      <a:endParaRPr lang="en-IN" sz="14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US" sz="1400" dirty="0">
                          <a:solidFill>
                            <a:srgbClr val="1F2C8F"/>
                          </a:solidFill>
                          <a:effectLst/>
                        </a:rPr>
                        <a:t>41.0%</a:t>
                      </a:r>
                      <a:endParaRPr lang="en-IN" sz="14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219710">
                <a:tc>
                  <a:txBody>
                    <a:bodyPr/>
                    <a:lstStyle/>
                    <a:p>
                      <a:pPr>
                        <a:spcAft>
                          <a:spcPts val="0"/>
                        </a:spcAft>
                      </a:pPr>
                      <a:r>
                        <a:rPr lang="en-US" sz="1400" dirty="0">
                          <a:solidFill>
                            <a:srgbClr val="1F2C8F"/>
                          </a:solidFill>
                          <a:effectLst/>
                        </a:rPr>
                        <a:t>Risk of Accident</a:t>
                      </a:r>
                      <a:endParaRPr lang="en-IN" sz="14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US" sz="1400" dirty="0">
                          <a:solidFill>
                            <a:srgbClr val="1F2C8F"/>
                          </a:solidFill>
                          <a:effectLst/>
                        </a:rPr>
                        <a:t>36.2%</a:t>
                      </a:r>
                      <a:endParaRPr lang="en-IN" sz="14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219710">
                <a:tc>
                  <a:txBody>
                    <a:bodyPr/>
                    <a:lstStyle/>
                    <a:p>
                      <a:pPr>
                        <a:spcAft>
                          <a:spcPts val="0"/>
                        </a:spcAft>
                      </a:pPr>
                      <a:r>
                        <a:rPr lang="en-US" sz="1400" dirty="0">
                          <a:solidFill>
                            <a:srgbClr val="1F2C8F"/>
                          </a:solidFill>
                          <a:effectLst/>
                        </a:rPr>
                        <a:t>Missed Appointments/Events</a:t>
                      </a:r>
                      <a:endParaRPr lang="en-IN" sz="14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US" sz="1400" dirty="0">
                          <a:solidFill>
                            <a:srgbClr val="1F2C8F"/>
                          </a:solidFill>
                          <a:effectLst/>
                        </a:rPr>
                        <a:t>16.2%</a:t>
                      </a:r>
                      <a:endParaRPr lang="en-IN" sz="14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5"/>
                  </a:ext>
                </a:extLst>
              </a:tr>
            </a:tbl>
          </a:graphicData>
        </a:graphic>
      </p:graphicFrame>
      <p:sp>
        <p:nvSpPr>
          <p:cNvPr id="4" name="Slide Number Placeholder 3" hidden="1"/>
          <p:cNvSpPr>
            <a:spLocks noGrp="1"/>
          </p:cNvSpPr>
          <p:nvPr>
            <p:ph type="sldNum" sz="quarter" idx="10"/>
          </p:nvPr>
        </p:nvSpPr>
        <p:spPr/>
        <p:txBody>
          <a:bodyPr/>
          <a:lstStyle/>
          <a:p>
            <a:fld id="{48F63A3B-78C7-47BE-AE5E-E10140E04643}" type="slidenum">
              <a:rPr lang="en-US" smtClean="0"/>
              <a:pPr/>
              <a:t>13</a:t>
            </a:fld>
            <a:endParaRPr lang="en-US" dirty="0"/>
          </a:p>
        </p:txBody>
      </p:sp>
      <p:graphicFrame>
        <p:nvGraphicFramePr>
          <p:cNvPr id="5" name="Diagram 4">
            <a:extLst>
              <a:ext uri="{FF2B5EF4-FFF2-40B4-BE49-F238E27FC236}">
                <a16:creationId xmlns:a16="http://schemas.microsoft.com/office/drawing/2014/main" id="{D20B6416-FDE1-C858-4E68-4B1507A1BB56}"/>
              </a:ext>
            </a:extLst>
          </p:cNvPr>
          <p:cNvGraphicFramePr/>
          <p:nvPr>
            <p:extLst>
              <p:ext uri="{D42A27DB-BD31-4B8C-83A1-F6EECF244321}">
                <p14:modId xmlns:p14="http://schemas.microsoft.com/office/powerpoint/2010/main" val="3289238728"/>
              </p:ext>
            </p:extLst>
          </p:nvPr>
        </p:nvGraphicFramePr>
        <p:xfrm>
          <a:off x="914400" y="1057274"/>
          <a:ext cx="4327525" cy="364426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Rectangle 6"/>
          <p:cNvSpPr/>
          <p:nvPr/>
        </p:nvSpPr>
        <p:spPr>
          <a:xfrm>
            <a:off x="1951630" y="375763"/>
            <a:ext cx="7806519" cy="57699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1F2C8F"/>
                </a:solidFill>
              </a:rPr>
              <a:t>Public Perception and Traffic Congestion</a:t>
            </a:r>
            <a:endParaRPr lang="en-IN" sz="2800" dirty="0">
              <a:solidFill>
                <a:srgbClr val="1F2C8F"/>
              </a:solidFill>
            </a:endParaRPr>
          </a:p>
        </p:txBody>
      </p:sp>
      <p:grpSp>
        <p:nvGrpSpPr>
          <p:cNvPr id="8" name="Group 7">
            <a:extLst>
              <a:ext uri="{FF2B5EF4-FFF2-40B4-BE49-F238E27FC236}">
                <a16:creationId xmlns:a16="http://schemas.microsoft.com/office/drawing/2014/main" id="{33B45FB2-6B3A-EEB7-B7B3-84BCA5F87A41}"/>
              </a:ext>
            </a:extLst>
          </p:cNvPr>
          <p:cNvGrpSpPr/>
          <p:nvPr/>
        </p:nvGrpSpPr>
        <p:grpSpPr>
          <a:xfrm>
            <a:off x="6443003" y="3151163"/>
            <a:ext cx="5233182" cy="3375611"/>
            <a:chOff x="0" y="0"/>
            <a:chExt cx="5081195" cy="3377901"/>
          </a:xfrm>
        </p:grpSpPr>
        <p:grpSp>
          <p:nvGrpSpPr>
            <p:cNvPr id="9" name="Group 8">
              <a:extLst>
                <a:ext uri="{FF2B5EF4-FFF2-40B4-BE49-F238E27FC236}">
                  <a16:creationId xmlns:a16="http://schemas.microsoft.com/office/drawing/2014/main" id="{34566403-80E1-DD03-F59B-129618C694DC}"/>
                </a:ext>
              </a:extLst>
            </p:cNvPr>
            <p:cNvGrpSpPr/>
            <p:nvPr/>
          </p:nvGrpSpPr>
          <p:grpSpPr>
            <a:xfrm>
              <a:off x="0" y="0"/>
              <a:ext cx="5081195" cy="3377901"/>
              <a:chOff x="0" y="0"/>
              <a:chExt cx="5081195" cy="3377901"/>
            </a:xfrm>
          </p:grpSpPr>
          <p:graphicFrame>
            <p:nvGraphicFramePr>
              <p:cNvPr id="15" name="Diagram 14">
                <a:extLst>
                  <a:ext uri="{FF2B5EF4-FFF2-40B4-BE49-F238E27FC236}">
                    <a16:creationId xmlns:a16="http://schemas.microsoft.com/office/drawing/2014/main" id="{984597DA-63C0-DB99-8068-30805077BC38}"/>
                  </a:ext>
                </a:extLst>
              </p:cNvPr>
              <p:cNvGraphicFramePr/>
              <p:nvPr/>
            </p:nvGraphicFramePr>
            <p:xfrm>
              <a:off x="0" y="0"/>
              <a:ext cx="5081195" cy="3377901"/>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16" name="Oval 15">
                <a:extLst>
                  <a:ext uri="{FF2B5EF4-FFF2-40B4-BE49-F238E27FC236}">
                    <a16:creationId xmlns:a16="http://schemas.microsoft.com/office/drawing/2014/main" id="{BB977F58-E791-B76E-86EC-CFCA2825AB5E}"/>
                  </a:ext>
                </a:extLst>
              </p:cNvPr>
              <p:cNvSpPr/>
              <p:nvPr/>
            </p:nvSpPr>
            <p:spPr>
              <a:xfrm>
                <a:off x="2025126" y="1254611"/>
                <a:ext cx="1022400" cy="1021976"/>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0"/>
                  </a:spcAft>
                </a:pPr>
                <a:r>
                  <a:rPr lang="en-US" sz="1100">
                    <a:solidFill>
                      <a:srgbClr val="FFFFFF"/>
                    </a:solidFill>
                    <a:effectLst/>
                    <a:ea typeface="Times New Roman" panose="02020603050405020304" pitchFamily="18" charset="0"/>
                    <a:cs typeface="Times New Roman" panose="02020603050405020304" pitchFamily="18" charset="0"/>
                  </a:rPr>
                  <a:t>Impact on Daily Life</a:t>
                </a:r>
                <a:endParaRPr lang="en-IN" sz="1100">
                  <a:effectLst/>
                  <a:latin typeface="Times New Roman" panose="02020603050405020304" pitchFamily="18" charset="0"/>
                  <a:ea typeface="Times New Roman" panose="02020603050405020304" pitchFamily="18" charset="0"/>
                </a:endParaRPr>
              </a:p>
            </p:txBody>
          </p:sp>
        </p:grpSp>
        <p:cxnSp>
          <p:nvCxnSpPr>
            <p:cNvPr id="10" name="Straight Arrow Connector 9">
              <a:extLst>
                <a:ext uri="{FF2B5EF4-FFF2-40B4-BE49-F238E27FC236}">
                  <a16:creationId xmlns:a16="http://schemas.microsoft.com/office/drawing/2014/main" id="{B3C58970-7163-1747-3DE1-B98A46641CA9}"/>
                </a:ext>
              </a:extLst>
            </p:cNvPr>
            <p:cNvCxnSpPr/>
            <p:nvPr/>
          </p:nvCxnSpPr>
          <p:spPr>
            <a:xfrm flipH="1" flipV="1">
              <a:off x="1728395" y="1396701"/>
              <a:ext cx="363519" cy="1832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97AD1BA4-5C00-4C9D-BB96-9FC63CE2243C}"/>
                </a:ext>
              </a:extLst>
            </p:cNvPr>
            <p:cNvCxnSpPr>
              <a:stCxn id="16" idx="0"/>
            </p:cNvCxnSpPr>
            <p:nvPr/>
          </p:nvCxnSpPr>
          <p:spPr>
            <a:xfrm flipH="1" flipV="1">
              <a:off x="2520875" y="726141"/>
              <a:ext cx="15451" cy="5284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E5DD0062-2594-4FA3-8C4C-11ED24982724}"/>
                </a:ext>
              </a:extLst>
            </p:cNvPr>
            <p:cNvCxnSpPr/>
            <p:nvPr/>
          </p:nvCxnSpPr>
          <p:spPr>
            <a:xfrm flipV="1">
              <a:off x="2975834" y="1373841"/>
              <a:ext cx="375621" cy="1909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7E30EDA4-2B36-4C5F-9630-BB24E4FD7C31}"/>
                </a:ext>
              </a:extLst>
            </p:cNvPr>
            <p:cNvCxnSpPr>
              <a:stCxn id="16" idx="5"/>
            </p:cNvCxnSpPr>
            <p:nvPr/>
          </p:nvCxnSpPr>
          <p:spPr>
            <a:xfrm>
              <a:off x="2897798" y="2126922"/>
              <a:ext cx="274034" cy="4532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E00B63B7-63ED-480D-91C8-DDB85A846902}"/>
                </a:ext>
              </a:extLst>
            </p:cNvPr>
            <p:cNvCxnSpPr>
              <a:stCxn id="16" idx="3"/>
            </p:cNvCxnSpPr>
            <p:nvPr/>
          </p:nvCxnSpPr>
          <p:spPr>
            <a:xfrm flipH="1">
              <a:off x="1793942" y="2126922"/>
              <a:ext cx="380912" cy="4623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aphicFrame>
        <p:nvGraphicFramePr>
          <p:cNvPr id="20" name="Table 19"/>
          <p:cNvGraphicFramePr>
            <a:graphicFrameLocks noGrp="1"/>
          </p:cNvGraphicFramePr>
          <p:nvPr>
            <p:extLst>
              <p:ext uri="{D42A27DB-BD31-4B8C-83A1-F6EECF244321}">
                <p14:modId xmlns:p14="http://schemas.microsoft.com/office/powerpoint/2010/main" val="1189584304"/>
              </p:ext>
            </p:extLst>
          </p:nvPr>
        </p:nvGraphicFramePr>
        <p:xfrm>
          <a:off x="5855635" y="1479971"/>
          <a:ext cx="5262245" cy="1493520"/>
        </p:xfrm>
        <a:graphic>
          <a:graphicData uri="http://schemas.openxmlformats.org/drawingml/2006/table">
            <a:tbl>
              <a:tblPr firstRow="1" firstCol="1" bandRow="1">
                <a:tableStyleId>{5940675A-B579-460E-94D1-54222C63F5DA}</a:tableStyleId>
              </a:tblPr>
              <a:tblGrid>
                <a:gridCol w="4011930">
                  <a:extLst>
                    <a:ext uri="{9D8B030D-6E8A-4147-A177-3AD203B41FA5}">
                      <a16:colId xmlns:a16="http://schemas.microsoft.com/office/drawing/2014/main" val="20000"/>
                    </a:ext>
                  </a:extLst>
                </a:gridCol>
                <a:gridCol w="1250315">
                  <a:extLst>
                    <a:ext uri="{9D8B030D-6E8A-4147-A177-3AD203B41FA5}">
                      <a16:colId xmlns:a16="http://schemas.microsoft.com/office/drawing/2014/main" val="20001"/>
                    </a:ext>
                  </a:extLst>
                </a:gridCol>
              </a:tblGrid>
              <a:tr h="392336">
                <a:tc>
                  <a:txBody>
                    <a:bodyPr/>
                    <a:lstStyle/>
                    <a:p>
                      <a:pPr algn="ctr">
                        <a:spcAft>
                          <a:spcPts val="0"/>
                        </a:spcAft>
                      </a:pPr>
                      <a:r>
                        <a:rPr lang="en-US" sz="1400" dirty="0">
                          <a:solidFill>
                            <a:srgbClr val="1F2C8F"/>
                          </a:solidFill>
                          <a:effectLst/>
                        </a:rPr>
                        <a:t>Cause</a:t>
                      </a:r>
                      <a:endParaRPr lang="en-IN" sz="14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spcAft>
                          <a:spcPts val="0"/>
                        </a:spcAft>
                      </a:pPr>
                      <a:r>
                        <a:rPr lang="en-US" sz="1400">
                          <a:solidFill>
                            <a:srgbClr val="1F2C8F"/>
                          </a:solidFill>
                          <a:effectLst/>
                        </a:rPr>
                        <a:t>% of Respondents</a:t>
                      </a:r>
                      <a:endParaRPr lang="en-IN" sz="14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0"/>
                  </a:ext>
                </a:extLst>
              </a:tr>
              <a:tr h="196168">
                <a:tc>
                  <a:txBody>
                    <a:bodyPr/>
                    <a:lstStyle/>
                    <a:p>
                      <a:pPr>
                        <a:spcAft>
                          <a:spcPts val="0"/>
                        </a:spcAft>
                      </a:pPr>
                      <a:r>
                        <a:rPr lang="en-US" sz="1400" dirty="0">
                          <a:solidFill>
                            <a:srgbClr val="1F2C8F"/>
                          </a:solidFill>
                          <a:effectLst/>
                        </a:rPr>
                        <a:t>Over flow of vehicles</a:t>
                      </a:r>
                      <a:endParaRPr lang="en-IN" sz="14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spcAft>
                          <a:spcPts val="0"/>
                        </a:spcAft>
                      </a:pPr>
                      <a:r>
                        <a:rPr lang="en-US" sz="1400">
                          <a:solidFill>
                            <a:srgbClr val="1F2C8F"/>
                          </a:solidFill>
                          <a:effectLst/>
                        </a:rPr>
                        <a:t>70.7%</a:t>
                      </a:r>
                      <a:endParaRPr lang="en-IN" sz="14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r h="196168">
                <a:tc>
                  <a:txBody>
                    <a:bodyPr/>
                    <a:lstStyle/>
                    <a:p>
                      <a:pPr>
                        <a:spcAft>
                          <a:spcPts val="0"/>
                        </a:spcAft>
                      </a:pPr>
                      <a:r>
                        <a:rPr lang="en-US" sz="1400" dirty="0">
                          <a:solidFill>
                            <a:srgbClr val="1F2C8F"/>
                          </a:solidFill>
                          <a:effectLst/>
                        </a:rPr>
                        <a:t>More Public near Mall and Metro station</a:t>
                      </a:r>
                      <a:endParaRPr lang="en-IN" sz="14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spcAft>
                          <a:spcPts val="0"/>
                        </a:spcAft>
                      </a:pPr>
                      <a:r>
                        <a:rPr lang="en-US" sz="1400" dirty="0">
                          <a:solidFill>
                            <a:srgbClr val="1F2C8F"/>
                          </a:solidFill>
                          <a:effectLst/>
                        </a:rPr>
                        <a:t>42.3%</a:t>
                      </a:r>
                      <a:endParaRPr lang="en-IN" sz="14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2"/>
                  </a:ext>
                </a:extLst>
              </a:tr>
              <a:tr h="196168">
                <a:tc>
                  <a:txBody>
                    <a:bodyPr/>
                    <a:lstStyle/>
                    <a:p>
                      <a:pPr>
                        <a:spcAft>
                          <a:spcPts val="0"/>
                        </a:spcAft>
                      </a:pPr>
                      <a:r>
                        <a:rPr lang="en-US" sz="1400" dirty="0">
                          <a:solidFill>
                            <a:srgbClr val="1F2C8F"/>
                          </a:solidFill>
                          <a:effectLst/>
                        </a:rPr>
                        <a:t>Connected to highway</a:t>
                      </a:r>
                      <a:endParaRPr lang="en-IN" sz="14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spcAft>
                          <a:spcPts val="0"/>
                        </a:spcAft>
                      </a:pPr>
                      <a:r>
                        <a:rPr lang="en-US" sz="1400" dirty="0">
                          <a:solidFill>
                            <a:srgbClr val="1F2C8F"/>
                          </a:solidFill>
                          <a:effectLst/>
                        </a:rPr>
                        <a:t>21.5%</a:t>
                      </a:r>
                      <a:endParaRPr lang="en-IN" sz="14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3"/>
                  </a:ext>
                </a:extLst>
              </a:tr>
              <a:tr h="196168">
                <a:tc>
                  <a:txBody>
                    <a:bodyPr/>
                    <a:lstStyle/>
                    <a:p>
                      <a:pPr>
                        <a:spcAft>
                          <a:spcPts val="0"/>
                        </a:spcAft>
                      </a:pPr>
                      <a:r>
                        <a:rPr lang="en-US" sz="1400">
                          <a:solidFill>
                            <a:srgbClr val="1F2C8F"/>
                          </a:solidFill>
                          <a:effectLst/>
                        </a:rPr>
                        <a:t>Road Design Issues</a:t>
                      </a:r>
                      <a:endParaRPr lang="en-IN" sz="14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spcAft>
                          <a:spcPts val="0"/>
                        </a:spcAft>
                      </a:pPr>
                      <a:r>
                        <a:rPr lang="en-US" sz="1400" dirty="0">
                          <a:solidFill>
                            <a:srgbClr val="1F2C8F"/>
                          </a:solidFill>
                          <a:effectLst/>
                        </a:rPr>
                        <a:t>18.5%</a:t>
                      </a:r>
                      <a:endParaRPr lang="en-IN" sz="14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4"/>
                  </a:ext>
                </a:extLst>
              </a:tr>
              <a:tr h="196168">
                <a:tc>
                  <a:txBody>
                    <a:bodyPr/>
                    <a:lstStyle/>
                    <a:p>
                      <a:pPr>
                        <a:spcAft>
                          <a:spcPts val="0"/>
                        </a:spcAft>
                      </a:pPr>
                      <a:r>
                        <a:rPr lang="en-US" sz="1400">
                          <a:solidFill>
                            <a:srgbClr val="1F2C8F"/>
                          </a:solidFill>
                          <a:effectLst/>
                        </a:rPr>
                        <a:t>Usage of Government Vehicles</a:t>
                      </a:r>
                      <a:endParaRPr lang="en-IN" sz="14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spcAft>
                          <a:spcPts val="0"/>
                        </a:spcAft>
                      </a:pPr>
                      <a:r>
                        <a:rPr lang="en-US" sz="1400" dirty="0">
                          <a:solidFill>
                            <a:srgbClr val="1F2C8F"/>
                          </a:solidFill>
                          <a:effectLst/>
                        </a:rPr>
                        <a:t>0.8%</a:t>
                      </a:r>
                      <a:endParaRPr lang="en-IN" sz="14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5"/>
                  </a:ext>
                </a:extLst>
              </a:tr>
            </a:tbl>
          </a:graphicData>
        </a:graphic>
      </p:graphicFrame>
      <p:sp>
        <p:nvSpPr>
          <p:cNvPr id="21" name="Rectangle 20"/>
          <p:cNvSpPr/>
          <p:nvPr/>
        </p:nvSpPr>
        <p:spPr>
          <a:xfrm>
            <a:off x="5788583" y="972140"/>
            <a:ext cx="2698175" cy="456535"/>
          </a:xfrm>
          <a:prstGeom prst="rect">
            <a:avLst/>
          </a:prstGeom>
        </p:spPr>
        <p:txBody>
          <a:bodyPr wrap="none">
            <a:spAutoFit/>
          </a:bodyPr>
          <a:lstStyle/>
          <a:p>
            <a:pPr algn="just">
              <a:lnSpc>
                <a:spcPct val="150000"/>
              </a:lnSpc>
              <a:spcAft>
                <a:spcPts val="800"/>
              </a:spcAft>
            </a:pPr>
            <a:r>
              <a:rPr lang="en-US" b="1" dirty="0">
                <a:solidFill>
                  <a:srgbClr val="1F2C8F"/>
                </a:solidFill>
              </a:rPr>
              <a:t>Causes of Congestion:</a:t>
            </a:r>
            <a:endParaRPr lang="en-IN" dirty="0">
              <a:solidFill>
                <a:srgbClr val="1F2C8F"/>
              </a:solidFill>
              <a:effectLst/>
            </a:endParaRPr>
          </a:p>
        </p:txBody>
      </p:sp>
      <p:sp>
        <p:nvSpPr>
          <p:cNvPr id="22" name="Rectangle 21"/>
          <p:cNvSpPr/>
          <p:nvPr/>
        </p:nvSpPr>
        <p:spPr>
          <a:xfrm>
            <a:off x="668682" y="4560985"/>
            <a:ext cx="2441694" cy="456535"/>
          </a:xfrm>
          <a:prstGeom prst="rect">
            <a:avLst/>
          </a:prstGeom>
        </p:spPr>
        <p:txBody>
          <a:bodyPr wrap="none">
            <a:spAutoFit/>
          </a:bodyPr>
          <a:lstStyle/>
          <a:p>
            <a:pPr algn="just">
              <a:lnSpc>
                <a:spcPct val="150000"/>
              </a:lnSpc>
              <a:spcAft>
                <a:spcPts val="800"/>
              </a:spcAft>
            </a:pPr>
            <a:r>
              <a:rPr lang="en-US" b="1" dirty="0">
                <a:solidFill>
                  <a:srgbClr val="1F2C8F"/>
                </a:solidFill>
              </a:rPr>
              <a:t>Impact on Daily Life:</a:t>
            </a:r>
            <a:endParaRPr lang="en-IN" dirty="0">
              <a:solidFill>
                <a:srgbClr val="1F2C8F"/>
              </a:solidFill>
              <a:effectLst/>
            </a:endParaRPr>
          </a:p>
        </p:txBody>
      </p:sp>
    </p:spTree>
    <p:extLst>
      <p:ext uri="{BB962C8B-B14F-4D97-AF65-F5344CB8AC3E}">
        <p14:creationId xmlns:p14="http://schemas.microsoft.com/office/powerpoint/2010/main" val="21922378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endParaRPr lang="en-IN" dirty="0"/>
          </a:p>
        </p:txBody>
      </p:sp>
      <p:graphicFrame>
        <p:nvGraphicFramePr>
          <p:cNvPr id="7" name="Content Placeholder 6"/>
          <p:cNvGraphicFramePr>
            <a:graphicFrameLocks noGrp="1"/>
          </p:cNvGraphicFramePr>
          <p:nvPr>
            <p:ph sz="quarter" idx="4"/>
            <p:extLst>
              <p:ext uri="{D42A27DB-BD31-4B8C-83A1-F6EECF244321}">
                <p14:modId xmlns:p14="http://schemas.microsoft.com/office/powerpoint/2010/main" val="1183596676"/>
              </p:ext>
            </p:extLst>
          </p:nvPr>
        </p:nvGraphicFramePr>
        <p:xfrm>
          <a:off x="6608103" y="4387903"/>
          <a:ext cx="5321300" cy="2073102"/>
        </p:xfrm>
        <a:graphic>
          <a:graphicData uri="http://schemas.openxmlformats.org/drawingml/2006/table">
            <a:tbl>
              <a:tblPr firstRow="1" firstCol="1" bandRow="1">
                <a:tableStyleId>{5940675A-B579-460E-94D1-54222C63F5DA}</a:tableStyleId>
              </a:tblPr>
              <a:tblGrid>
                <a:gridCol w="1824343">
                  <a:extLst>
                    <a:ext uri="{9D8B030D-6E8A-4147-A177-3AD203B41FA5}">
                      <a16:colId xmlns:a16="http://schemas.microsoft.com/office/drawing/2014/main" val="20000"/>
                    </a:ext>
                  </a:extLst>
                </a:gridCol>
                <a:gridCol w="1083957">
                  <a:extLst>
                    <a:ext uri="{9D8B030D-6E8A-4147-A177-3AD203B41FA5}">
                      <a16:colId xmlns:a16="http://schemas.microsoft.com/office/drawing/2014/main" val="20001"/>
                    </a:ext>
                  </a:extLst>
                </a:gridCol>
                <a:gridCol w="901700">
                  <a:extLst>
                    <a:ext uri="{9D8B030D-6E8A-4147-A177-3AD203B41FA5}">
                      <a16:colId xmlns:a16="http://schemas.microsoft.com/office/drawing/2014/main" val="20002"/>
                    </a:ext>
                  </a:extLst>
                </a:gridCol>
                <a:gridCol w="9017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4"/>
                    </a:ext>
                  </a:extLst>
                </a:gridCol>
              </a:tblGrid>
              <a:tr h="610062">
                <a:tc>
                  <a:txBody>
                    <a:bodyPr/>
                    <a:lstStyle/>
                    <a:p>
                      <a:pPr algn="l">
                        <a:spcAft>
                          <a:spcPts val="0"/>
                        </a:spcAft>
                      </a:pPr>
                      <a:r>
                        <a:rPr lang="en-IN" sz="1600" dirty="0">
                          <a:solidFill>
                            <a:srgbClr val="1F2C8F"/>
                          </a:solidFill>
                          <a:effectLst/>
                        </a:rPr>
                        <a:t>Occupation</a:t>
                      </a:r>
                      <a:endParaRPr lang="en-IN" sz="16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spcAft>
                          <a:spcPts val="0"/>
                        </a:spcAft>
                      </a:pPr>
                      <a:r>
                        <a:rPr lang="en-IN" sz="1600" dirty="0">
                          <a:solidFill>
                            <a:srgbClr val="1F2C8F"/>
                          </a:solidFill>
                          <a:effectLst/>
                        </a:rPr>
                        <a:t> Four Wheelers</a:t>
                      </a:r>
                      <a:endParaRPr lang="en-IN" sz="16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spcAft>
                          <a:spcPts val="0"/>
                        </a:spcAft>
                      </a:pPr>
                      <a:r>
                        <a:rPr lang="en-IN" sz="1600">
                          <a:solidFill>
                            <a:srgbClr val="1F2C8F"/>
                          </a:solidFill>
                          <a:effectLst/>
                        </a:rPr>
                        <a:t>Two wheelers</a:t>
                      </a:r>
                      <a:endParaRPr lang="en-IN" sz="16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spcAft>
                          <a:spcPts val="0"/>
                        </a:spcAft>
                      </a:pPr>
                      <a:r>
                        <a:rPr lang="en-IN" sz="1600">
                          <a:solidFill>
                            <a:srgbClr val="1F2C8F"/>
                          </a:solidFill>
                          <a:effectLst/>
                        </a:rPr>
                        <a:t>Auto rikshaws</a:t>
                      </a:r>
                      <a:endParaRPr lang="en-IN" sz="16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spcAft>
                          <a:spcPts val="0"/>
                        </a:spcAft>
                      </a:pPr>
                      <a:r>
                        <a:rPr lang="en-IN" sz="1600">
                          <a:solidFill>
                            <a:srgbClr val="1F2C8F"/>
                          </a:solidFill>
                          <a:effectLst/>
                        </a:rPr>
                        <a:t>Total</a:t>
                      </a:r>
                      <a:endParaRPr lang="en-IN" sz="16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0"/>
                  </a:ext>
                </a:extLst>
              </a:tr>
              <a:tr h="203354">
                <a:tc>
                  <a:txBody>
                    <a:bodyPr/>
                    <a:lstStyle/>
                    <a:p>
                      <a:pPr>
                        <a:spcAft>
                          <a:spcPts val="0"/>
                        </a:spcAft>
                      </a:pPr>
                      <a:r>
                        <a:rPr lang="en-IN" sz="1600" dirty="0">
                          <a:solidFill>
                            <a:srgbClr val="1F2C8F"/>
                          </a:solidFill>
                          <a:effectLst/>
                        </a:rPr>
                        <a:t>Housewife</a:t>
                      </a:r>
                      <a:endParaRPr lang="en-IN" sz="16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spcAft>
                          <a:spcPts val="0"/>
                        </a:spcAft>
                      </a:pPr>
                      <a:r>
                        <a:rPr lang="en-IN" sz="1600">
                          <a:solidFill>
                            <a:srgbClr val="1F2C8F"/>
                          </a:solidFill>
                          <a:effectLst/>
                        </a:rPr>
                        <a:t>0</a:t>
                      </a:r>
                      <a:endParaRPr lang="en-IN" sz="16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spcAft>
                          <a:spcPts val="0"/>
                        </a:spcAft>
                      </a:pPr>
                      <a:r>
                        <a:rPr lang="en-IN" sz="1600">
                          <a:solidFill>
                            <a:srgbClr val="1F2C8F"/>
                          </a:solidFill>
                          <a:effectLst/>
                        </a:rPr>
                        <a:t>1</a:t>
                      </a:r>
                      <a:endParaRPr lang="en-IN" sz="16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spcAft>
                          <a:spcPts val="0"/>
                        </a:spcAft>
                      </a:pPr>
                      <a:r>
                        <a:rPr lang="en-IN" sz="1600">
                          <a:solidFill>
                            <a:srgbClr val="1F2C8F"/>
                          </a:solidFill>
                          <a:effectLst/>
                        </a:rPr>
                        <a:t>1</a:t>
                      </a:r>
                      <a:endParaRPr lang="en-IN" sz="16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spcAft>
                          <a:spcPts val="0"/>
                        </a:spcAft>
                      </a:pPr>
                      <a:r>
                        <a:rPr lang="en-IN" sz="1600">
                          <a:solidFill>
                            <a:srgbClr val="1F2C8F"/>
                          </a:solidFill>
                          <a:effectLst/>
                        </a:rPr>
                        <a:t>2</a:t>
                      </a:r>
                      <a:endParaRPr lang="en-IN" sz="16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r h="203354">
                <a:tc>
                  <a:txBody>
                    <a:bodyPr/>
                    <a:lstStyle/>
                    <a:p>
                      <a:pPr>
                        <a:spcAft>
                          <a:spcPts val="0"/>
                        </a:spcAft>
                      </a:pPr>
                      <a:r>
                        <a:rPr lang="en-IN" sz="1600" dirty="0">
                          <a:solidFill>
                            <a:srgbClr val="1F2C8F"/>
                          </a:solidFill>
                          <a:effectLst/>
                        </a:rPr>
                        <a:t>Professional </a:t>
                      </a:r>
                      <a:endParaRPr lang="en-IN" sz="16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spcAft>
                          <a:spcPts val="0"/>
                        </a:spcAft>
                      </a:pPr>
                      <a:r>
                        <a:rPr lang="en-IN" sz="1600" dirty="0">
                          <a:solidFill>
                            <a:srgbClr val="1F2C8F"/>
                          </a:solidFill>
                          <a:effectLst/>
                        </a:rPr>
                        <a:t>7</a:t>
                      </a:r>
                      <a:endParaRPr lang="en-IN" sz="16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spcAft>
                          <a:spcPts val="0"/>
                        </a:spcAft>
                      </a:pPr>
                      <a:r>
                        <a:rPr lang="en-IN" sz="1600">
                          <a:solidFill>
                            <a:srgbClr val="1F2C8F"/>
                          </a:solidFill>
                          <a:effectLst/>
                        </a:rPr>
                        <a:t>8</a:t>
                      </a:r>
                      <a:endParaRPr lang="en-IN" sz="16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spcAft>
                          <a:spcPts val="0"/>
                        </a:spcAft>
                      </a:pPr>
                      <a:r>
                        <a:rPr lang="en-IN" sz="1600">
                          <a:solidFill>
                            <a:srgbClr val="1F2C8F"/>
                          </a:solidFill>
                          <a:effectLst/>
                        </a:rPr>
                        <a:t>2</a:t>
                      </a:r>
                      <a:endParaRPr lang="en-IN" sz="16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spcAft>
                          <a:spcPts val="0"/>
                        </a:spcAft>
                      </a:pPr>
                      <a:r>
                        <a:rPr lang="en-IN" sz="1600">
                          <a:solidFill>
                            <a:srgbClr val="1F2C8F"/>
                          </a:solidFill>
                          <a:effectLst/>
                        </a:rPr>
                        <a:t>17</a:t>
                      </a:r>
                      <a:endParaRPr lang="en-IN" sz="16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2"/>
                  </a:ext>
                </a:extLst>
              </a:tr>
              <a:tr h="203354">
                <a:tc>
                  <a:txBody>
                    <a:bodyPr/>
                    <a:lstStyle/>
                    <a:p>
                      <a:pPr>
                        <a:spcAft>
                          <a:spcPts val="0"/>
                        </a:spcAft>
                      </a:pPr>
                      <a:r>
                        <a:rPr lang="en-IN" sz="1600" dirty="0">
                          <a:solidFill>
                            <a:srgbClr val="1F2C8F"/>
                          </a:solidFill>
                          <a:effectLst/>
                        </a:rPr>
                        <a:t>Business</a:t>
                      </a:r>
                      <a:endParaRPr lang="en-IN" sz="16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spcAft>
                          <a:spcPts val="0"/>
                        </a:spcAft>
                      </a:pPr>
                      <a:r>
                        <a:rPr lang="en-IN" sz="1600" dirty="0">
                          <a:solidFill>
                            <a:srgbClr val="1F2C8F"/>
                          </a:solidFill>
                          <a:effectLst/>
                        </a:rPr>
                        <a:t>10</a:t>
                      </a:r>
                      <a:endParaRPr lang="en-IN" sz="16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spcAft>
                          <a:spcPts val="0"/>
                        </a:spcAft>
                      </a:pPr>
                      <a:r>
                        <a:rPr lang="en-IN" sz="1600">
                          <a:solidFill>
                            <a:srgbClr val="1F2C8F"/>
                          </a:solidFill>
                          <a:effectLst/>
                        </a:rPr>
                        <a:t>14</a:t>
                      </a:r>
                      <a:endParaRPr lang="en-IN" sz="16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spcAft>
                          <a:spcPts val="0"/>
                        </a:spcAft>
                      </a:pPr>
                      <a:r>
                        <a:rPr lang="en-IN" sz="1600">
                          <a:solidFill>
                            <a:srgbClr val="1F2C8F"/>
                          </a:solidFill>
                          <a:effectLst/>
                        </a:rPr>
                        <a:t>3</a:t>
                      </a:r>
                      <a:endParaRPr lang="en-IN" sz="16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spcAft>
                          <a:spcPts val="0"/>
                        </a:spcAft>
                      </a:pPr>
                      <a:r>
                        <a:rPr lang="en-IN" sz="1600">
                          <a:solidFill>
                            <a:srgbClr val="1F2C8F"/>
                          </a:solidFill>
                          <a:effectLst/>
                        </a:rPr>
                        <a:t>27</a:t>
                      </a:r>
                      <a:endParaRPr lang="en-IN" sz="16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3"/>
                  </a:ext>
                </a:extLst>
              </a:tr>
              <a:tr h="203354">
                <a:tc>
                  <a:txBody>
                    <a:bodyPr/>
                    <a:lstStyle/>
                    <a:p>
                      <a:pPr>
                        <a:spcAft>
                          <a:spcPts val="0"/>
                        </a:spcAft>
                      </a:pPr>
                      <a:r>
                        <a:rPr lang="en-IN" sz="1600">
                          <a:solidFill>
                            <a:srgbClr val="1F2C8F"/>
                          </a:solidFill>
                          <a:effectLst/>
                        </a:rPr>
                        <a:t>Pvt. or Govt. job</a:t>
                      </a:r>
                      <a:endParaRPr lang="en-IN" sz="16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spcAft>
                          <a:spcPts val="0"/>
                        </a:spcAft>
                      </a:pPr>
                      <a:r>
                        <a:rPr lang="en-IN" sz="1600" dirty="0">
                          <a:solidFill>
                            <a:srgbClr val="1F2C8F"/>
                          </a:solidFill>
                          <a:effectLst/>
                        </a:rPr>
                        <a:t>16</a:t>
                      </a:r>
                      <a:endParaRPr lang="en-IN" sz="16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spcAft>
                          <a:spcPts val="0"/>
                        </a:spcAft>
                      </a:pPr>
                      <a:r>
                        <a:rPr lang="en-IN" sz="1600">
                          <a:solidFill>
                            <a:srgbClr val="1F2C8F"/>
                          </a:solidFill>
                          <a:effectLst/>
                        </a:rPr>
                        <a:t>31</a:t>
                      </a:r>
                      <a:endParaRPr lang="en-IN" sz="16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spcAft>
                          <a:spcPts val="0"/>
                        </a:spcAft>
                      </a:pPr>
                      <a:r>
                        <a:rPr lang="en-IN" sz="1600">
                          <a:solidFill>
                            <a:srgbClr val="1F2C8F"/>
                          </a:solidFill>
                          <a:effectLst/>
                        </a:rPr>
                        <a:t>11</a:t>
                      </a:r>
                      <a:endParaRPr lang="en-IN" sz="16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spcAft>
                          <a:spcPts val="0"/>
                        </a:spcAft>
                      </a:pPr>
                      <a:r>
                        <a:rPr lang="en-IN" sz="1600" dirty="0">
                          <a:solidFill>
                            <a:srgbClr val="1F2C8F"/>
                          </a:solidFill>
                          <a:effectLst/>
                        </a:rPr>
                        <a:t>58</a:t>
                      </a:r>
                      <a:endParaRPr lang="en-IN" sz="16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4"/>
                  </a:ext>
                </a:extLst>
              </a:tr>
              <a:tr h="203354">
                <a:tc>
                  <a:txBody>
                    <a:bodyPr/>
                    <a:lstStyle/>
                    <a:p>
                      <a:pPr>
                        <a:spcAft>
                          <a:spcPts val="0"/>
                        </a:spcAft>
                      </a:pPr>
                      <a:r>
                        <a:rPr lang="en-IN" sz="1600">
                          <a:solidFill>
                            <a:srgbClr val="1F2C8F"/>
                          </a:solidFill>
                          <a:effectLst/>
                        </a:rPr>
                        <a:t>Student</a:t>
                      </a:r>
                      <a:endParaRPr lang="en-IN" sz="16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spcAft>
                          <a:spcPts val="0"/>
                        </a:spcAft>
                      </a:pPr>
                      <a:r>
                        <a:rPr lang="en-IN" sz="1600">
                          <a:solidFill>
                            <a:srgbClr val="1F2C8F"/>
                          </a:solidFill>
                          <a:effectLst/>
                        </a:rPr>
                        <a:t>33</a:t>
                      </a:r>
                      <a:endParaRPr lang="en-IN" sz="16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spcAft>
                          <a:spcPts val="0"/>
                        </a:spcAft>
                      </a:pPr>
                      <a:r>
                        <a:rPr lang="en-IN" sz="1600" dirty="0">
                          <a:solidFill>
                            <a:srgbClr val="1F2C8F"/>
                          </a:solidFill>
                          <a:effectLst/>
                        </a:rPr>
                        <a:t>61</a:t>
                      </a:r>
                      <a:endParaRPr lang="en-IN" sz="16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spcAft>
                          <a:spcPts val="0"/>
                        </a:spcAft>
                      </a:pPr>
                      <a:r>
                        <a:rPr lang="en-IN" sz="1600" dirty="0">
                          <a:solidFill>
                            <a:srgbClr val="1F2C8F"/>
                          </a:solidFill>
                          <a:effectLst/>
                        </a:rPr>
                        <a:t>29</a:t>
                      </a:r>
                      <a:endParaRPr lang="en-IN" sz="16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spcAft>
                          <a:spcPts val="0"/>
                        </a:spcAft>
                      </a:pPr>
                      <a:r>
                        <a:rPr lang="en-IN" sz="1600">
                          <a:solidFill>
                            <a:srgbClr val="1F2C8F"/>
                          </a:solidFill>
                          <a:effectLst/>
                        </a:rPr>
                        <a:t>123</a:t>
                      </a:r>
                      <a:endParaRPr lang="en-IN" sz="16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5"/>
                  </a:ext>
                </a:extLst>
              </a:tr>
              <a:tr h="203354">
                <a:tc>
                  <a:txBody>
                    <a:bodyPr/>
                    <a:lstStyle/>
                    <a:p>
                      <a:pPr>
                        <a:spcAft>
                          <a:spcPts val="0"/>
                        </a:spcAft>
                      </a:pPr>
                      <a:r>
                        <a:rPr lang="en-IN" sz="1600">
                          <a:solidFill>
                            <a:srgbClr val="1F2C8F"/>
                          </a:solidFill>
                          <a:effectLst/>
                        </a:rPr>
                        <a:t>Total</a:t>
                      </a:r>
                      <a:endParaRPr lang="en-IN" sz="16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spcAft>
                          <a:spcPts val="0"/>
                        </a:spcAft>
                      </a:pPr>
                      <a:r>
                        <a:rPr lang="en-IN" sz="1600">
                          <a:solidFill>
                            <a:srgbClr val="1F2C8F"/>
                          </a:solidFill>
                          <a:effectLst/>
                        </a:rPr>
                        <a:t>66</a:t>
                      </a:r>
                      <a:endParaRPr lang="en-IN" sz="16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spcAft>
                          <a:spcPts val="0"/>
                        </a:spcAft>
                      </a:pPr>
                      <a:r>
                        <a:rPr lang="en-IN" sz="1600" dirty="0">
                          <a:solidFill>
                            <a:srgbClr val="1F2C8F"/>
                          </a:solidFill>
                          <a:effectLst/>
                        </a:rPr>
                        <a:t>115</a:t>
                      </a:r>
                      <a:endParaRPr lang="en-IN" sz="16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spcAft>
                          <a:spcPts val="0"/>
                        </a:spcAft>
                      </a:pPr>
                      <a:r>
                        <a:rPr lang="en-IN" sz="1600" dirty="0">
                          <a:solidFill>
                            <a:srgbClr val="1F2C8F"/>
                          </a:solidFill>
                          <a:effectLst/>
                        </a:rPr>
                        <a:t>46</a:t>
                      </a:r>
                      <a:endParaRPr lang="en-IN" sz="16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spcAft>
                          <a:spcPts val="0"/>
                        </a:spcAft>
                      </a:pPr>
                      <a:r>
                        <a:rPr lang="en-IN" sz="1600" dirty="0">
                          <a:solidFill>
                            <a:srgbClr val="1F2C8F"/>
                          </a:solidFill>
                          <a:effectLst/>
                        </a:rPr>
                        <a:t>227</a:t>
                      </a:r>
                      <a:endParaRPr lang="en-IN" sz="16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6"/>
                  </a:ext>
                </a:extLst>
              </a:tr>
            </a:tbl>
          </a:graphicData>
        </a:graphic>
      </p:graphicFrame>
      <p:sp>
        <p:nvSpPr>
          <p:cNvPr id="4" name="Slide Number Placeholder 3" hidden="1"/>
          <p:cNvSpPr>
            <a:spLocks noGrp="1"/>
          </p:cNvSpPr>
          <p:nvPr>
            <p:ph type="sldNum" sz="quarter" idx="10"/>
          </p:nvPr>
        </p:nvSpPr>
        <p:spPr/>
        <p:txBody>
          <a:bodyPr/>
          <a:lstStyle/>
          <a:p>
            <a:fld id="{48F63A3B-78C7-47BE-AE5E-E10140E04643}" type="slidenum">
              <a:rPr lang="en-US" smtClean="0"/>
              <a:pPr/>
              <a:t>14</a:t>
            </a:fld>
            <a:endParaRPr lang="en-US" dirty="0"/>
          </a:p>
        </p:txBody>
      </p:sp>
      <p:graphicFrame>
        <p:nvGraphicFramePr>
          <p:cNvPr id="5" name="Chart 4">
            <a:extLst>
              <a:ext uri="{FF2B5EF4-FFF2-40B4-BE49-F238E27FC236}">
                <a16:creationId xmlns:a16="http://schemas.microsoft.com/office/drawing/2014/main" id="{C8DA8AB2-7A7B-1F27-B9B2-CAE2B3A72965}"/>
              </a:ext>
            </a:extLst>
          </p:cNvPr>
          <p:cNvGraphicFramePr/>
          <p:nvPr>
            <p:extLst>
              <p:ext uri="{D42A27DB-BD31-4B8C-83A1-F6EECF244321}">
                <p14:modId xmlns:p14="http://schemas.microsoft.com/office/powerpoint/2010/main" val="2870528323"/>
              </p:ext>
            </p:extLst>
          </p:nvPr>
        </p:nvGraphicFramePr>
        <p:xfrm>
          <a:off x="422031" y="3499047"/>
          <a:ext cx="5809956" cy="3096895"/>
        </p:xfrm>
        <a:graphic>
          <a:graphicData uri="http://schemas.openxmlformats.org/drawingml/2006/chart">
            <c:chart xmlns:c="http://schemas.openxmlformats.org/drawingml/2006/chart" xmlns:r="http://schemas.openxmlformats.org/officeDocument/2006/relationships" r:id="rId2"/>
          </a:graphicData>
        </a:graphic>
      </p:graphicFrame>
      <p:pic>
        <p:nvPicPr>
          <p:cNvPr id="6" name="Graphic 1"/>
          <p:cNvPicPr/>
          <p:nvPr/>
        </p:nvPicPr>
        <p:blipFill>
          <a:blip r:embed="rId3">
            <a:extLst>
              <a:ext uri="{96DAC541-7B7A-43D3-8B79-37D633B846F1}">
                <asvg:svgBlip xmlns:asvg="http://schemas.microsoft.com/office/drawing/2016/SVG/main" r:embed="rId4"/>
              </a:ext>
            </a:extLst>
          </a:blip>
          <a:stretch>
            <a:fillRect/>
          </a:stretch>
        </p:blipFill>
        <p:spPr>
          <a:xfrm>
            <a:off x="6428935" y="549443"/>
            <a:ext cx="4843145" cy="2576195"/>
          </a:xfrm>
          <a:prstGeom prst="rect">
            <a:avLst/>
          </a:prstGeom>
        </p:spPr>
      </p:pic>
      <p:graphicFrame>
        <p:nvGraphicFramePr>
          <p:cNvPr id="8" name="Table 7"/>
          <p:cNvGraphicFramePr>
            <a:graphicFrameLocks noGrp="1"/>
          </p:cNvGraphicFramePr>
          <p:nvPr>
            <p:extLst>
              <p:ext uri="{D42A27DB-BD31-4B8C-83A1-F6EECF244321}">
                <p14:modId xmlns:p14="http://schemas.microsoft.com/office/powerpoint/2010/main" val="1111215747"/>
              </p:ext>
            </p:extLst>
          </p:nvPr>
        </p:nvGraphicFramePr>
        <p:xfrm>
          <a:off x="1472858" y="1295241"/>
          <a:ext cx="4393370" cy="1419825"/>
        </p:xfrm>
        <a:graphic>
          <a:graphicData uri="http://schemas.openxmlformats.org/drawingml/2006/table">
            <a:tbl>
              <a:tblPr firstRow="1" firstCol="1" bandRow="1">
                <a:tableStyleId>{5940675A-B579-460E-94D1-54222C63F5DA}</a:tableStyleId>
              </a:tblPr>
              <a:tblGrid>
                <a:gridCol w="2063723">
                  <a:extLst>
                    <a:ext uri="{9D8B030D-6E8A-4147-A177-3AD203B41FA5}">
                      <a16:colId xmlns:a16="http://schemas.microsoft.com/office/drawing/2014/main" val="20000"/>
                    </a:ext>
                  </a:extLst>
                </a:gridCol>
                <a:gridCol w="2329647">
                  <a:extLst>
                    <a:ext uri="{9D8B030D-6E8A-4147-A177-3AD203B41FA5}">
                      <a16:colId xmlns:a16="http://schemas.microsoft.com/office/drawing/2014/main" val="20001"/>
                    </a:ext>
                  </a:extLst>
                </a:gridCol>
              </a:tblGrid>
              <a:tr h="283965">
                <a:tc>
                  <a:txBody>
                    <a:bodyPr/>
                    <a:lstStyle/>
                    <a:p>
                      <a:pPr algn="ctr">
                        <a:spcAft>
                          <a:spcPts val="0"/>
                        </a:spcAft>
                      </a:pPr>
                      <a:r>
                        <a:rPr lang="en-US" sz="1600" dirty="0">
                          <a:solidFill>
                            <a:srgbClr val="1F2C8F"/>
                          </a:solidFill>
                          <a:effectLst/>
                        </a:rPr>
                        <a:t>Response Type</a:t>
                      </a:r>
                      <a:endParaRPr lang="en-IN" sz="16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US" sz="1600">
                          <a:solidFill>
                            <a:srgbClr val="1F2C8F"/>
                          </a:solidFill>
                          <a:effectLst/>
                        </a:rPr>
                        <a:t>% of Respondents</a:t>
                      </a:r>
                      <a:endParaRPr lang="en-IN" sz="16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283965">
                <a:tc>
                  <a:txBody>
                    <a:bodyPr/>
                    <a:lstStyle/>
                    <a:p>
                      <a:pPr>
                        <a:spcAft>
                          <a:spcPts val="0"/>
                        </a:spcAft>
                      </a:pPr>
                      <a:r>
                        <a:rPr lang="en-US" sz="1600" dirty="0">
                          <a:solidFill>
                            <a:srgbClr val="1F2C8F"/>
                          </a:solidFill>
                          <a:effectLst/>
                        </a:rPr>
                        <a:t>Daily </a:t>
                      </a:r>
                      <a:endParaRPr lang="en-IN" sz="16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US" sz="1600" dirty="0">
                          <a:solidFill>
                            <a:srgbClr val="1F2C8F"/>
                          </a:solidFill>
                          <a:effectLst/>
                        </a:rPr>
                        <a:t>76.9%</a:t>
                      </a:r>
                      <a:endParaRPr lang="en-IN" sz="16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283965">
                <a:tc>
                  <a:txBody>
                    <a:bodyPr/>
                    <a:lstStyle/>
                    <a:p>
                      <a:pPr>
                        <a:spcAft>
                          <a:spcPts val="0"/>
                        </a:spcAft>
                      </a:pPr>
                      <a:r>
                        <a:rPr lang="en-US" sz="1600" dirty="0">
                          <a:solidFill>
                            <a:srgbClr val="1F2C8F"/>
                          </a:solidFill>
                          <a:effectLst/>
                        </a:rPr>
                        <a:t>Weekly</a:t>
                      </a:r>
                      <a:endParaRPr lang="en-IN" sz="16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US" sz="1600" dirty="0">
                          <a:solidFill>
                            <a:srgbClr val="1F2C8F"/>
                          </a:solidFill>
                          <a:effectLst/>
                        </a:rPr>
                        <a:t>13.1%</a:t>
                      </a:r>
                      <a:endParaRPr lang="en-IN" sz="16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283965">
                <a:tc>
                  <a:txBody>
                    <a:bodyPr/>
                    <a:lstStyle/>
                    <a:p>
                      <a:pPr>
                        <a:spcAft>
                          <a:spcPts val="0"/>
                        </a:spcAft>
                      </a:pPr>
                      <a:r>
                        <a:rPr lang="en-US" sz="1600" dirty="0">
                          <a:solidFill>
                            <a:srgbClr val="1F2C8F"/>
                          </a:solidFill>
                          <a:effectLst/>
                        </a:rPr>
                        <a:t>Occasionally</a:t>
                      </a:r>
                      <a:endParaRPr lang="en-IN" sz="16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US" sz="1600" dirty="0">
                          <a:solidFill>
                            <a:srgbClr val="1F2C8F"/>
                          </a:solidFill>
                          <a:effectLst/>
                        </a:rPr>
                        <a:t>11.5%</a:t>
                      </a:r>
                      <a:endParaRPr lang="en-IN" sz="16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283965">
                <a:tc>
                  <a:txBody>
                    <a:bodyPr/>
                    <a:lstStyle/>
                    <a:p>
                      <a:pPr>
                        <a:spcAft>
                          <a:spcPts val="0"/>
                        </a:spcAft>
                      </a:pPr>
                      <a:r>
                        <a:rPr lang="en-US" sz="1600">
                          <a:solidFill>
                            <a:srgbClr val="1F2C8F"/>
                          </a:solidFill>
                          <a:effectLst/>
                        </a:rPr>
                        <a:t>Rarely</a:t>
                      </a:r>
                      <a:endParaRPr lang="en-IN" sz="16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US" sz="1600" dirty="0">
                          <a:solidFill>
                            <a:srgbClr val="1F2C8F"/>
                          </a:solidFill>
                          <a:effectLst/>
                        </a:rPr>
                        <a:t>3.8%</a:t>
                      </a:r>
                      <a:endParaRPr lang="en-IN" sz="16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bl>
          </a:graphicData>
        </a:graphic>
      </p:graphicFrame>
      <p:sp>
        <p:nvSpPr>
          <p:cNvPr id="9" name="Rectangle 8"/>
          <p:cNvSpPr/>
          <p:nvPr/>
        </p:nvSpPr>
        <p:spPr>
          <a:xfrm>
            <a:off x="1472858" y="549443"/>
            <a:ext cx="4339650" cy="507831"/>
          </a:xfrm>
          <a:prstGeom prst="rect">
            <a:avLst/>
          </a:prstGeom>
        </p:spPr>
        <p:txBody>
          <a:bodyPr wrap="none">
            <a:spAutoFit/>
          </a:bodyPr>
          <a:lstStyle/>
          <a:p>
            <a:pPr algn="just">
              <a:lnSpc>
                <a:spcPct val="150000"/>
              </a:lnSpc>
              <a:spcAft>
                <a:spcPts val="800"/>
              </a:spcAft>
            </a:pPr>
            <a:r>
              <a:rPr lang="en-US" b="1" dirty="0">
                <a:solidFill>
                  <a:srgbClr val="1F2C8F"/>
                </a:solidFill>
              </a:rPr>
              <a:t>Frequency of Congestion Experience</a:t>
            </a:r>
            <a:r>
              <a:rPr lang="en-US" b="1" dirty="0"/>
              <a:t>:</a:t>
            </a:r>
            <a:endParaRPr lang="en-IN" dirty="0">
              <a:effectLst/>
            </a:endParaRPr>
          </a:p>
        </p:txBody>
      </p:sp>
      <p:sp>
        <p:nvSpPr>
          <p:cNvPr id="20" name="Rectangle 19"/>
          <p:cNvSpPr/>
          <p:nvPr/>
        </p:nvSpPr>
        <p:spPr>
          <a:xfrm>
            <a:off x="6428935" y="3660414"/>
            <a:ext cx="5500468" cy="7315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1F2C8F"/>
                </a:solidFill>
              </a:rPr>
              <a:t>Mode of Transportation Usage by Occupation </a:t>
            </a:r>
            <a:endParaRPr lang="en-IN" b="1" dirty="0">
              <a:solidFill>
                <a:srgbClr val="1F2C8F"/>
              </a:solidFill>
            </a:endParaRPr>
          </a:p>
        </p:txBody>
      </p:sp>
    </p:spTree>
    <p:extLst>
      <p:ext uri="{BB962C8B-B14F-4D97-AF65-F5344CB8AC3E}">
        <p14:creationId xmlns:p14="http://schemas.microsoft.com/office/powerpoint/2010/main" val="17223459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F63A3B-78C7-47BE-AE5E-E10140E04643}" type="slidenum">
              <a:rPr lang="en-US" smtClean="0"/>
              <a:pPr/>
              <a:t>15</a:t>
            </a:fld>
            <a:endParaRPr lang="en-US" dirty="0"/>
          </a:p>
        </p:txBody>
      </p:sp>
      <p:sp>
        <p:nvSpPr>
          <p:cNvPr id="3" name="Rectangle 2"/>
          <p:cNvSpPr/>
          <p:nvPr/>
        </p:nvSpPr>
        <p:spPr>
          <a:xfrm>
            <a:off x="1814732" y="182880"/>
            <a:ext cx="9003323" cy="6752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rgbClr val="1F2C8F"/>
                </a:solidFill>
              </a:rPr>
              <a:t>Air Pollution And Noise Levels (AQI Analysis)</a:t>
            </a:r>
            <a:endParaRPr lang="en-IN" sz="3200" b="1" dirty="0">
              <a:solidFill>
                <a:srgbClr val="1F2C8F"/>
              </a:solidFill>
            </a:endParaRPr>
          </a:p>
        </p:txBody>
      </p:sp>
      <p:sp>
        <p:nvSpPr>
          <p:cNvPr id="4" name="Rectangle 3"/>
          <p:cNvSpPr/>
          <p:nvPr/>
        </p:nvSpPr>
        <p:spPr>
          <a:xfrm>
            <a:off x="791570" y="858129"/>
            <a:ext cx="10634457" cy="8068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a:solidFill>
                  <a:srgbClr val="1F2C8F"/>
                </a:solidFill>
              </a:rPr>
              <a:t>Correlation between traffic volume and Noise pollution:</a:t>
            </a:r>
            <a:endParaRPr lang="en-IN" sz="2400" dirty="0">
              <a:solidFill>
                <a:srgbClr val="1F2C8F"/>
              </a:solidFill>
            </a:endParaRPr>
          </a:p>
        </p:txBody>
      </p:sp>
      <p:sp>
        <p:nvSpPr>
          <p:cNvPr id="5" name="Rectangle 4"/>
          <p:cNvSpPr/>
          <p:nvPr/>
        </p:nvSpPr>
        <p:spPr>
          <a:xfrm>
            <a:off x="-246854" y="2834131"/>
            <a:ext cx="3370996" cy="8068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rgbClr val="1F2C8F"/>
                </a:solidFill>
              </a:rPr>
              <a:t>Correlation Matrix</a:t>
            </a:r>
            <a:endParaRPr lang="en-IN" dirty="0">
              <a:solidFill>
                <a:srgbClr val="1F2C8F"/>
              </a:solidFill>
            </a:endParaRPr>
          </a:p>
        </p:txBody>
      </p:sp>
      <p:sp>
        <p:nvSpPr>
          <p:cNvPr id="6" name="Rectangle 5"/>
          <p:cNvSpPr/>
          <p:nvPr/>
        </p:nvSpPr>
        <p:spPr>
          <a:xfrm>
            <a:off x="668740" y="2702257"/>
            <a:ext cx="9471547" cy="36712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7" name="Table 6"/>
          <p:cNvGraphicFramePr>
            <a:graphicFrameLocks noGrp="1"/>
          </p:cNvGraphicFramePr>
          <p:nvPr>
            <p:extLst>
              <p:ext uri="{D42A27DB-BD31-4B8C-83A1-F6EECF244321}">
                <p14:modId xmlns:p14="http://schemas.microsoft.com/office/powerpoint/2010/main" val="1501381700"/>
              </p:ext>
            </p:extLst>
          </p:nvPr>
        </p:nvGraphicFramePr>
        <p:xfrm>
          <a:off x="169394" y="3510659"/>
          <a:ext cx="5846692" cy="1744719"/>
        </p:xfrm>
        <a:graphic>
          <a:graphicData uri="http://schemas.openxmlformats.org/drawingml/2006/table">
            <a:tbl>
              <a:tblPr firstRow="1" firstCol="1" bandRow="1">
                <a:tableStyleId>{5940675A-B579-460E-94D1-54222C63F5DA}</a:tableStyleId>
              </a:tblPr>
              <a:tblGrid>
                <a:gridCol w="1461673">
                  <a:extLst>
                    <a:ext uri="{9D8B030D-6E8A-4147-A177-3AD203B41FA5}">
                      <a16:colId xmlns:a16="http://schemas.microsoft.com/office/drawing/2014/main" val="20000"/>
                    </a:ext>
                  </a:extLst>
                </a:gridCol>
                <a:gridCol w="1461673">
                  <a:extLst>
                    <a:ext uri="{9D8B030D-6E8A-4147-A177-3AD203B41FA5}">
                      <a16:colId xmlns:a16="http://schemas.microsoft.com/office/drawing/2014/main" val="20001"/>
                    </a:ext>
                  </a:extLst>
                </a:gridCol>
                <a:gridCol w="1461673">
                  <a:extLst>
                    <a:ext uri="{9D8B030D-6E8A-4147-A177-3AD203B41FA5}">
                      <a16:colId xmlns:a16="http://schemas.microsoft.com/office/drawing/2014/main" val="20002"/>
                    </a:ext>
                  </a:extLst>
                </a:gridCol>
                <a:gridCol w="1461673">
                  <a:extLst>
                    <a:ext uri="{9D8B030D-6E8A-4147-A177-3AD203B41FA5}">
                      <a16:colId xmlns:a16="http://schemas.microsoft.com/office/drawing/2014/main" val="20003"/>
                    </a:ext>
                  </a:extLst>
                </a:gridCol>
              </a:tblGrid>
              <a:tr h="436179">
                <a:tc>
                  <a:txBody>
                    <a:bodyPr/>
                    <a:lstStyle/>
                    <a:p>
                      <a:pPr algn="ctr">
                        <a:spcAft>
                          <a:spcPts val="0"/>
                        </a:spcAft>
                      </a:pPr>
                      <a:r>
                        <a:rPr lang="en-IN" sz="1400" dirty="0">
                          <a:solidFill>
                            <a:srgbClr val="1F2C8F"/>
                          </a:solidFill>
                          <a:effectLst/>
                        </a:rPr>
                        <a:t> </a:t>
                      </a:r>
                      <a:endParaRPr lang="en-IN" sz="14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1400" dirty="0">
                          <a:solidFill>
                            <a:srgbClr val="1F2C8F"/>
                          </a:solidFill>
                          <a:effectLst/>
                        </a:rPr>
                        <a:t> </a:t>
                      </a:r>
                      <a:endParaRPr lang="en-IN" sz="14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1400">
                          <a:solidFill>
                            <a:srgbClr val="1F2C8F"/>
                          </a:solidFill>
                          <a:effectLst/>
                        </a:rPr>
                        <a:t>Traffic volume </a:t>
                      </a:r>
                      <a:endParaRPr lang="en-IN" sz="14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1400">
                          <a:solidFill>
                            <a:srgbClr val="1F2C8F"/>
                          </a:solidFill>
                          <a:effectLst/>
                        </a:rPr>
                        <a:t>Average of Noise Pollution</a:t>
                      </a:r>
                      <a:endParaRPr lang="en-IN" sz="14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218090">
                <a:tc rowSpan="3">
                  <a:txBody>
                    <a:bodyPr/>
                    <a:lstStyle/>
                    <a:p>
                      <a:pPr>
                        <a:spcAft>
                          <a:spcPts val="0"/>
                        </a:spcAft>
                      </a:pPr>
                      <a:r>
                        <a:rPr lang="en-IN" sz="1400">
                          <a:solidFill>
                            <a:srgbClr val="1F2C8F"/>
                          </a:solidFill>
                          <a:effectLst/>
                        </a:rPr>
                        <a:t>Traffic volume </a:t>
                      </a:r>
                      <a:endParaRPr lang="en-IN" sz="14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IN" sz="1400" dirty="0">
                          <a:solidFill>
                            <a:srgbClr val="1F2C8F"/>
                          </a:solidFill>
                          <a:effectLst/>
                        </a:rPr>
                        <a:t>Pearson's r</a:t>
                      </a:r>
                      <a:endParaRPr lang="en-IN" sz="14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1400" dirty="0">
                          <a:solidFill>
                            <a:srgbClr val="1F2C8F"/>
                          </a:solidFill>
                          <a:effectLst/>
                        </a:rPr>
                        <a:t>—</a:t>
                      </a:r>
                      <a:endParaRPr lang="en-IN" sz="14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1400">
                          <a:solidFill>
                            <a:srgbClr val="1F2C8F"/>
                          </a:solidFill>
                          <a:effectLst/>
                        </a:rPr>
                        <a:t> </a:t>
                      </a:r>
                      <a:endParaRPr lang="en-IN" sz="14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218090">
                <a:tc vMerge="1">
                  <a:txBody>
                    <a:bodyPr/>
                    <a:lstStyle/>
                    <a:p>
                      <a:endParaRPr lang="en-IN"/>
                    </a:p>
                  </a:txBody>
                  <a:tcPr/>
                </a:tc>
                <a:tc>
                  <a:txBody>
                    <a:bodyPr/>
                    <a:lstStyle/>
                    <a:p>
                      <a:pPr>
                        <a:spcAft>
                          <a:spcPts val="0"/>
                        </a:spcAft>
                      </a:pPr>
                      <a:r>
                        <a:rPr lang="en-IN" sz="1400" dirty="0" err="1">
                          <a:solidFill>
                            <a:srgbClr val="1F2C8F"/>
                          </a:solidFill>
                          <a:effectLst/>
                        </a:rPr>
                        <a:t>Df</a:t>
                      </a:r>
                      <a:endParaRPr lang="en-IN" sz="14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1400" dirty="0">
                          <a:solidFill>
                            <a:srgbClr val="1F2C8F"/>
                          </a:solidFill>
                          <a:effectLst/>
                        </a:rPr>
                        <a:t>—</a:t>
                      </a:r>
                      <a:endParaRPr lang="en-IN" sz="14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1400">
                          <a:solidFill>
                            <a:srgbClr val="1F2C8F"/>
                          </a:solidFill>
                          <a:effectLst/>
                        </a:rPr>
                        <a:t> </a:t>
                      </a:r>
                      <a:endParaRPr lang="en-IN" sz="14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218090">
                <a:tc vMerge="1">
                  <a:txBody>
                    <a:bodyPr/>
                    <a:lstStyle/>
                    <a:p>
                      <a:endParaRPr lang="en-IN"/>
                    </a:p>
                  </a:txBody>
                  <a:tcPr/>
                </a:tc>
                <a:tc>
                  <a:txBody>
                    <a:bodyPr/>
                    <a:lstStyle/>
                    <a:p>
                      <a:pPr>
                        <a:spcAft>
                          <a:spcPts val="0"/>
                        </a:spcAft>
                      </a:pPr>
                      <a:r>
                        <a:rPr lang="en-IN" sz="1400" dirty="0">
                          <a:solidFill>
                            <a:srgbClr val="1F2C8F"/>
                          </a:solidFill>
                          <a:effectLst/>
                        </a:rPr>
                        <a:t>p-value</a:t>
                      </a:r>
                      <a:endParaRPr lang="en-IN" sz="14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1400" dirty="0">
                          <a:solidFill>
                            <a:srgbClr val="1F2C8F"/>
                          </a:solidFill>
                          <a:effectLst/>
                        </a:rPr>
                        <a:t>—</a:t>
                      </a:r>
                      <a:endParaRPr lang="en-IN" sz="14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1400">
                          <a:solidFill>
                            <a:srgbClr val="1F2C8F"/>
                          </a:solidFill>
                          <a:effectLst/>
                        </a:rPr>
                        <a:t> </a:t>
                      </a:r>
                      <a:endParaRPr lang="en-IN" sz="14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218090">
                <a:tc rowSpan="3">
                  <a:txBody>
                    <a:bodyPr/>
                    <a:lstStyle/>
                    <a:p>
                      <a:pPr>
                        <a:spcAft>
                          <a:spcPts val="0"/>
                        </a:spcAft>
                      </a:pPr>
                      <a:r>
                        <a:rPr lang="en-IN" sz="1400">
                          <a:solidFill>
                            <a:srgbClr val="1F2C8F"/>
                          </a:solidFill>
                          <a:effectLst/>
                        </a:rPr>
                        <a:t>Average of Noise Pollution</a:t>
                      </a:r>
                      <a:endParaRPr lang="en-IN" sz="14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IN" sz="1400">
                          <a:solidFill>
                            <a:srgbClr val="1F2C8F"/>
                          </a:solidFill>
                          <a:effectLst/>
                        </a:rPr>
                        <a:t>Pearson's r</a:t>
                      </a:r>
                      <a:endParaRPr lang="en-IN" sz="14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1400" dirty="0">
                          <a:solidFill>
                            <a:srgbClr val="1F2C8F"/>
                          </a:solidFill>
                          <a:effectLst/>
                        </a:rPr>
                        <a:t>0.769</a:t>
                      </a:r>
                      <a:endParaRPr lang="en-IN" sz="14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1400" dirty="0">
                          <a:solidFill>
                            <a:srgbClr val="1F2C8F"/>
                          </a:solidFill>
                          <a:effectLst/>
                        </a:rPr>
                        <a:t>—</a:t>
                      </a:r>
                      <a:endParaRPr lang="en-IN" sz="14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218090">
                <a:tc vMerge="1">
                  <a:txBody>
                    <a:bodyPr/>
                    <a:lstStyle/>
                    <a:p>
                      <a:endParaRPr lang="en-IN"/>
                    </a:p>
                  </a:txBody>
                  <a:tcPr/>
                </a:tc>
                <a:tc>
                  <a:txBody>
                    <a:bodyPr/>
                    <a:lstStyle/>
                    <a:p>
                      <a:pPr>
                        <a:spcAft>
                          <a:spcPts val="0"/>
                        </a:spcAft>
                      </a:pPr>
                      <a:r>
                        <a:rPr lang="en-IN" sz="1400">
                          <a:solidFill>
                            <a:srgbClr val="1F2C8F"/>
                          </a:solidFill>
                          <a:effectLst/>
                        </a:rPr>
                        <a:t>Df</a:t>
                      </a:r>
                      <a:endParaRPr lang="en-IN" sz="14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1400" dirty="0">
                          <a:solidFill>
                            <a:srgbClr val="1F2C8F"/>
                          </a:solidFill>
                          <a:effectLst/>
                        </a:rPr>
                        <a:t>7</a:t>
                      </a:r>
                      <a:endParaRPr lang="en-IN" sz="14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1400" dirty="0">
                          <a:solidFill>
                            <a:srgbClr val="1F2C8F"/>
                          </a:solidFill>
                          <a:effectLst/>
                        </a:rPr>
                        <a:t>—</a:t>
                      </a:r>
                      <a:endParaRPr lang="en-IN" sz="14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5"/>
                  </a:ext>
                </a:extLst>
              </a:tr>
              <a:tr h="218090">
                <a:tc vMerge="1">
                  <a:txBody>
                    <a:bodyPr/>
                    <a:lstStyle/>
                    <a:p>
                      <a:endParaRPr lang="en-IN"/>
                    </a:p>
                  </a:txBody>
                  <a:tcPr/>
                </a:tc>
                <a:tc>
                  <a:txBody>
                    <a:bodyPr/>
                    <a:lstStyle/>
                    <a:p>
                      <a:pPr>
                        <a:spcAft>
                          <a:spcPts val="0"/>
                        </a:spcAft>
                      </a:pPr>
                      <a:r>
                        <a:rPr lang="en-IN" sz="1400">
                          <a:solidFill>
                            <a:srgbClr val="1F2C8F"/>
                          </a:solidFill>
                          <a:effectLst/>
                        </a:rPr>
                        <a:t>p-value</a:t>
                      </a:r>
                      <a:endParaRPr lang="en-IN" sz="14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1400">
                          <a:solidFill>
                            <a:srgbClr val="1F2C8F"/>
                          </a:solidFill>
                          <a:effectLst/>
                        </a:rPr>
                        <a:t>0.015</a:t>
                      </a:r>
                      <a:endParaRPr lang="en-IN" sz="14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1400" dirty="0">
                          <a:solidFill>
                            <a:srgbClr val="1F2C8F"/>
                          </a:solidFill>
                          <a:effectLst/>
                        </a:rPr>
                        <a:t>—</a:t>
                      </a:r>
                      <a:endParaRPr lang="en-IN" sz="14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6"/>
                  </a:ext>
                </a:extLst>
              </a:tr>
            </a:tbl>
          </a:graphicData>
        </a:graphic>
      </p:graphicFrame>
      <p:sp>
        <p:nvSpPr>
          <p:cNvPr id="8" name="Rectangle 7"/>
          <p:cNvSpPr/>
          <p:nvPr/>
        </p:nvSpPr>
        <p:spPr>
          <a:xfrm>
            <a:off x="169394" y="5554434"/>
            <a:ext cx="5934255" cy="5800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solidFill>
                  <a:srgbClr val="1F2C8F"/>
                </a:solidFill>
              </a:rPr>
              <a:t>Here p-value &lt;0.05 hence we reject null hypothesis</a:t>
            </a:r>
            <a:r>
              <a:rPr lang="en-US" sz="1600" dirty="0">
                <a:solidFill>
                  <a:schemeClr val="tx1"/>
                </a:solidFill>
              </a:rPr>
              <a:t>.</a:t>
            </a:r>
            <a:endParaRPr lang="en-IN" sz="1600" b="1" u="sng" dirty="0">
              <a:solidFill>
                <a:schemeClr val="tx1"/>
              </a:solidFill>
            </a:endParaRPr>
          </a:p>
        </p:txBody>
      </p:sp>
      <p:pic>
        <p:nvPicPr>
          <p:cNvPr id="11" name="Picture 10"/>
          <p:cNvPicPr/>
          <p:nvPr/>
        </p:nvPicPr>
        <p:blipFill>
          <a:blip r:embed="rId2">
            <a:extLst>
              <a:ext uri="{28A0092B-C50C-407E-A947-70E740481C1C}">
                <a14:useLocalDpi xmlns:a14="http://schemas.microsoft.com/office/drawing/2010/main" val="0"/>
              </a:ext>
            </a:extLst>
          </a:blip>
          <a:srcRect/>
          <a:stretch>
            <a:fillRect/>
          </a:stretch>
        </p:blipFill>
        <p:spPr bwMode="auto">
          <a:xfrm>
            <a:off x="7304404" y="1821455"/>
            <a:ext cx="4121623" cy="3590552"/>
          </a:xfrm>
          <a:prstGeom prst="rect">
            <a:avLst/>
          </a:prstGeom>
          <a:noFill/>
          <a:ln>
            <a:noFill/>
          </a:ln>
        </p:spPr>
      </p:pic>
      <p:sp>
        <p:nvSpPr>
          <p:cNvPr id="33" name="Rectangle 24"/>
          <p:cNvSpPr>
            <a:spLocks noChangeArrowheads="1"/>
          </p:cNvSpPr>
          <p:nvPr/>
        </p:nvSpPr>
        <p:spPr bwMode="auto">
          <a:xfrm>
            <a:off x="-6350" y="5800179"/>
            <a:ext cx="184731" cy="375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just">
              <a:lnSpc>
                <a:spcPct val="150000"/>
              </a:lnSpc>
            </a:pPr>
            <a:endParaRPr lang="en-IN" sz="1400"/>
          </a:p>
        </p:txBody>
      </p:sp>
      <p:sp>
        <p:nvSpPr>
          <p:cNvPr id="37" name="Rectangle 25"/>
          <p:cNvSpPr>
            <a:spLocks noChangeArrowheads="1"/>
          </p:cNvSpPr>
          <p:nvPr/>
        </p:nvSpPr>
        <p:spPr bwMode="auto">
          <a:xfrm>
            <a:off x="-109182" y="5738037"/>
            <a:ext cx="12032173" cy="10079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299943" tIns="38088" rIns="91440" bIns="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a:t>
            </a:r>
            <a:endParaRPr kumimoji="0" lang="en-US" sz="14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sz="1400" b="1" i="0" u="sng"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sz="1400" b="0" i="0" u="none" strike="noStrike" cap="none" normalizeH="0" baseline="0" dirty="0">
              <a:ln>
                <a:noFill/>
              </a:ln>
              <a:solidFill>
                <a:schemeClr val="tx1"/>
              </a:solidFill>
              <a:effectLst/>
              <a:latin typeface="Arial" panose="020B0604020202020204" pitchFamily="34" charset="0"/>
            </a:endParaRPr>
          </a:p>
        </p:txBody>
      </p:sp>
      <p:sp>
        <p:nvSpPr>
          <p:cNvPr id="38" name="Rectangle 37"/>
          <p:cNvSpPr/>
          <p:nvPr/>
        </p:nvSpPr>
        <p:spPr>
          <a:xfrm>
            <a:off x="423081" y="1665027"/>
            <a:ext cx="7014949" cy="116910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n-US" sz="1600" dirty="0">
                <a:solidFill>
                  <a:srgbClr val="1F2C8F"/>
                </a:solidFill>
              </a:rPr>
              <a:t>Null Hypothesis: There is no significant correlation between Traffic Volume and Noise Pollution.</a:t>
            </a:r>
            <a:endParaRPr lang="en-IN" sz="1600" b="1" u="sng" dirty="0">
              <a:solidFill>
                <a:srgbClr val="1F2C8F"/>
              </a:solidFill>
            </a:endParaRPr>
          </a:p>
          <a:p>
            <a:pPr>
              <a:lnSpc>
                <a:spcPct val="150000"/>
              </a:lnSpc>
            </a:pPr>
            <a:r>
              <a:rPr lang="en-US" sz="1600" dirty="0">
                <a:solidFill>
                  <a:srgbClr val="1F2C8F"/>
                </a:solidFill>
              </a:rPr>
              <a:t>Alternative Hypothesis: There is a significant positive correlation between Traffic Volume and Noise Pollution.</a:t>
            </a:r>
            <a:endParaRPr lang="en-IN" sz="1600" b="1" u="sng" dirty="0">
              <a:solidFill>
                <a:srgbClr val="1F2C8F"/>
              </a:solidFill>
            </a:endParaRPr>
          </a:p>
        </p:txBody>
      </p:sp>
      <p:sp>
        <p:nvSpPr>
          <p:cNvPr id="50" name="Rectangle 49"/>
          <p:cNvSpPr/>
          <p:nvPr/>
        </p:nvSpPr>
        <p:spPr>
          <a:xfrm>
            <a:off x="6103649" y="5554434"/>
            <a:ext cx="5928524" cy="11660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50000"/>
              </a:lnSpc>
            </a:pPr>
            <a:r>
              <a:rPr lang="en-US" sz="1600" dirty="0">
                <a:solidFill>
                  <a:srgbClr val="1F2C8F"/>
                </a:solidFill>
              </a:rPr>
              <a:t>This indicates that there is a statistically significant positive correlation between traffic volume and noise pollution along S.G Highway Ahmedabad.</a:t>
            </a:r>
            <a:endParaRPr lang="en-IN" sz="1600" dirty="0">
              <a:solidFill>
                <a:srgbClr val="1F2C8F"/>
              </a:solidFill>
            </a:endParaRPr>
          </a:p>
        </p:txBody>
      </p:sp>
    </p:spTree>
    <p:extLst>
      <p:ext uri="{BB962C8B-B14F-4D97-AF65-F5344CB8AC3E}">
        <p14:creationId xmlns:p14="http://schemas.microsoft.com/office/powerpoint/2010/main" val="4250918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F63A3B-78C7-47BE-AE5E-E10140E04643}" type="slidenum">
              <a:rPr lang="en-US" smtClean="0"/>
              <a:pPr/>
              <a:t>16</a:t>
            </a:fld>
            <a:endParaRPr lang="en-US" dirty="0"/>
          </a:p>
        </p:txBody>
      </p:sp>
      <p:sp>
        <p:nvSpPr>
          <p:cNvPr id="3" name="Rectangle 2"/>
          <p:cNvSpPr/>
          <p:nvPr/>
        </p:nvSpPr>
        <p:spPr>
          <a:xfrm>
            <a:off x="723331" y="204716"/>
            <a:ext cx="10290412" cy="8188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1F2C8F"/>
                </a:solidFill>
              </a:rPr>
              <a:t>Correlation Between AQI (Air Quality Index) and Traffic Volume</a:t>
            </a:r>
            <a:endParaRPr lang="en-IN" sz="2400" b="1" dirty="0">
              <a:solidFill>
                <a:srgbClr val="1F2C8F"/>
              </a:solidFill>
            </a:endParaRPr>
          </a:p>
        </p:txBody>
      </p:sp>
      <p:sp>
        <p:nvSpPr>
          <p:cNvPr id="4" name="Rectangle 3"/>
          <p:cNvSpPr/>
          <p:nvPr/>
        </p:nvSpPr>
        <p:spPr>
          <a:xfrm>
            <a:off x="723331" y="914400"/>
            <a:ext cx="10702696" cy="10372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n-US" sz="1600" dirty="0">
                <a:solidFill>
                  <a:srgbClr val="1F2C8F"/>
                </a:solidFill>
              </a:rPr>
              <a:t>Null Hypothesis: There is no significant correlation between the Traffic Volume and Average AQI.</a:t>
            </a:r>
            <a:endParaRPr lang="en-IN" sz="1600" dirty="0">
              <a:solidFill>
                <a:srgbClr val="1F2C8F"/>
              </a:solidFill>
            </a:endParaRPr>
          </a:p>
          <a:p>
            <a:pPr>
              <a:lnSpc>
                <a:spcPct val="150000"/>
              </a:lnSpc>
            </a:pPr>
            <a:r>
              <a:rPr lang="en-US" sz="1600" dirty="0">
                <a:solidFill>
                  <a:srgbClr val="1F2C8F"/>
                </a:solidFill>
              </a:rPr>
              <a:t>Alternate Hypothesis: There is a significant correlation between the Traffic Volume and Average AQI.</a:t>
            </a:r>
            <a:endParaRPr lang="en-IN" sz="1600" dirty="0">
              <a:solidFill>
                <a:srgbClr val="1F2C8F"/>
              </a:solidFill>
            </a:endParaRPr>
          </a:p>
        </p:txBody>
      </p:sp>
      <p:sp>
        <p:nvSpPr>
          <p:cNvPr id="5" name="Rectangle 4"/>
          <p:cNvSpPr/>
          <p:nvPr/>
        </p:nvSpPr>
        <p:spPr>
          <a:xfrm>
            <a:off x="417630" y="1951630"/>
            <a:ext cx="3321857" cy="7096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600" b="1" dirty="0">
                <a:solidFill>
                  <a:srgbClr val="1F2C8F"/>
                </a:solidFill>
              </a:rPr>
              <a:t>Correlation Matrix</a:t>
            </a:r>
            <a:endParaRPr lang="en-IN" sz="1600" dirty="0">
              <a:solidFill>
                <a:srgbClr val="1F2C8F"/>
              </a:solidFill>
            </a:endParaRPr>
          </a:p>
        </p:txBody>
      </p:sp>
      <p:sp>
        <p:nvSpPr>
          <p:cNvPr id="6" name="Rectangle 5"/>
          <p:cNvSpPr/>
          <p:nvPr/>
        </p:nvSpPr>
        <p:spPr>
          <a:xfrm>
            <a:off x="887104" y="2975212"/>
            <a:ext cx="3930556" cy="192433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7" name="Table 6"/>
          <p:cNvGraphicFramePr>
            <a:graphicFrameLocks noGrp="1"/>
          </p:cNvGraphicFramePr>
          <p:nvPr>
            <p:extLst>
              <p:ext uri="{D42A27DB-BD31-4B8C-83A1-F6EECF244321}">
                <p14:modId xmlns:p14="http://schemas.microsoft.com/office/powerpoint/2010/main" val="2854858276"/>
              </p:ext>
            </p:extLst>
          </p:nvPr>
        </p:nvGraphicFramePr>
        <p:xfrm>
          <a:off x="513164" y="2661314"/>
          <a:ext cx="5464556" cy="1493520"/>
        </p:xfrm>
        <a:graphic>
          <a:graphicData uri="http://schemas.openxmlformats.org/drawingml/2006/table">
            <a:tbl>
              <a:tblPr firstRow="1" firstCol="1" bandRow="1">
                <a:tableStyleId>{5940675A-B579-460E-94D1-54222C63F5DA}</a:tableStyleId>
              </a:tblPr>
              <a:tblGrid>
                <a:gridCol w="1366139">
                  <a:extLst>
                    <a:ext uri="{9D8B030D-6E8A-4147-A177-3AD203B41FA5}">
                      <a16:colId xmlns:a16="http://schemas.microsoft.com/office/drawing/2014/main" val="20000"/>
                    </a:ext>
                  </a:extLst>
                </a:gridCol>
                <a:gridCol w="1366139">
                  <a:extLst>
                    <a:ext uri="{9D8B030D-6E8A-4147-A177-3AD203B41FA5}">
                      <a16:colId xmlns:a16="http://schemas.microsoft.com/office/drawing/2014/main" val="20001"/>
                    </a:ext>
                  </a:extLst>
                </a:gridCol>
                <a:gridCol w="1366139">
                  <a:extLst>
                    <a:ext uri="{9D8B030D-6E8A-4147-A177-3AD203B41FA5}">
                      <a16:colId xmlns:a16="http://schemas.microsoft.com/office/drawing/2014/main" val="20002"/>
                    </a:ext>
                  </a:extLst>
                </a:gridCol>
                <a:gridCol w="1366139">
                  <a:extLst>
                    <a:ext uri="{9D8B030D-6E8A-4147-A177-3AD203B41FA5}">
                      <a16:colId xmlns:a16="http://schemas.microsoft.com/office/drawing/2014/main" val="20003"/>
                    </a:ext>
                  </a:extLst>
                </a:gridCol>
              </a:tblGrid>
              <a:tr h="205572">
                <a:tc>
                  <a:txBody>
                    <a:bodyPr/>
                    <a:lstStyle/>
                    <a:p>
                      <a:pPr algn="ctr">
                        <a:spcAft>
                          <a:spcPts val="0"/>
                        </a:spcAft>
                      </a:pPr>
                      <a:r>
                        <a:rPr lang="en-IN" sz="1200" dirty="0">
                          <a:solidFill>
                            <a:srgbClr val="1F2C8F"/>
                          </a:solidFill>
                          <a:effectLst/>
                        </a:rPr>
                        <a:t> </a:t>
                      </a:r>
                      <a:endParaRPr lang="en-IN" sz="11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1200">
                          <a:solidFill>
                            <a:srgbClr val="1F2C8F"/>
                          </a:solidFill>
                          <a:effectLst/>
                        </a:rPr>
                        <a:t> </a:t>
                      </a:r>
                      <a:endParaRPr lang="en-IN" sz="11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1400" dirty="0">
                          <a:solidFill>
                            <a:srgbClr val="1F2C8F"/>
                          </a:solidFill>
                          <a:effectLst/>
                        </a:rPr>
                        <a:t>Traffic Volume </a:t>
                      </a:r>
                      <a:endParaRPr lang="en-IN" sz="14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1400" dirty="0">
                          <a:solidFill>
                            <a:srgbClr val="1F2C8F"/>
                          </a:solidFill>
                          <a:effectLst/>
                        </a:rPr>
                        <a:t>Average of AQI</a:t>
                      </a:r>
                      <a:endParaRPr lang="en-IN" sz="14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205572">
                <a:tc rowSpan="3">
                  <a:txBody>
                    <a:bodyPr/>
                    <a:lstStyle/>
                    <a:p>
                      <a:pPr>
                        <a:spcAft>
                          <a:spcPts val="0"/>
                        </a:spcAft>
                      </a:pPr>
                      <a:r>
                        <a:rPr lang="en-IN" sz="1400" dirty="0">
                          <a:solidFill>
                            <a:srgbClr val="1F2C8F"/>
                          </a:solidFill>
                          <a:effectLst/>
                        </a:rPr>
                        <a:t>Traffic Volume </a:t>
                      </a:r>
                      <a:endParaRPr lang="en-IN" sz="14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IN" sz="1400">
                          <a:solidFill>
                            <a:srgbClr val="1F2C8F"/>
                          </a:solidFill>
                          <a:effectLst/>
                        </a:rPr>
                        <a:t>Pearson's r</a:t>
                      </a:r>
                      <a:endParaRPr lang="en-IN" sz="14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1400" dirty="0">
                          <a:solidFill>
                            <a:srgbClr val="1F2C8F"/>
                          </a:solidFill>
                          <a:effectLst/>
                        </a:rPr>
                        <a:t>—</a:t>
                      </a:r>
                      <a:endParaRPr lang="en-IN" sz="14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1400" dirty="0">
                          <a:solidFill>
                            <a:srgbClr val="1F2C8F"/>
                          </a:solidFill>
                          <a:effectLst/>
                        </a:rPr>
                        <a:t> </a:t>
                      </a:r>
                      <a:endParaRPr lang="en-IN" sz="14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205572">
                <a:tc vMerge="1">
                  <a:txBody>
                    <a:bodyPr/>
                    <a:lstStyle/>
                    <a:p>
                      <a:endParaRPr lang="en-IN"/>
                    </a:p>
                  </a:txBody>
                  <a:tcPr/>
                </a:tc>
                <a:tc>
                  <a:txBody>
                    <a:bodyPr/>
                    <a:lstStyle/>
                    <a:p>
                      <a:pPr>
                        <a:spcAft>
                          <a:spcPts val="0"/>
                        </a:spcAft>
                      </a:pPr>
                      <a:r>
                        <a:rPr lang="en-IN" sz="1400" dirty="0" err="1">
                          <a:solidFill>
                            <a:srgbClr val="1F2C8F"/>
                          </a:solidFill>
                          <a:effectLst/>
                        </a:rPr>
                        <a:t>Df</a:t>
                      </a:r>
                      <a:endParaRPr lang="en-IN" sz="14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1400" dirty="0">
                          <a:solidFill>
                            <a:srgbClr val="1F2C8F"/>
                          </a:solidFill>
                          <a:effectLst/>
                        </a:rPr>
                        <a:t>—</a:t>
                      </a:r>
                      <a:endParaRPr lang="en-IN" sz="14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1400">
                          <a:solidFill>
                            <a:srgbClr val="1F2C8F"/>
                          </a:solidFill>
                          <a:effectLst/>
                        </a:rPr>
                        <a:t> </a:t>
                      </a:r>
                      <a:endParaRPr lang="en-IN" sz="14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205572">
                <a:tc vMerge="1">
                  <a:txBody>
                    <a:bodyPr/>
                    <a:lstStyle/>
                    <a:p>
                      <a:endParaRPr lang="en-IN"/>
                    </a:p>
                  </a:txBody>
                  <a:tcPr/>
                </a:tc>
                <a:tc>
                  <a:txBody>
                    <a:bodyPr/>
                    <a:lstStyle/>
                    <a:p>
                      <a:pPr>
                        <a:spcAft>
                          <a:spcPts val="0"/>
                        </a:spcAft>
                      </a:pPr>
                      <a:r>
                        <a:rPr lang="en-IN" sz="1400" dirty="0">
                          <a:solidFill>
                            <a:srgbClr val="1F2C8F"/>
                          </a:solidFill>
                          <a:effectLst/>
                        </a:rPr>
                        <a:t>p-value</a:t>
                      </a:r>
                      <a:endParaRPr lang="en-IN" sz="14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1400" dirty="0">
                          <a:solidFill>
                            <a:srgbClr val="1F2C8F"/>
                          </a:solidFill>
                          <a:effectLst/>
                        </a:rPr>
                        <a:t>—</a:t>
                      </a:r>
                      <a:endParaRPr lang="en-IN" sz="14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1400" dirty="0">
                          <a:solidFill>
                            <a:srgbClr val="1F2C8F"/>
                          </a:solidFill>
                          <a:effectLst/>
                        </a:rPr>
                        <a:t> </a:t>
                      </a:r>
                      <a:endParaRPr lang="en-IN" sz="14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205572">
                <a:tc rowSpan="3">
                  <a:txBody>
                    <a:bodyPr/>
                    <a:lstStyle/>
                    <a:p>
                      <a:pPr>
                        <a:spcAft>
                          <a:spcPts val="0"/>
                        </a:spcAft>
                      </a:pPr>
                      <a:r>
                        <a:rPr lang="en-IN" sz="1400">
                          <a:solidFill>
                            <a:srgbClr val="1F2C8F"/>
                          </a:solidFill>
                          <a:effectLst/>
                        </a:rPr>
                        <a:t>Average of AQI</a:t>
                      </a:r>
                      <a:endParaRPr lang="en-IN" sz="14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IN" sz="1400" dirty="0">
                          <a:solidFill>
                            <a:srgbClr val="1F2C8F"/>
                          </a:solidFill>
                          <a:effectLst/>
                        </a:rPr>
                        <a:t>Pearson's r</a:t>
                      </a:r>
                      <a:endParaRPr lang="en-IN" sz="14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1400" dirty="0">
                          <a:solidFill>
                            <a:srgbClr val="1F2C8F"/>
                          </a:solidFill>
                          <a:effectLst/>
                        </a:rPr>
                        <a:t>0.681</a:t>
                      </a:r>
                      <a:endParaRPr lang="en-IN" sz="14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1400" dirty="0">
                          <a:solidFill>
                            <a:srgbClr val="1F2C8F"/>
                          </a:solidFill>
                          <a:effectLst/>
                        </a:rPr>
                        <a:t>—</a:t>
                      </a:r>
                      <a:endParaRPr lang="en-IN" sz="14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205572">
                <a:tc vMerge="1">
                  <a:txBody>
                    <a:bodyPr/>
                    <a:lstStyle/>
                    <a:p>
                      <a:endParaRPr lang="en-IN"/>
                    </a:p>
                  </a:txBody>
                  <a:tcPr/>
                </a:tc>
                <a:tc>
                  <a:txBody>
                    <a:bodyPr/>
                    <a:lstStyle/>
                    <a:p>
                      <a:pPr>
                        <a:spcAft>
                          <a:spcPts val="0"/>
                        </a:spcAft>
                      </a:pPr>
                      <a:r>
                        <a:rPr lang="en-IN" sz="1400" dirty="0" err="1">
                          <a:solidFill>
                            <a:srgbClr val="1F2C8F"/>
                          </a:solidFill>
                          <a:effectLst/>
                        </a:rPr>
                        <a:t>Df</a:t>
                      </a:r>
                      <a:endParaRPr lang="en-IN" sz="14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1400">
                          <a:solidFill>
                            <a:srgbClr val="1F2C8F"/>
                          </a:solidFill>
                          <a:effectLst/>
                        </a:rPr>
                        <a:t>7</a:t>
                      </a:r>
                      <a:endParaRPr lang="en-IN" sz="14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1400" dirty="0">
                          <a:solidFill>
                            <a:srgbClr val="1F2C8F"/>
                          </a:solidFill>
                          <a:effectLst/>
                        </a:rPr>
                        <a:t>—</a:t>
                      </a:r>
                      <a:endParaRPr lang="en-IN" sz="14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5"/>
                  </a:ext>
                </a:extLst>
              </a:tr>
              <a:tr h="205572">
                <a:tc vMerge="1">
                  <a:txBody>
                    <a:bodyPr/>
                    <a:lstStyle/>
                    <a:p>
                      <a:endParaRPr lang="en-IN"/>
                    </a:p>
                  </a:txBody>
                  <a:tcPr/>
                </a:tc>
                <a:tc>
                  <a:txBody>
                    <a:bodyPr/>
                    <a:lstStyle/>
                    <a:p>
                      <a:pPr>
                        <a:spcAft>
                          <a:spcPts val="0"/>
                        </a:spcAft>
                      </a:pPr>
                      <a:r>
                        <a:rPr lang="en-IN" sz="1400">
                          <a:solidFill>
                            <a:srgbClr val="1F2C8F"/>
                          </a:solidFill>
                          <a:effectLst/>
                        </a:rPr>
                        <a:t>p-value</a:t>
                      </a:r>
                      <a:endParaRPr lang="en-IN" sz="14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1400" dirty="0">
                          <a:solidFill>
                            <a:srgbClr val="1F2C8F"/>
                          </a:solidFill>
                          <a:effectLst/>
                        </a:rPr>
                        <a:t>0.044</a:t>
                      </a:r>
                      <a:endParaRPr lang="en-IN" sz="14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1400" dirty="0">
                          <a:solidFill>
                            <a:srgbClr val="1F2C8F"/>
                          </a:solidFill>
                          <a:effectLst/>
                        </a:rPr>
                        <a:t>—</a:t>
                      </a:r>
                      <a:endParaRPr lang="en-IN" sz="14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6"/>
                  </a:ext>
                </a:extLst>
              </a:tr>
            </a:tbl>
          </a:graphicData>
        </a:graphic>
      </p:graphicFrame>
      <p:sp>
        <p:nvSpPr>
          <p:cNvPr id="8" name="Rectangle 7"/>
          <p:cNvSpPr/>
          <p:nvPr/>
        </p:nvSpPr>
        <p:spPr>
          <a:xfrm>
            <a:off x="513164" y="4408227"/>
            <a:ext cx="5573737" cy="682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1600" dirty="0">
                <a:solidFill>
                  <a:srgbClr val="1F2C8F"/>
                </a:solidFill>
              </a:rPr>
              <a:t>Here p-value &lt;0.05 hence we reject null hypothesis</a:t>
            </a:r>
            <a:r>
              <a:rPr lang="en-US" sz="1600" dirty="0">
                <a:solidFill>
                  <a:schemeClr val="tx1"/>
                </a:solidFill>
              </a:rPr>
              <a:t>.</a:t>
            </a:r>
            <a:endParaRPr lang="en-IN" sz="1600" b="1" u="sng" dirty="0">
              <a:solidFill>
                <a:schemeClr val="tx1"/>
              </a:solidFill>
            </a:endParaRPr>
          </a:p>
        </p:txBody>
      </p:sp>
      <p:sp>
        <p:nvSpPr>
          <p:cNvPr id="9" name="Rectangle 8"/>
          <p:cNvSpPr/>
          <p:nvPr/>
        </p:nvSpPr>
        <p:spPr>
          <a:xfrm>
            <a:off x="5773003" y="4899546"/>
            <a:ext cx="5950424" cy="17878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n-IN" sz="1600" dirty="0">
                <a:solidFill>
                  <a:srgbClr val="1F2C8F"/>
                </a:solidFill>
              </a:rPr>
              <a:t>This scatter plot shows a positive correlation between traffic volume and average AQI. As traffic volume increases, air pollution levels (AQI) also rise. This indicates that higher vehicle counts contribute to deteriorating air quality on SG Highway.</a:t>
            </a:r>
          </a:p>
        </p:txBody>
      </p:sp>
      <p:pic>
        <p:nvPicPr>
          <p:cNvPr id="10" name="Picture 9" descr="http://127.0.0.1:4241/7e033735-3b24-4a75-9fa1-7356265de293/12/res/12%20scat/resources/ef9bd1d33d91f05c.png"/>
          <p:cNvPicPr/>
          <p:nvPr/>
        </p:nvPicPr>
        <p:blipFill>
          <a:blip r:embed="rId2">
            <a:extLst>
              <a:ext uri="{28A0092B-C50C-407E-A947-70E740481C1C}">
                <a14:useLocalDpi xmlns:a14="http://schemas.microsoft.com/office/drawing/2010/main" val="0"/>
              </a:ext>
            </a:extLst>
          </a:blip>
          <a:srcRect/>
          <a:stretch>
            <a:fillRect/>
          </a:stretch>
        </p:blipFill>
        <p:spPr bwMode="auto">
          <a:xfrm>
            <a:off x="7492621" y="1951630"/>
            <a:ext cx="3933405" cy="2947916"/>
          </a:xfrm>
          <a:prstGeom prst="rect">
            <a:avLst/>
          </a:prstGeom>
          <a:noFill/>
          <a:ln>
            <a:noFill/>
          </a:ln>
        </p:spPr>
      </p:pic>
    </p:spTree>
    <p:extLst>
      <p:ext uri="{BB962C8B-B14F-4D97-AF65-F5344CB8AC3E}">
        <p14:creationId xmlns:p14="http://schemas.microsoft.com/office/powerpoint/2010/main" val="16881729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F63A3B-78C7-47BE-AE5E-E10140E04643}" type="slidenum">
              <a:rPr lang="en-US" smtClean="0"/>
              <a:pPr/>
              <a:t>17</a:t>
            </a:fld>
            <a:endParaRPr lang="en-US" dirty="0"/>
          </a:p>
        </p:txBody>
      </p:sp>
      <p:sp>
        <p:nvSpPr>
          <p:cNvPr id="3" name="Rectangle 2"/>
          <p:cNvSpPr/>
          <p:nvPr/>
        </p:nvSpPr>
        <p:spPr>
          <a:xfrm>
            <a:off x="1665027" y="163773"/>
            <a:ext cx="9198591" cy="655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solidFill>
                  <a:srgbClr val="1F2C8F"/>
                </a:solidFill>
              </a:rPr>
              <a:t>Analysis of Conventional and Electric Vehicles</a:t>
            </a:r>
            <a:endParaRPr lang="en-IN" sz="3200" b="1">
              <a:solidFill>
                <a:srgbClr val="1F2C8F"/>
              </a:solidFill>
            </a:endParaRPr>
          </a:p>
        </p:txBody>
      </p:sp>
      <p:sp>
        <p:nvSpPr>
          <p:cNvPr id="4" name="Rectangle 3"/>
          <p:cNvSpPr/>
          <p:nvPr/>
        </p:nvSpPr>
        <p:spPr>
          <a:xfrm>
            <a:off x="0" y="1024212"/>
            <a:ext cx="11099409" cy="1338828"/>
          </a:xfrm>
          <a:prstGeom prst="rect">
            <a:avLst/>
          </a:prstGeom>
        </p:spPr>
        <p:txBody>
          <a:bodyPr wrap="square">
            <a:spAutoFit/>
          </a:bodyPr>
          <a:lstStyle/>
          <a:p>
            <a:pPr marL="1115695" algn="just">
              <a:lnSpc>
                <a:spcPct val="150000"/>
              </a:lnSpc>
              <a:spcAft>
                <a:spcPts val="0"/>
              </a:spcAft>
            </a:pPr>
            <a:r>
              <a:rPr lang="en-US" dirty="0">
                <a:solidFill>
                  <a:srgbClr val="1F2C8F"/>
                </a:solidFill>
                <a:latin typeface="Times New Roman" panose="02020603050405020304" pitchFamily="18" charset="0"/>
                <a:ea typeface="Times New Roman" panose="02020603050405020304" pitchFamily="18" charset="0"/>
              </a:rPr>
              <a:t>Null Hypothesis</a:t>
            </a:r>
            <a:r>
              <a:rPr lang="en-US" b="1" dirty="0">
                <a:solidFill>
                  <a:srgbClr val="1F2C8F"/>
                </a:solidFill>
                <a:latin typeface="Times New Roman" panose="02020603050405020304" pitchFamily="18" charset="0"/>
                <a:ea typeface="Times New Roman" panose="02020603050405020304" pitchFamily="18" charset="0"/>
              </a:rPr>
              <a:t>:</a:t>
            </a:r>
            <a:r>
              <a:rPr lang="en-US" dirty="0">
                <a:solidFill>
                  <a:srgbClr val="1F2C8F"/>
                </a:solidFill>
                <a:latin typeface="Times New Roman" panose="02020603050405020304" pitchFamily="18" charset="0"/>
                <a:ea typeface="Times New Roman" panose="02020603050405020304" pitchFamily="18" charset="0"/>
              </a:rPr>
              <a:t> There is no association between gender (Male vs. Female) and vehicle type (Conventional vs. Electric).</a:t>
            </a:r>
            <a:endParaRPr lang="en-IN" sz="2400" b="1" dirty="0">
              <a:solidFill>
                <a:srgbClr val="1F2C8F"/>
              </a:solidFill>
              <a:latin typeface="Times New Roman" panose="02020603050405020304" pitchFamily="18" charset="0"/>
              <a:ea typeface="Times New Roman" panose="02020603050405020304" pitchFamily="18" charset="0"/>
            </a:endParaRPr>
          </a:p>
          <a:p>
            <a:pPr marL="1115695" algn="just">
              <a:lnSpc>
                <a:spcPct val="150000"/>
              </a:lnSpc>
              <a:spcAft>
                <a:spcPts val="0"/>
              </a:spcAft>
            </a:pPr>
            <a:r>
              <a:rPr lang="en-US" dirty="0">
                <a:solidFill>
                  <a:srgbClr val="1F2C8F"/>
                </a:solidFill>
                <a:latin typeface="Times New Roman" panose="02020603050405020304" pitchFamily="18" charset="0"/>
                <a:ea typeface="Times New Roman" panose="02020603050405020304" pitchFamily="18" charset="0"/>
              </a:rPr>
              <a:t>Alternative Hypothesis </a:t>
            </a:r>
            <a:r>
              <a:rPr lang="en-US" b="1" dirty="0">
                <a:solidFill>
                  <a:srgbClr val="1F2C8F"/>
                </a:solidFill>
                <a:latin typeface="Times New Roman" panose="02020603050405020304" pitchFamily="18" charset="0"/>
                <a:ea typeface="Times New Roman" panose="02020603050405020304" pitchFamily="18" charset="0"/>
              </a:rPr>
              <a:t>:</a:t>
            </a:r>
            <a:r>
              <a:rPr lang="en-US" dirty="0">
                <a:solidFill>
                  <a:srgbClr val="1F2C8F"/>
                </a:solidFill>
                <a:latin typeface="Times New Roman" panose="02020603050405020304" pitchFamily="18" charset="0"/>
                <a:ea typeface="Times New Roman" panose="02020603050405020304" pitchFamily="18" charset="0"/>
              </a:rPr>
              <a:t> There is an association between gender and vehicle type.</a:t>
            </a:r>
            <a:endParaRPr lang="en-IN" sz="2400" b="1" dirty="0">
              <a:solidFill>
                <a:srgbClr val="1F2C8F"/>
              </a:solidFill>
              <a:effectLst/>
              <a:latin typeface="Times New Roman" panose="02020603050405020304" pitchFamily="18" charset="0"/>
              <a:ea typeface="Times New Roman" panose="02020603050405020304" pitchFamily="18" charset="0"/>
            </a:endParaRPr>
          </a:p>
        </p:txBody>
      </p:sp>
      <p:graphicFrame>
        <p:nvGraphicFramePr>
          <p:cNvPr id="5" name="Table 4"/>
          <p:cNvGraphicFramePr>
            <a:graphicFrameLocks noGrp="1"/>
          </p:cNvGraphicFramePr>
          <p:nvPr>
            <p:extLst>
              <p:ext uri="{D42A27DB-BD31-4B8C-83A1-F6EECF244321}">
                <p14:modId xmlns:p14="http://schemas.microsoft.com/office/powerpoint/2010/main" val="3490839084"/>
              </p:ext>
            </p:extLst>
          </p:nvPr>
        </p:nvGraphicFramePr>
        <p:xfrm>
          <a:off x="627795" y="3005884"/>
          <a:ext cx="4817664" cy="1224920"/>
        </p:xfrm>
        <a:graphic>
          <a:graphicData uri="http://schemas.openxmlformats.org/drawingml/2006/table">
            <a:tbl>
              <a:tblPr firstRow="1" firstCol="1" bandRow="1">
                <a:tableStyleId>{5940675A-B579-460E-94D1-54222C63F5DA}</a:tableStyleId>
              </a:tblPr>
              <a:tblGrid>
                <a:gridCol w="1204416">
                  <a:extLst>
                    <a:ext uri="{9D8B030D-6E8A-4147-A177-3AD203B41FA5}">
                      <a16:colId xmlns:a16="http://schemas.microsoft.com/office/drawing/2014/main" val="20000"/>
                    </a:ext>
                  </a:extLst>
                </a:gridCol>
                <a:gridCol w="1204416">
                  <a:extLst>
                    <a:ext uri="{9D8B030D-6E8A-4147-A177-3AD203B41FA5}">
                      <a16:colId xmlns:a16="http://schemas.microsoft.com/office/drawing/2014/main" val="20001"/>
                    </a:ext>
                  </a:extLst>
                </a:gridCol>
                <a:gridCol w="1204416">
                  <a:extLst>
                    <a:ext uri="{9D8B030D-6E8A-4147-A177-3AD203B41FA5}">
                      <a16:colId xmlns:a16="http://schemas.microsoft.com/office/drawing/2014/main" val="20002"/>
                    </a:ext>
                  </a:extLst>
                </a:gridCol>
                <a:gridCol w="1204416">
                  <a:extLst>
                    <a:ext uri="{9D8B030D-6E8A-4147-A177-3AD203B41FA5}">
                      <a16:colId xmlns:a16="http://schemas.microsoft.com/office/drawing/2014/main" val="20003"/>
                    </a:ext>
                  </a:extLst>
                </a:gridCol>
              </a:tblGrid>
              <a:tr h="244984">
                <a:tc>
                  <a:txBody>
                    <a:bodyPr/>
                    <a:lstStyle/>
                    <a:p>
                      <a:pPr algn="l"/>
                      <a:endParaRPr lang="en-IN" sz="1400" dirty="0">
                        <a:solidFill>
                          <a:srgbClr val="1F2C8F"/>
                        </a:solidFill>
                        <a:effectLst/>
                        <a:latin typeface="Calibri" panose="020F0502020204030204" pitchFamily="34" charset="0"/>
                        <a:cs typeface="Times New Roman" panose="02020603050405020304" pitchFamily="18" charset="0"/>
                      </a:endParaRPr>
                    </a:p>
                  </a:txBody>
                  <a:tcPr marL="68580" marR="68580" marT="0" marB="0"/>
                </a:tc>
                <a:tc gridSpan="2">
                  <a:txBody>
                    <a:bodyPr/>
                    <a:lstStyle/>
                    <a:p>
                      <a:pPr algn="ctr">
                        <a:spcAft>
                          <a:spcPts val="0"/>
                        </a:spcAft>
                      </a:pPr>
                      <a:r>
                        <a:rPr lang="en-IN" sz="1400">
                          <a:solidFill>
                            <a:srgbClr val="1F2C8F"/>
                          </a:solidFill>
                          <a:effectLst/>
                        </a:rPr>
                        <a:t>Gender</a:t>
                      </a:r>
                      <a:endParaRPr lang="en-IN" sz="14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n-IN"/>
                    </a:p>
                  </a:txBody>
                  <a:tcPr/>
                </a:tc>
                <a:tc>
                  <a:txBody>
                    <a:bodyPr/>
                    <a:lstStyle/>
                    <a:p>
                      <a:pPr algn="l"/>
                      <a:endParaRPr lang="en-IN" sz="1400" dirty="0">
                        <a:solidFill>
                          <a:srgbClr val="1F2C8F"/>
                        </a:solidFill>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244984">
                <a:tc>
                  <a:txBody>
                    <a:bodyPr/>
                    <a:lstStyle/>
                    <a:p>
                      <a:pPr algn="ctr">
                        <a:spcAft>
                          <a:spcPts val="0"/>
                        </a:spcAft>
                      </a:pPr>
                      <a:r>
                        <a:rPr lang="en-IN" sz="1400" dirty="0">
                          <a:solidFill>
                            <a:srgbClr val="1F2C8F"/>
                          </a:solidFill>
                          <a:effectLst/>
                        </a:rPr>
                        <a:t>Vehicle Type</a:t>
                      </a:r>
                      <a:endParaRPr lang="en-IN" sz="14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1400" dirty="0">
                          <a:solidFill>
                            <a:srgbClr val="1F2C8F"/>
                          </a:solidFill>
                          <a:effectLst/>
                        </a:rPr>
                        <a:t>Male</a:t>
                      </a:r>
                      <a:endParaRPr lang="en-IN" sz="14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1400">
                          <a:solidFill>
                            <a:srgbClr val="1F2C8F"/>
                          </a:solidFill>
                          <a:effectLst/>
                        </a:rPr>
                        <a:t>Female</a:t>
                      </a:r>
                      <a:endParaRPr lang="en-IN" sz="14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1400">
                          <a:solidFill>
                            <a:srgbClr val="1F2C8F"/>
                          </a:solidFill>
                          <a:effectLst/>
                        </a:rPr>
                        <a:t>Total</a:t>
                      </a:r>
                      <a:endParaRPr lang="en-IN" sz="14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244984">
                <a:tc>
                  <a:txBody>
                    <a:bodyPr/>
                    <a:lstStyle/>
                    <a:p>
                      <a:pPr algn="l">
                        <a:spcAft>
                          <a:spcPts val="0"/>
                        </a:spcAft>
                      </a:pPr>
                      <a:r>
                        <a:rPr lang="en-IN" sz="1400" dirty="0">
                          <a:solidFill>
                            <a:srgbClr val="1F2C8F"/>
                          </a:solidFill>
                          <a:effectLst/>
                        </a:rPr>
                        <a:t>Conventional</a:t>
                      </a:r>
                      <a:endParaRPr lang="en-IN" sz="14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1400" dirty="0">
                          <a:solidFill>
                            <a:srgbClr val="1F2C8F"/>
                          </a:solidFill>
                          <a:effectLst/>
                        </a:rPr>
                        <a:t>87</a:t>
                      </a:r>
                      <a:endParaRPr lang="en-IN" sz="14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1400" dirty="0">
                          <a:solidFill>
                            <a:srgbClr val="1F2C8F"/>
                          </a:solidFill>
                          <a:effectLst/>
                        </a:rPr>
                        <a:t>64</a:t>
                      </a:r>
                      <a:endParaRPr lang="en-IN" sz="14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1400">
                          <a:solidFill>
                            <a:srgbClr val="1F2C8F"/>
                          </a:solidFill>
                          <a:effectLst/>
                        </a:rPr>
                        <a:t>151</a:t>
                      </a:r>
                      <a:endParaRPr lang="en-IN" sz="14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244984">
                <a:tc>
                  <a:txBody>
                    <a:bodyPr/>
                    <a:lstStyle/>
                    <a:p>
                      <a:pPr algn="l">
                        <a:spcAft>
                          <a:spcPts val="0"/>
                        </a:spcAft>
                      </a:pPr>
                      <a:r>
                        <a:rPr lang="en-IN" sz="1400">
                          <a:solidFill>
                            <a:srgbClr val="1F2C8F"/>
                          </a:solidFill>
                          <a:effectLst/>
                        </a:rPr>
                        <a:t>Electric</a:t>
                      </a:r>
                      <a:endParaRPr lang="en-IN" sz="14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1400" dirty="0">
                          <a:solidFill>
                            <a:srgbClr val="1F2C8F"/>
                          </a:solidFill>
                          <a:effectLst/>
                        </a:rPr>
                        <a:t>19</a:t>
                      </a:r>
                      <a:endParaRPr lang="en-IN" sz="14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1400" dirty="0">
                          <a:solidFill>
                            <a:srgbClr val="1F2C8F"/>
                          </a:solidFill>
                          <a:effectLst/>
                        </a:rPr>
                        <a:t>8</a:t>
                      </a:r>
                      <a:endParaRPr lang="en-IN" sz="14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1400" dirty="0">
                          <a:solidFill>
                            <a:srgbClr val="1F2C8F"/>
                          </a:solidFill>
                          <a:effectLst/>
                        </a:rPr>
                        <a:t>27</a:t>
                      </a:r>
                      <a:endParaRPr lang="en-IN" sz="14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244984">
                <a:tc>
                  <a:txBody>
                    <a:bodyPr/>
                    <a:lstStyle/>
                    <a:p>
                      <a:pPr algn="l">
                        <a:spcAft>
                          <a:spcPts val="0"/>
                        </a:spcAft>
                      </a:pPr>
                      <a:r>
                        <a:rPr lang="en-IN" sz="1400">
                          <a:solidFill>
                            <a:srgbClr val="1F2C8F"/>
                          </a:solidFill>
                          <a:effectLst/>
                        </a:rPr>
                        <a:t>Total</a:t>
                      </a:r>
                      <a:endParaRPr lang="en-IN" sz="14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1400">
                          <a:solidFill>
                            <a:srgbClr val="1F2C8F"/>
                          </a:solidFill>
                          <a:effectLst/>
                        </a:rPr>
                        <a:t>106</a:t>
                      </a:r>
                      <a:endParaRPr lang="en-IN" sz="14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1400" dirty="0">
                          <a:solidFill>
                            <a:srgbClr val="1F2C8F"/>
                          </a:solidFill>
                          <a:effectLst/>
                        </a:rPr>
                        <a:t>72</a:t>
                      </a:r>
                      <a:endParaRPr lang="en-IN" sz="14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1400" dirty="0">
                          <a:solidFill>
                            <a:srgbClr val="1F2C8F"/>
                          </a:solidFill>
                          <a:effectLst/>
                        </a:rPr>
                        <a:t>178</a:t>
                      </a:r>
                      <a:endParaRPr lang="en-IN" sz="14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bl>
          </a:graphicData>
        </a:graphic>
      </p:graphicFrame>
      <p:sp>
        <p:nvSpPr>
          <p:cNvPr id="6" name="Rectangle 5"/>
          <p:cNvSpPr/>
          <p:nvPr/>
        </p:nvSpPr>
        <p:spPr>
          <a:xfrm>
            <a:off x="-287866" y="2363040"/>
            <a:ext cx="3241593" cy="458074"/>
          </a:xfrm>
          <a:prstGeom prst="rect">
            <a:avLst/>
          </a:prstGeom>
        </p:spPr>
        <p:txBody>
          <a:bodyPr wrap="none">
            <a:spAutoFit/>
          </a:bodyPr>
          <a:lstStyle/>
          <a:p>
            <a:pPr marL="1115695" algn="just">
              <a:lnSpc>
                <a:spcPct val="150000"/>
              </a:lnSpc>
              <a:spcAft>
                <a:spcPts val="0"/>
              </a:spcAft>
            </a:pPr>
            <a:r>
              <a:rPr lang="en-IN" b="1" dirty="0">
                <a:solidFill>
                  <a:srgbClr val="1F2C8F"/>
                </a:solidFill>
                <a:latin typeface="Times New Roman" panose="02020603050405020304" pitchFamily="18" charset="0"/>
                <a:ea typeface="Times New Roman" panose="02020603050405020304" pitchFamily="18" charset="0"/>
              </a:rPr>
              <a:t>Contingency Tables</a:t>
            </a:r>
            <a:endParaRPr lang="en-IN" sz="2000" b="1" dirty="0">
              <a:solidFill>
                <a:srgbClr val="1F2C8F"/>
              </a:solidFill>
              <a:effectLst/>
              <a:latin typeface="Times New Roman" panose="02020603050405020304" pitchFamily="18" charset="0"/>
              <a:ea typeface="Times New Roman" panose="02020603050405020304" pitchFamily="18" charset="0"/>
            </a:endParaRPr>
          </a:p>
        </p:txBody>
      </p:sp>
      <p:graphicFrame>
        <p:nvGraphicFramePr>
          <p:cNvPr id="7" name="Table 6"/>
          <p:cNvGraphicFramePr>
            <a:graphicFrameLocks noGrp="1"/>
          </p:cNvGraphicFramePr>
          <p:nvPr>
            <p:extLst>
              <p:ext uri="{D42A27DB-BD31-4B8C-83A1-F6EECF244321}">
                <p14:modId xmlns:p14="http://schemas.microsoft.com/office/powerpoint/2010/main" val="1085342806"/>
              </p:ext>
            </p:extLst>
          </p:nvPr>
        </p:nvGraphicFramePr>
        <p:xfrm>
          <a:off x="820927" y="5013811"/>
          <a:ext cx="3968752" cy="640080"/>
        </p:xfrm>
        <a:graphic>
          <a:graphicData uri="http://schemas.openxmlformats.org/drawingml/2006/table">
            <a:tbl>
              <a:tblPr firstRow="1" firstCol="1" bandRow="1">
                <a:tableStyleId>{5940675A-B579-460E-94D1-54222C63F5DA}</a:tableStyleId>
              </a:tblPr>
              <a:tblGrid>
                <a:gridCol w="992188">
                  <a:extLst>
                    <a:ext uri="{9D8B030D-6E8A-4147-A177-3AD203B41FA5}">
                      <a16:colId xmlns:a16="http://schemas.microsoft.com/office/drawing/2014/main" val="20000"/>
                    </a:ext>
                  </a:extLst>
                </a:gridCol>
                <a:gridCol w="992188">
                  <a:extLst>
                    <a:ext uri="{9D8B030D-6E8A-4147-A177-3AD203B41FA5}">
                      <a16:colId xmlns:a16="http://schemas.microsoft.com/office/drawing/2014/main" val="20001"/>
                    </a:ext>
                  </a:extLst>
                </a:gridCol>
                <a:gridCol w="992188">
                  <a:extLst>
                    <a:ext uri="{9D8B030D-6E8A-4147-A177-3AD203B41FA5}">
                      <a16:colId xmlns:a16="http://schemas.microsoft.com/office/drawing/2014/main" val="20002"/>
                    </a:ext>
                  </a:extLst>
                </a:gridCol>
                <a:gridCol w="992188">
                  <a:extLst>
                    <a:ext uri="{9D8B030D-6E8A-4147-A177-3AD203B41FA5}">
                      <a16:colId xmlns:a16="http://schemas.microsoft.com/office/drawing/2014/main" val="20003"/>
                    </a:ext>
                  </a:extLst>
                </a:gridCol>
              </a:tblGrid>
              <a:tr h="0">
                <a:tc>
                  <a:txBody>
                    <a:bodyPr/>
                    <a:lstStyle/>
                    <a:p>
                      <a:pPr algn="ctr">
                        <a:spcAft>
                          <a:spcPts val="0"/>
                        </a:spcAft>
                      </a:pPr>
                      <a:r>
                        <a:rPr lang="en-IN" sz="1400" dirty="0">
                          <a:solidFill>
                            <a:srgbClr val="1F2C8F"/>
                          </a:solidFill>
                          <a:effectLst/>
                        </a:rPr>
                        <a:t> </a:t>
                      </a:r>
                      <a:endParaRPr lang="en-IN" sz="14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1400" dirty="0">
                          <a:solidFill>
                            <a:srgbClr val="1F2C8F"/>
                          </a:solidFill>
                          <a:effectLst/>
                        </a:rPr>
                        <a:t>Value</a:t>
                      </a:r>
                      <a:endParaRPr lang="en-IN" sz="14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1400">
                          <a:solidFill>
                            <a:srgbClr val="1F2C8F"/>
                          </a:solidFill>
                          <a:effectLst/>
                        </a:rPr>
                        <a:t>df</a:t>
                      </a:r>
                      <a:endParaRPr lang="en-IN" sz="14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1400">
                          <a:solidFill>
                            <a:srgbClr val="1F2C8F"/>
                          </a:solidFill>
                          <a:effectLst/>
                        </a:rPr>
                        <a:t>p</a:t>
                      </a:r>
                      <a:endParaRPr lang="en-IN" sz="14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0">
                <a:tc>
                  <a:txBody>
                    <a:bodyPr/>
                    <a:lstStyle/>
                    <a:p>
                      <a:pPr algn="l">
                        <a:spcAft>
                          <a:spcPts val="0"/>
                        </a:spcAft>
                      </a:pPr>
                      <a:r>
                        <a:rPr lang="en-IN" sz="1400" dirty="0">
                          <a:solidFill>
                            <a:srgbClr val="1F2C8F"/>
                          </a:solidFill>
                          <a:effectLst/>
                        </a:rPr>
                        <a:t>χ²</a:t>
                      </a:r>
                      <a:endParaRPr lang="en-IN" sz="14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1400" dirty="0">
                          <a:solidFill>
                            <a:srgbClr val="1F2C8F"/>
                          </a:solidFill>
                          <a:effectLst/>
                        </a:rPr>
                        <a:t>1.55</a:t>
                      </a:r>
                      <a:endParaRPr lang="en-IN" sz="14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1400" dirty="0">
                          <a:solidFill>
                            <a:srgbClr val="1F2C8F"/>
                          </a:solidFill>
                          <a:effectLst/>
                        </a:rPr>
                        <a:t>1</a:t>
                      </a:r>
                      <a:endParaRPr lang="en-IN" sz="14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1400">
                          <a:solidFill>
                            <a:srgbClr val="1F2C8F"/>
                          </a:solidFill>
                          <a:effectLst/>
                        </a:rPr>
                        <a:t>0.214</a:t>
                      </a:r>
                      <a:endParaRPr lang="en-IN" sz="140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0">
                <a:tc>
                  <a:txBody>
                    <a:bodyPr/>
                    <a:lstStyle/>
                    <a:p>
                      <a:pPr algn="l">
                        <a:spcAft>
                          <a:spcPts val="0"/>
                        </a:spcAft>
                      </a:pPr>
                      <a:r>
                        <a:rPr lang="en-IN" sz="1400" dirty="0">
                          <a:solidFill>
                            <a:srgbClr val="1F2C8F"/>
                          </a:solidFill>
                          <a:effectLst/>
                        </a:rPr>
                        <a:t>N</a:t>
                      </a:r>
                      <a:endParaRPr lang="en-IN" sz="14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1400" dirty="0">
                          <a:solidFill>
                            <a:srgbClr val="1F2C8F"/>
                          </a:solidFill>
                          <a:effectLst/>
                        </a:rPr>
                        <a:t>178</a:t>
                      </a:r>
                      <a:endParaRPr lang="en-IN" sz="1400" dirty="0">
                        <a:solidFill>
                          <a:srgbClr val="1F2C8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l"/>
                      <a:endParaRPr lang="en-IN" sz="1400" dirty="0">
                        <a:solidFill>
                          <a:srgbClr val="1F2C8F"/>
                        </a:solidFill>
                        <a:effectLst/>
                        <a:latin typeface="Calibri" panose="020F0502020204030204" pitchFamily="34" charset="0"/>
                        <a:cs typeface="Times New Roman" panose="02020603050405020304" pitchFamily="18" charset="0"/>
                      </a:endParaRPr>
                    </a:p>
                  </a:txBody>
                  <a:tcPr marL="68580" marR="68580" marT="0" marB="0"/>
                </a:tc>
                <a:tc>
                  <a:txBody>
                    <a:bodyPr/>
                    <a:lstStyle/>
                    <a:p>
                      <a:pPr algn="l"/>
                      <a:endParaRPr lang="en-IN" sz="1400" dirty="0">
                        <a:solidFill>
                          <a:srgbClr val="1F2C8F"/>
                        </a:solidFill>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bl>
          </a:graphicData>
        </a:graphic>
      </p:graphicFrame>
      <p:sp>
        <p:nvSpPr>
          <p:cNvPr id="9" name="Rectangle 8"/>
          <p:cNvSpPr/>
          <p:nvPr/>
        </p:nvSpPr>
        <p:spPr>
          <a:xfrm>
            <a:off x="758689" y="4622758"/>
            <a:ext cx="906338" cy="369332"/>
          </a:xfrm>
          <a:prstGeom prst="rect">
            <a:avLst/>
          </a:prstGeom>
        </p:spPr>
        <p:txBody>
          <a:bodyPr wrap="none">
            <a:spAutoFit/>
          </a:bodyPr>
          <a:lstStyle/>
          <a:p>
            <a:pPr>
              <a:spcAft>
                <a:spcPts val="0"/>
              </a:spcAft>
            </a:pPr>
            <a:r>
              <a:rPr lang="en-IN" b="1" dirty="0">
                <a:solidFill>
                  <a:srgbClr val="1F2C8F"/>
                </a:solidFill>
                <a:latin typeface="Times New Roman" panose="02020603050405020304" pitchFamily="18" charset="0"/>
                <a:ea typeface="Times New Roman" panose="02020603050405020304" pitchFamily="18" charset="0"/>
              </a:rPr>
              <a:t>χ² Tests</a:t>
            </a:r>
            <a:endParaRPr lang="en-IN" sz="1400" dirty="0">
              <a:solidFill>
                <a:srgbClr val="1F2C8F"/>
              </a:solidFill>
              <a:effectLst/>
              <a:latin typeface="Times New Roman" panose="02020603050405020304" pitchFamily="18" charset="0"/>
              <a:ea typeface="Times New Roman" panose="02020603050405020304" pitchFamily="18" charset="0"/>
            </a:endParaRPr>
          </a:p>
        </p:txBody>
      </p:sp>
      <p:grpSp>
        <p:nvGrpSpPr>
          <p:cNvPr id="10" name="Group 9">
            <a:extLst>
              <a:ext uri="{FF2B5EF4-FFF2-40B4-BE49-F238E27FC236}">
                <a16:creationId xmlns:a16="http://schemas.microsoft.com/office/drawing/2014/main" id="{F7E4A46A-479A-C101-2D60-BA0520229F45}"/>
              </a:ext>
            </a:extLst>
          </p:cNvPr>
          <p:cNvGrpSpPr/>
          <p:nvPr/>
        </p:nvGrpSpPr>
        <p:grpSpPr>
          <a:xfrm>
            <a:off x="6823881" y="2568386"/>
            <a:ext cx="4842144" cy="2836127"/>
            <a:chOff x="0" y="0"/>
            <a:chExt cx="3216534" cy="2060090"/>
          </a:xfrm>
        </p:grpSpPr>
        <p:graphicFrame>
          <p:nvGraphicFramePr>
            <p:cNvPr id="11" name="Diagram 10">
              <a:extLst>
                <a:ext uri="{FF2B5EF4-FFF2-40B4-BE49-F238E27FC236}">
                  <a16:creationId xmlns:a16="http://schemas.microsoft.com/office/drawing/2014/main" id="{91DAB6FB-5500-1281-4330-069A92A6D1EC}"/>
                </a:ext>
              </a:extLst>
            </p:cNvPr>
            <p:cNvGraphicFramePr/>
            <p:nvPr>
              <p:extLst>
                <p:ext uri="{D42A27DB-BD31-4B8C-83A1-F6EECF244321}">
                  <p14:modId xmlns:p14="http://schemas.microsoft.com/office/powerpoint/2010/main" val="431879427"/>
                </p:ext>
              </p:extLst>
            </p:nvPr>
          </p:nvGraphicFramePr>
          <p:xfrm>
            <a:off x="0" y="0"/>
            <a:ext cx="3216534" cy="20600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2" name="TextBox 58">
              <a:extLst>
                <a:ext uri="{FF2B5EF4-FFF2-40B4-BE49-F238E27FC236}">
                  <a16:creationId xmlns:a16="http://schemas.microsoft.com/office/drawing/2014/main" id="{99FF4FEB-6EB2-429A-AA7A-48D31D29A7BC}"/>
                </a:ext>
              </a:extLst>
            </p:cNvPr>
            <p:cNvSpPr txBox="1"/>
            <p:nvPr/>
          </p:nvSpPr>
          <p:spPr>
            <a:xfrm>
              <a:off x="674021" y="270291"/>
              <a:ext cx="472582" cy="354703"/>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p>
              <a:pPr>
                <a:spcAft>
                  <a:spcPts val="0"/>
                </a:spcAft>
              </a:pPr>
              <a:r>
                <a:rPr lang="en-US" sz="1400">
                  <a:solidFill>
                    <a:srgbClr val="000000"/>
                  </a:solidFill>
                  <a:effectLst/>
                  <a:ea typeface="Calibri" panose="020F0502020204030204" pitchFamily="34" charset="0"/>
                </a:rPr>
                <a:t>15%</a:t>
              </a:r>
              <a:endParaRPr lang="en-IN" sz="1200">
                <a:effectLst/>
                <a:latin typeface="Times New Roman" panose="02020603050405020304" pitchFamily="18" charset="0"/>
                <a:ea typeface="Times New Roman" panose="02020603050405020304" pitchFamily="18" charset="0"/>
              </a:endParaRPr>
            </a:p>
          </p:txBody>
        </p:sp>
        <p:sp>
          <p:nvSpPr>
            <p:cNvPr id="13" name="TextBox 63">
              <a:extLst>
                <a:ext uri="{FF2B5EF4-FFF2-40B4-BE49-F238E27FC236}">
                  <a16:creationId xmlns:a16="http://schemas.microsoft.com/office/drawing/2014/main" id="{482625A1-259E-4406-A646-26B14B95E476}"/>
                </a:ext>
              </a:extLst>
            </p:cNvPr>
            <p:cNvSpPr txBox="1"/>
            <p:nvPr/>
          </p:nvSpPr>
          <p:spPr>
            <a:xfrm>
              <a:off x="2167540" y="1405671"/>
              <a:ext cx="472582" cy="354703"/>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p>
              <a:pPr>
                <a:spcAft>
                  <a:spcPts val="0"/>
                </a:spcAft>
              </a:pPr>
              <a:r>
                <a:rPr lang="en-US" sz="1400" dirty="0">
                  <a:solidFill>
                    <a:srgbClr val="000000"/>
                  </a:solidFill>
                  <a:effectLst/>
                  <a:ea typeface="Calibri" panose="020F0502020204030204" pitchFamily="34" charset="0"/>
                </a:rPr>
                <a:t>85%</a:t>
              </a:r>
              <a:endParaRPr lang="en-IN" sz="1200" dirty="0">
                <a:effectLst/>
                <a:latin typeface="Times New Roman" panose="02020603050405020304" pitchFamily="18" charset="0"/>
                <a:ea typeface="Times New Roman" panose="02020603050405020304" pitchFamily="18" charset="0"/>
              </a:endParaRPr>
            </a:p>
          </p:txBody>
        </p:sp>
      </p:grpSp>
      <p:sp>
        <p:nvSpPr>
          <p:cNvPr id="14" name="Rectangle 13"/>
          <p:cNvSpPr/>
          <p:nvPr/>
        </p:nvSpPr>
        <p:spPr>
          <a:xfrm>
            <a:off x="627797" y="6209731"/>
            <a:ext cx="11273051" cy="464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n-US" sz="1400" dirty="0">
                <a:solidFill>
                  <a:srgbClr val="1F2C8F"/>
                </a:solidFill>
              </a:rPr>
              <a:t>Since the p-value (0.214) is greater than 0.05, we fail to reject the null hypothesis. This means that there is no statistically significant </a:t>
            </a:r>
            <a:r>
              <a:rPr lang="en-US" sz="1600" dirty="0">
                <a:solidFill>
                  <a:srgbClr val="1F2C8F"/>
                </a:solidFill>
              </a:rPr>
              <a:t>evidence to conclude that males and females have different preferences between conventional and electric vehicles based on the collected data.</a:t>
            </a:r>
            <a:endParaRPr lang="en-IN" sz="1600" b="1" dirty="0">
              <a:solidFill>
                <a:srgbClr val="1F2C8F"/>
              </a:solidFill>
            </a:endParaRPr>
          </a:p>
          <a:p>
            <a:pPr>
              <a:lnSpc>
                <a:spcPct val="150000"/>
              </a:lnSpc>
            </a:pPr>
            <a:r>
              <a:rPr lang="en-US" sz="1400" dirty="0">
                <a:solidFill>
                  <a:srgbClr val="1F2C8F"/>
                </a:solidFill>
              </a:rPr>
              <a:t> </a:t>
            </a:r>
            <a:endParaRPr lang="en-IN" sz="1400" b="1" dirty="0">
              <a:solidFill>
                <a:srgbClr val="1F2C8F"/>
              </a:solidFill>
            </a:endParaRPr>
          </a:p>
        </p:txBody>
      </p:sp>
    </p:spTree>
    <p:extLst>
      <p:ext uri="{BB962C8B-B14F-4D97-AF65-F5344CB8AC3E}">
        <p14:creationId xmlns:p14="http://schemas.microsoft.com/office/powerpoint/2010/main" val="35193850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443EC8A-1733-CCF7-081F-EB4667CB3285}"/>
              </a:ext>
            </a:extLst>
          </p:cNvPr>
          <p:cNvSpPr>
            <a:spLocks noGrp="1"/>
          </p:cNvSpPr>
          <p:nvPr>
            <p:ph type="title"/>
          </p:nvPr>
        </p:nvSpPr>
        <p:spPr>
          <a:xfrm>
            <a:off x="3460564" y="286427"/>
            <a:ext cx="7965461" cy="1284522"/>
          </a:xfrm>
        </p:spPr>
        <p:txBody>
          <a:bodyPr/>
          <a:lstStyle/>
          <a:p>
            <a:r>
              <a:rPr lang="en-US" dirty="0"/>
              <a:t>TRAFFIC MANAGEMENT STRATEGIES</a:t>
            </a:r>
          </a:p>
        </p:txBody>
      </p:sp>
      <p:sp>
        <p:nvSpPr>
          <p:cNvPr id="4" name="Content Placeholder 3">
            <a:extLst>
              <a:ext uri="{FF2B5EF4-FFF2-40B4-BE49-F238E27FC236}">
                <a16:creationId xmlns:a16="http://schemas.microsoft.com/office/drawing/2014/main" id="{ACE55D3D-AA24-CF53-6679-29B3C83F7646}"/>
              </a:ext>
            </a:extLst>
          </p:cNvPr>
          <p:cNvSpPr>
            <a:spLocks noGrp="1"/>
          </p:cNvSpPr>
          <p:nvPr>
            <p:ph sz="half" idx="2"/>
          </p:nvPr>
        </p:nvSpPr>
        <p:spPr>
          <a:xfrm>
            <a:off x="3460565" y="1741722"/>
            <a:ext cx="7965460" cy="5190020"/>
          </a:xfrm>
        </p:spPr>
        <p:txBody>
          <a:bodyPr>
            <a:normAutofit/>
          </a:bodyPr>
          <a:lstStyle/>
          <a:p>
            <a:pPr>
              <a:buFont typeface="Wingdings 3" panose="05040102010807070707" pitchFamily="18" charset="2"/>
              <a:buChar char="Ê"/>
            </a:pPr>
            <a:r>
              <a:rPr lang="en-IN" b="1" dirty="0"/>
              <a:t>Smart Traffic Management</a:t>
            </a:r>
          </a:p>
          <a:p>
            <a:r>
              <a:rPr lang="en-IN" dirty="0"/>
              <a:t>Intelligent Traffic Signals – AI-based signal optimization.</a:t>
            </a:r>
          </a:p>
          <a:p>
            <a:r>
              <a:rPr lang="en-US" dirty="0"/>
              <a:t>Real-time Traffic Monitoring – CCTV &amp; IoT-based congestion tracking.</a:t>
            </a:r>
          </a:p>
          <a:p>
            <a:endParaRPr lang="en-IN" dirty="0"/>
          </a:p>
          <a:p>
            <a:pPr>
              <a:buFont typeface="Wingdings 3" panose="05040102010807070707" pitchFamily="18" charset="2"/>
              <a:buChar char="Ê"/>
            </a:pPr>
            <a:r>
              <a:rPr lang="en-IN" b="1" dirty="0"/>
              <a:t>Public Transport Enhancements</a:t>
            </a:r>
          </a:p>
          <a:p>
            <a:r>
              <a:rPr lang="en-US" dirty="0"/>
              <a:t>Bus Expansion – Improve accessibility &amp; frequency.</a:t>
            </a:r>
          </a:p>
          <a:p>
            <a:r>
              <a:rPr lang="en-US" dirty="0"/>
              <a:t>Digital Ticketing &amp; Real-Time Tracking – For smoother commutes.</a:t>
            </a:r>
          </a:p>
          <a:p>
            <a:endParaRPr lang="en-US" dirty="0"/>
          </a:p>
          <a:p>
            <a:pPr>
              <a:buFont typeface="Wingdings 3" panose="05040102010807070707" pitchFamily="18" charset="2"/>
              <a:buChar char="Ê"/>
            </a:pPr>
            <a:r>
              <a:rPr lang="en-IN" b="1" dirty="0"/>
              <a:t>Expected Impact</a:t>
            </a:r>
          </a:p>
          <a:p>
            <a:r>
              <a:rPr lang="en-IN" dirty="0"/>
              <a:t>Reduced congestion &amp; faster commutes.</a:t>
            </a:r>
            <a:endParaRPr lang="en-IN" b="1" dirty="0"/>
          </a:p>
          <a:p>
            <a:r>
              <a:rPr lang="en-IN" dirty="0"/>
              <a:t>Enhanced public transport efficiency</a:t>
            </a:r>
            <a:endParaRPr lang="en-IN" b="1" dirty="0"/>
          </a:p>
          <a:p>
            <a:r>
              <a:rPr lang="en-US" dirty="0"/>
              <a:t>Lower dependency on private vehicles.</a:t>
            </a:r>
          </a:p>
          <a:p>
            <a:endParaRPr lang="en-US" b="1" dirty="0"/>
          </a:p>
        </p:txBody>
      </p:sp>
      <p:sp>
        <p:nvSpPr>
          <p:cNvPr id="2" name="Slide Number Placeholder 1">
            <a:extLst>
              <a:ext uri="{FF2B5EF4-FFF2-40B4-BE49-F238E27FC236}">
                <a16:creationId xmlns:a16="http://schemas.microsoft.com/office/drawing/2014/main" id="{AB69D854-FB65-0E93-CFE2-041F7C41DD24}"/>
              </a:ext>
            </a:extLst>
          </p:cNvPr>
          <p:cNvSpPr>
            <a:spLocks noGrp="1"/>
          </p:cNvSpPr>
          <p:nvPr>
            <p:ph type="sldNum" sz="quarter" idx="10"/>
          </p:nvPr>
        </p:nvSpPr>
        <p:spPr/>
        <p:txBody>
          <a:bodyPr/>
          <a:lstStyle/>
          <a:p>
            <a:fld id="{48F63A3B-78C7-47BE-AE5E-E10140E04643}" type="slidenum">
              <a:rPr lang="en-US" smtClean="0"/>
              <a:pPr/>
              <a:t>18</a:t>
            </a:fld>
            <a:endParaRPr lang="en-US" dirty="0"/>
          </a:p>
        </p:txBody>
      </p:sp>
    </p:spTree>
    <p:extLst>
      <p:ext uri="{BB962C8B-B14F-4D97-AF65-F5344CB8AC3E}">
        <p14:creationId xmlns:p14="http://schemas.microsoft.com/office/powerpoint/2010/main" val="40721017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A34A6-22BC-27A4-2C79-EE98A4943B14}"/>
              </a:ext>
            </a:extLst>
          </p:cNvPr>
          <p:cNvSpPr>
            <a:spLocks noGrp="1"/>
          </p:cNvSpPr>
          <p:nvPr>
            <p:ph type="title"/>
          </p:nvPr>
        </p:nvSpPr>
        <p:spPr>
          <a:xfrm>
            <a:off x="765973" y="404832"/>
            <a:ext cx="7985910" cy="1222385"/>
          </a:xfrm>
        </p:spPr>
        <p:txBody>
          <a:bodyPr/>
          <a:lstStyle/>
          <a:p>
            <a:pPr algn="ctr"/>
            <a:r>
              <a:rPr lang="en-US" dirty="0"/>
              <a:t>Public PROBLEMS</a:t>
            </a:r>
          </a:p>
        </p:txBody>
      </p:sp>
      <p:sp>
        <p:nvSpPr>
          <p:cNvPr id="17" name="Content Placeholder 6">
            <a:extLst>
              <a:ext uri="{FF2B5EF4-FFF2-40B4-BE49-F238E27FC236}">
                <a16:creationId xmlns:a16="http://schemas.microsoft.com/office/drawing/2014/main" id="{33680A80-5C61-DD02-1119-0565C0AD5372}"/>
              </a:ext>
            </a:extLst>
          </p:cNvPr>
          <p:cNvSpPr>
            <a:spLocks noGrp="1"/>
          </p:cNvSpPr>
          <p:nvPr>
            <p:ph sz="quarter" idx="4"/>
          </p:nvPr>
        </p:nvSpPr>
        <p:spPr>
          <a:xfrm>
            <a:off x="4562240" y="2291458"/>
            <a:ext cx="3969724" cy="4178795"/>
          </a:xfrm>
        </p:spPr>
        <p:txBody>
          <a:bodyPr>
            <a:normAutofit/>
          </a:bodyPr>
          <a:lstStyle/>
          <a:p>
            <a:pPr lvl="1">
              <a:buFont typeface="Wingdings 3" panose="05040102010807070707" pitchFamily="18" charset="2"/>
              <a:buChar char="g"/>
            </a:pPr>
            <a:r>
              <a:rPr lang="en-IN" b="1" dirty="0">
                <a:sym typeface="Wingdings 3" panose="05040102010807070707" pitchFamily="18" charset="2"/>
              </a:rPr>
              <a:t>Impact on Daily life</a:t>
            </a:r>
          </a:p>
          <a:p>
            <a:pPr lvl="1"/>
            <a:r>
              <a:rPr lang="en-IN" dirty="0">
                <a:sym typeface="Wingdings 3" panose="05040102010807070707" pitchFamily="18" charset="2"/>
              </a:rPr>
              <a:t>Increase in Time Travell</a:t>
            </a:r>
          </a:p>
          <a:p>
            <a:pPr lvl="1"/>
            <a:r>
              <a:rPr lang="en-IN" dirty="0">
                <a:sym typeface="Wingdings 3" panose="05040102010807070707" pitchFamily="18" charset="2"/>
              </a:rPr>
              <a:t>Stress and Fatigue</a:t>
            </a:r>
          </a:p>
          <a:p>
            <a:pPr lvl="1"/>
            <a:r>
              <a:rPr lang="en-IN" dirty="0">
                <a:sym typeface="Wingdings 3" panose="05040102010807070707" pitchFamily="18" charset="2"/>
              </a:rPr>
              <a:t>Increase fuel Consumption</a:t>
            </a:r>
          </a:p>
          <a:p>
            <a:pPr marL="0" lvl="1" indent="0">
              <a:buNone/>
            </a:pPr>
            <a:endParaRPr lang="en-US" dirty="0"/>
          </a:p>
          <a:p>
            <a:pPr marL="0" lvl="1" indent="0">
              <a:buNone/>
            </a:pPr>
            <a:r>
              <a:rPr lang="en-IN" b="1" dirty="0">
                <a:sym typeface="Wingdings 3" panose="05040102010807070707" pitchFamily="18" charset="2"/>
              </a:rPr>
              <a:t> </a:t>
            </a:r>
            <a:r>
              <a:rPr lang="en-US" b="1" dirty="0"/>
              <a:t>How to Reduce traffic congestion:</a:t>
            </a:r>
          </a:p>
          <a:p>
            <a:pPr lvl="1"/>
            <a:r>
              <a:rPr lang="en-US" dirty="0"/>
              <a:t>Make Pedestrian Infrastructure </a:t>
            </a:r>
          </a:p>
          <a:p>
            <a:pPr lvl="1"/>
            <a:r>
              <a:rPr lang="en-US" dirty="0"/>
              <a:t>Better Traffic Management System</a:t>
            </a:r>
          </a:p>
          <a:p>
            <a:pPr lvl="1"/>
            <a:r>
              <a:rPr lang="en-US" dirty="0"/>
              <a:t>Public Understanding</a:t>
            </a:r>
          </a:p>
        </p:txBody>
      </p:sp>
      <p:sp>
        <p:nvSpPr>
          <p:cNvPr id="3" name="Slide Number Placeholder 2">
            <a:extLst>
              <a:ext uri="{FF2B5EF4-FFF2-40B4-BE49-F238E27FC236}">
                <a16:creationId xmlns:a16="http://schemas.microsoft.com/office/drawing/2014/main" id="{7267C004-8B72-C872-98FB-00A2A584D055}"/>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19</a:t>
            </a:fld>
            <a:endParaRPr lang="en-US" dirty="0"/>
          </a:p>
        </p:txBody>
      </p:sp>
      <p:sp>
        <p:nvSpPr>
          <p:cNvPr id="16" name="Content Placeholder 4">
            <a:extLst>
              <a:ext uri="{FF2B5EF4-FFF2-40B4-BE49-F238E27FC236}">
                <a16:creationId xmlns:a16="http://schemas.microsoft.com/office/drawing/2014/main" id="{AEF9954A-E263-8A7E-58B1-4D03F7D1BD9B}"/>
              </a:ext>
            </a:extLst>
          </p:cNvPr>
          <p:cNvSpPr>
            <a:spLocks noGrp="1"/>
          </p:cNvSpPr>
          <p:nvPr>
            <p:ph sz="half" idx="2"/>
          </p:nvPr>
        </p:nvSpPr>
        <p:spPr>
          <a:xfrm>
            <a:off x="277793" y="2303027"/>
            <a:ext cx="4120588" cy="4178796"/>
          </a:xfrm>
        </p:spPr>
        <p:txBody>
          <a:bodyPr>
            <a:normAutofit/>
          </a:bodyPr>
          <a:lstStyle/>
          <a:p>
            <a:pPr marL="0" lvl="1" indent="0">
              <a:buNone/>
            </a:pPr>
            <a:r>
              <a:rPr lang="en-IN" b="1" dirty="0">
                <a:sym typeface="Wingdings 3" panose="05040102010807070707" pitchFamily="18" charset="2"/>
              </a:rPr>
              <a:t> </a:t>
            </a:r>
            <a:r>
              <a:rPr lang="en-IN" b="1" dirty="0"/>
              <a:t>Key Issues Identified: </a:t>
            </a:r>
            <a:endParaRPr lang="en-IN" dirty="0"/>
          </a:p>
          <a:p>
            <a:pPr lvl="2"/>
            <a:r>
              <a:rPr lang="en-US" sz="1800" dirty="0">
                <a:effectLst/>
                <a:latin typeface="Times New Roman" panose="02020603050405020304" pitchFamily="18" charset="0"/>
                <a:ea typeface="Times New Roman" panose="02020603050405020304" pitchFamily="18" charset="0"/>
              </a:rPr>
              <a:t>Over flow of vehicles </a:t>
            </a:r>
          </a:p>
          <a:p>
            <a:pPr lvl="2"/>
            <a:r>
              <a:rPr lang="en-US" sz="1600" dirty="0"/>
              <a:t>More public near Mall and Metro Station</a:t>
            </a:r>
          </a:p>
          <a:p>
            <a:pPr lvl="2"/>
            <a:r>
              <a:rPr lang="en-US" sz="1600" dirty="0"/>
              <a:t>Connection of Highway </a:t>
            </a:r>
          </a:p>
          <a:p>
            <a:pPr lvl="1"/>
            <a:endParaRPr lang="en-US" dirty="0"/>
          </a:p>
          <a:p>
            <a:pPr marL="0" lvl="1" indent="0">
              <a:buNone/>
            </a:pPr>
            <a:r>
              <a:rPr lang="en-IN" b="1" dirty="0">
                <a:sym typeface="Wingdings 3" panose="05040102010807070707" pitchFamily="18" charset="2"/>
              </a:rPr>
              <a:t>  What Pubic Needs?</a:t>
            </a:r>
          </a:p>
          <a:p>
            <a:pPr lvl="1"/>
            <a:r>
              <a:rPr lang="en-IN" dirty="0">
                <a:sym typeface="Wingdings 3" panose="05040102010807070707" pitchFamily="18" charset="2"/>
              </a:rPr>
              <a:t>Quality Road infrastructure </a:t>
            </a:r>
          </a:p>
          <a:p>
            <a:pPr lvl="1"/>
            <a:r>
              <a:rPr lang="en-IN" dirty="0">
                <a:sym typeface="Wingdings 3" panose="05040102010807070707" pitchFamily="18" charset="2"/>
              </a:rPr>
              <a:t>Better Transportation</a:t>
            </a:r>
          </a:p>
          <a:p>
            <a:pPr lvl="1"/>
            <a:r>
              <a:rPr lang="en-US" dirty="0"/>
              <a:t>Safe Driving </a:t>
            </a:r>
          </a:p>
          <a:p>
            <a:pPr marL="0" lvl="1" indent="0">
              <a:buNone/>
            </a:pPr>
            <a:endParaRPr lang="en-US" dirty="0"/>
          </a:p>
        </p:txBody>
      </p:sp>
    </p:spTree>
    <p:extLst>
      <p:ext uri="{BB962C8B-B14F-4D97-AF65-F5344CB8AC3E}">
        <p14:creationId xmlns:p14="http://schemas.microsoft.com/office/powerpoint/2010/main" val="24685957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136FCF6-982C-CC37-9625-3EBFC7E7DD13}"/>
              </a:ext>
            </a:extLst>
          </p:cNvPr>
          <p:cNvSpPr>
            <a:spLocks noGrp="1"/>
          </p:cNvSpPr>
          <p:nvPr>
            <p:ph type="title"/>
          </p:nvPr>
        </p:nvSpPr>
        <p:spPr>
          <a:xfrm>
            <a:off x="1658717" y="110832"/>
            <a:ext cx="9879437" cy="1519451"/>
          </a:xfrm>
        </p:spPr>
        <p:txBody>
          <a:bodyPr/>
          <a:lstStyle/>
          <a:p>
            <a:r>
              <a:rPr lang="en-IN" dirty="0"/>
              <a:t>Road Safety &amp; Sustainability Measures</a:t>
            </a:r>
            <a:endParaRPr lang="en-US" dirty="0"/>
          </a:p>
        </p:txBody>
      </p:sp>
      <p:sp>
        <p:nvSpPr>
          <p:cNvPr id="2" name="Slide Number Placeholder 1">
            <a:extLst>
              <a:ext uri="{FF2B5EF4-FFF2-40B4-BE49-F238E27FC236}">
                <a16:creationId xmlns:a16="http://schemas.microsoft.com/office/drawing/2014/main" id="{A913EEC9-16E3-6C86-97D0-A7EC7EA09CDA}"/>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20</a:t>
            </a:fld>
            <a:endParaRPr lang="en-US" dirty="0"/>
          </a:p>
        </p:txBody>
      </p:sp>
      <p:sp>
        <p:nvSpPr>
          <p:cNvPr id="10" name="Content Placeholder 3">
            <a:extLst>
              <a:ext uri="{FF2B5EF4-FFF2-40B4-BE49-F238E27FC236}">
                <a16:creationId xmlns:a16="http://schemas.microsoft.com/office/drawing/2014/main" id="{6FF1DF4C-BC84-4100-4519-124EBBC7A7B8}"/>
              </a:ext>
            </a:extLst>
          </p:cNvPr>
          <p:cNvSpPr txBox="1">
            <a:spLocks/>
          </p:cNvSpPr>
          <p:nvPr/>
        </p:nvSpPr>
        <p:spPr>
          <a:xfrm>
            <a:off x="1081159" y="1846741"/>
            <a:ext cx="7965460" cy="1477328"/>
          </a:xfrm>
          <a:prstGeom prst="rect">
            <a:avLst/>
          </a:prstGeom>
        </p:spPr>
        <p:txBody>
          <a:bodyPr>
            <a:normAutofit/>
          </a:bodyPr>
          <a:lst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3" panose="05040102010807070707" pitchFamily="18" charset="2"/>
              <a:buChar char="Ê"/>
            </a:pPr>
            <a:r>
              <a:rPr lang="en-IN" sz="1800" b="1" dirty="0"/>
              <a:t>Road Safety Improvement</a:t>
            </a:r>
          </a:p>
          <a:p>
            <a:r>
              <a:rPr lang="en-US" sz="1800" dirty="0"/>
              <a:t>Better Road Design – Dedicated lanes, pedestrian zones</a:t>
            </a:r>
          </a:p>
          <a:p>
            <a:r>
              <a:rPr lang="en-US" sz="1800" dirty="0"/>
              <a:t>Speed Monitoring &amp; Law Enforcement – AI cameras &amp; strict penalties.</a:t>
            </a:r>
          </a:p>
          <a:p>
            <a:r>
              <a:rPr lang="en-US" sz="1800" dirty="0"/>
              <a:t>Accident-Prone Area Fixes – Black spot identification &amp; improvements.</a:t>
            </a:r>
            <a:endParaRPr lang="en-IN" sz="1800" dirty="0"/>
          </a:p>
          <a:p>
            <a:endParaRPr lang="en-IN" sz="1800" dirty="0"/>
          </a:p>
          <a:p>
            <a:endParaRPr lang="en-US" sz="1800" dirty="0"/>
          </a:p>
        </p:txBody>
      </p:sp>
      <p:sp>
        <p:nvSpPr>
          <p:cNvPr id="11" name="TextBox 10">
            <a:extLst>
              <a:ext uri="{FF2B5EF4-FFF2-40B4-BE49-F238E27FC236}">
                <a16:creationId xmlns:a16="http://schemas.microsoft.com/office/drawing/2014/main" id="{583A6842-5051-564B-CFF7-0B2A9A5661A9}"/>
              </a:ext>
            </a:extLst>
          </p:cNvPr>
          <p:cNvSpPr txBox="1"/>
          <p:nvPr/>
        </p:nvSpPr>
        <p:spPr>
          <a:xfrm>
            <a:off x="3024408" y="3533932"/>
            <a:ext cx="7148053" cy="1477328"/>
          </a:xfrm>
          <a:prstGeom prst="rect">
            <a:avLst/>
          </a:prstGeom>
          <a:noFill/>
        </p:spPr>
        <p:txBody>
          <a:bodyPr wrap="square" rtlCol="0">
            <a:spAutoFit/>
          </a:bodyPr>
          <a:lstStyle/>
          <a:p>
            <a:pPr>
              <a:buFont typeface="Wingdings 3" panose="05040102010807070707" pitchFamily="18" charset="2"/>
              <a:buChar char="Ê"/>
            </a:pPr>
            <a:r>
              <a:rPr lang="en-IN" sz="1800" b="1" dirty="0">
                <a:solidFill>
                  <a:schemeClr val="accent6"/>
                </a:solidFill>
              </a:rPr>
              <a:t>  Environmental Sustainability</a:t>
            </a:r>
          </a:p>
          <a:p>
            <a:pPr marL="285750" indent="-285750">
              <a:buFont typeface="Arial" panose="020B0604020202020204" pitchFamily="34" charset="0"/>
              <a:buChar char="•"/>
            </a:pPr>
            <a:r>
              <a:rPr lang="en-IN" sz="1800" dirty="0">
                <a:solidFill>
                  <a:schemeClr val="accent6"/>
                </a:solidFill>
              </a:rPr>
              <a:t>Promote Electric Vehicles (EVs) – Incentives &amp; charging stations.</a:t>
            </a:r>
          </a:p>
          <a:p>
            <a:pPr marL="285750" indent="-285750">
              <a:buFont typeface="Arial" panose="020B0604020202020204" pitchFamily="34" charset="0"/>
              <a:buChar char="•"/>
            </a:pPr>
            <a:r>
              <a:rPr lang="en-US" sz="1800" dirty="0">
                <a:solidFill>
                  <a:schemeClr val="accent6"/>
                </a:solidFill>
              </a:rPr>
              <a:t>Increase Green Spaces – Roadside trees &amp; urban forests.</a:t>
            </a:r>
          </a:p>
          <a:p>
            <a:pPr marL="285750" indent="-285750">
              <a:buFont typeface="Arial" panose="020B0604020202020204" pitchFamily="34" charset="0"/>
              <a:buChar char="•"/>
            </a:pPr>
            <a:r>
              <a:rPr lang="en-US" sz="1800" dirty="0">
                <a:solidFill>
                  <a:schemeClr val="accent6"/>
                </a:solidFill>
              </a:rPr>
              <a:t>Encourage Cycling &amp; Walking – Dedicated lanes &amp; safer sidewalks.</a:t>
            </a:r>
            <a:endParaRPr lang="en-US" dirty="0">
              <a:solidFill>
                <a:schemeClr val="accent6"/>
              </a:solidFill>
            </a:endParaRPr>
          </a:p>
          <a:p>
            <a:endParaRPr lang="en-IN" dirty="0">
              <a:solidFill>
                <a:schemeClr val="accent6"/>
              </a:solidFill>
            </a:endParaRPr>
          </a:p>
        </p:txBody>
      </p:sp>
      <p:sp>
        <p:nvSpPr>
          <p:cNvPr id="12" name="TextBox 11">
            <a:extLst>
              <a:ext uri="{FF2B5EF4-FFF2-40B4-BE49-F238E27FC236}">
                <a16:creationId xmlns:a16="http://schemas.microsoft.com/office/drawing/2014/main" id="{4615226D-B3A0-F900-D653-57AC5AF19390}"/>
              </a:ext>
            </a:extLst>
          </p:cNvPr>
          <p:cNvSpPr txBox="1"/>
          <p:nvPr/>
        </p:nvSpPr>
        <p:spPr>
          <a:xfrm>
            <a:off x="7078836" y="5233834"/>
            <a:ext cx="4828461" cy="1477328"/>
          </a:xfrm>
          <a:prstGeom prst="rect">
            <a:avLst/>
          </a:prstGeom>
          <a:noFill/>
        </p:spPr>
        <p:txBody>
          <a:bodyPr wrap="square" rtlCol="0">
            <a:spAutoFit/>
          </a:bodyPr>
          <a:lstStyle/>
          <a:p>
            <a:pPr>
              <a:buFont typeface="Wingdings 3" panose="05040102010807070707" pitchFamily="18" charset="2"/>
              <a:buChar char="Ê"/>
            </a:pPr>
            <a:r>
              <a:rPr lang="en-IN" sz="1800" b="1" dirty="0">
                <a:solidFill>
                  <a:schemeClr val="accent6"/>
                </a:solidFill>
              </a:rPr>
              <a:t>  Expected Impact</a:t>
            </a:r>
          </a:p>
          <a:p>
            <a:pPr marL="285750" indent="-285750">
              <a:buFont typeface="Arial" panose="020B0604020202020204" pitchFamily="34" charset="0"/>
              <a:buChar char="•"/>
            </a:pPr>
            <a:r>
              <a:rPr lang="en-US" sz="1800" dirty="0">
                <a:solidFill>
                  <a:schemeClr val="accent6"/>
                </a:solidFill>
              </a:rPr>
              <a:t>Safer roads &amp; reduced accident rates.</a:t>
            </a:r>
          </a:p>
          <a:p>
            <a:pPr marL="285750" indent="-285750">
              <a:buFont typeface="Arial" panose="020B0604020202020204" pitchFamily="34" charset="0"/>
              <a:buChar char="•"/>
            </a:pPr>
            <a:r>
              <a:rPr lang="en-IN" sz="1800" dirty="0">
                <a:solidFill>
                  <a:schemeClr val="accent6"/>
                </a:solidFill>
              </a:rPr>
              <a:t>Healthier environment &amp; lower emissions.</a:t>
            </a:r>
          </a:p>
          <a:p>
            <a:pPr marL="285750" indent="-285750">
              <a:buFont typeface="Arial" panose="020B0604020202020204" pitchFamily="34" charset="0"/>
              <a:buChar char="•"/>
            </a:pPr>
            <a:r>
              <a:rPr lang="en-US" sz="1800" dirty="0">
                <a:solidFill>
                  <a:schemeClr val="accent6"/>
                </a:solidFill>
              </a:rPr>
              <a:t>Enhanced quality of urban life.</a:t>
            </a:r>
            <a:endParaRPr lang="en-US" b="1" dirty="0">
              <a:solidFill>
                <a:schemeClr val="accent6"/>
              </a:solidFill>
            </a:endParaRPr>
          </a:p>
          <a:p>
            <a:endParaRPr lang="en-IN" dirty="0">
              <a:solidFill>
                <a:schemeClr val="accent6"/>
              </a:solidFill>
            </a:endParaRPr>
          </a:p>
        </p:txBody>
      </p:sp>
    </p:spTree>
    <p:extLst>
      <p:ext uri="{BB962C8B-B14F-4D97-AF65-F5344CB8AC3E}">
        <p14:creationId xmlns:p14="http://schemas.microsoft.com/office/powerpoint/2010/main" val="39699961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8D62608-F5E4-7EC0-5EF0-4F988DDDEC5B}"/>
              </a:ext>
            </a:extLst>
          </p:cNvPr>
          <p:cNvSpPr>
            <a:spLocks noGrp="1"/>
          </p:cNvSpPr>
          <p:nvPr>
            <p:ph type="title"/>
          </p:nvPr>
        </p:nvSpPr>
        <p:spPr>
          <a:xfrm>
            <a:off x="1550563" y="714686"/>
            <a:ext cx="9875463" cy="999746"/>
          </a:xfrm>
        </p:spPr>
        <p:txBody>
          <a:bodyPr/>
          <a:lstStyle/>
          <a:p>
            <a:r>
              <a:rPr lang="en-IN" dirty="0"/>
              <a:t>Expected Outcomes &amp; Benefits</a:t>
            </a:r>
            <a:endParaRPr lang="en-US" dirty="0"/>
          </a:p>
        </p:txBody>
      </p:sp>
      <p:sp>
        <p:nvSpPr>
          <p:cNvPr id="12" name="Content Placeholder 3">
            <a:extLst>
              <a:ext uri="{FF2B5EF4-FFF2-40B4-BE49-F238E27FC236}">
                <a16:creationId xmlns:a16="http://schemas.microsoft.com/office/drawing/2014/main" id="{288BD9B8-D6A6-D55A-830D-4D3CC2DC3933}"/>
              </a:ext>
            </a:extLst>
          </p:cNvPr>
          <p:cNvSpPr>
            <a:spLocks noGrp="1"/>
          </p:cNvSpPr>
          <p:nvPr>
            <p:ph sz="half" idx="2"/>
          </p:nvPr>
        </p:nvSpPr>
        <p:spPr>
          <a:xfrm>
            <a:off x="1550564" y="2303028"/>
            <a:ext cx="5829147" cy="3961593"/>
          </a:xfrm>
        </p:spPr>
        <p:txBody>
          <a:bodyPr>
            <a:normAutofit/>
          </a:bodyPr>
          <a:lstStyle/>
          <a:p>
            <a:pPr lvl="1"/>
            <a:r>
              <a:rPr lang="en-IN" sz="2000" b="1" dirty="0"/>
              <a:t>Traffic Flow Improvements</a:t>
            </a:r>
          </a:p>
          <a:p>
            <a:pPr lvl="1"/>
            <a:endParaRPr lang="en-IN" sz="2000" dirty="0"/>
          </a:p>
          <a:p>
            <a:pPr lvl="1"/>
            <a:r>
              <a:rPr lang="en-IN" sz="2000" b="1" dirty="0"/>
              <a:t>Road Safety Enhancements</a:t>
            </a:r>
          </a:p>
          <a:p>
            <a:pPr lvl="1"/>
            <a:endParaRPr lang="en-IN" sz="2000" dirty="0"/>
          </a:p>
          <a:p>
            <a:pPr lvl="1"/>
            <a:r>
              <a:rPr lang="en-IN" sz="2000" b="1" dirty="0"/>
              <a:t>Public Transport Utilization Growth</a:t>
            </a:r>
          </a:p>
          <a:p>
            <a:pPr lvl="1"/>
            <a:endParaRPr lang="en-IN" sz="2000" dirty="0"/>
          </a:p>
          <a:p>
            <a:pPr lvl="1"/>
            <a:r>
              <a:rPr lang="en-IN" sz="2000" b="1" dirty="0"/>
              <a:t>Environmental &amp; Health Benefits</a:t>
            </a:r>
          </a:p>
          <a:p>
            <a:pPr lvl="1"/>
            <a:endParaRPr lang="en-IN" sz="2000" dirty="0"/>
          </a:p>
          <a:p>
            <a:pPr lvl="1"/>
            <a:r>
              <a:rPr lang="en-IN" sz="2000" b="1" dirty="0"/>
              <a:t>Economic &amp; Social Impact</a:t>
            </a:r>
            <a:endParaRPr lang="en-IN" sz="2000" dirty="0"/>
          </a:p>
        </p:txBody>
      </p:sp>
      <p:sp>
        <p:nvSpPr>
          <p:cNvPr id="2" name="Slide Number Placeholder 1">
            <a:extLst>
              <a:ext uri="{FF2B5EF4-FFF2-40B4-BE49-F238E27FC236}">
                <a16:creationId xmlns:a16="http://schemas.microsoft.com/office/drawing/2014/main" id="{1DCFAD14-1AAA-8CDA-A49B-523FD6C66F35}"/>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21</a:t>
            </a:fld>
            <a:endParaRPr lang="en-US" dirty="0"/>
          </a:p>
        </p:txBody>
      </p:sp>
    </p:spTree>
    <p:extLst>
      <p:ext uri="{BB962C8B-B14F-4D97-AF65-F5344CB8AC3E}">
        <p14:creationId xmlns:p14="http://schemas.microsoft.com/office/powerpoint/2010/main" val="24980216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0A324-0737-F0DA-1F7D-10CBE06D7C3F}"/>
              </a:ext>
            </a:extLst>
          </p:cNvPr>
          <p:cNvSpPr>
            <a:spLocks noGrp="1"/>
          </p:cNvSpPr>
          <p:nvPr>
            <p:ph type="title"/>
          </p:nvPr>
        </p:nvSpPr>
        <p:spPr>
          <a:xfrm>
            <a:off x="914400" y="786582"/>
            <a:ext cx="10511627" cy="1406012"/>
          </a:xfrm>
        </p:spPr>
        <p:txBody>
          <a:bodyPr/>
          <a:lstStyle/>
          <a:p>
            <a:r>
              <a:rPr lang="en-IN" b="1" dirty="0"/>
              <a:t>Conclusion &amp; Recommendations</a:t>
            </a:r>
            <a:br>
              <a:rPr lang="en-IN" dirty="0"/>
            </a:br>
            <a:endParaRPr lang="en-US" dirty="0"/>
          </a:p>
        </p:txBody>
      </p:sp>
      <p:sp>
        <p:nvSpPr>
          <p:cNvPr id="3" name="Slide Number Placeholder 2">
            <a:extLst>
              <a:ext uri="{FF2B5EF4-FFF2-40B4-BE49-F238E27FC236}">
                <a16:creationId xmlns:a16="http://schemas.microsoft.com/office/drawing/2014/main" id="{AC21286A-7B29-3B58-1636-0F45723890AB}"/>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22</a:t>
            </a:fld>
            <a:endParaRPr lang="en-US" dirty="0"/>
          </a:p>
        </p:txBody>
      </p:sp>
      <p:sp>
        <p:nvSpPr>
          <p:cNvPr id="6" name="Content Placeholder 5">
            <a:extLst>
              <a:ext uri="{FF2B5EF4-FFF2-40B4-BE49-F238E27FC236}">
                <a16:creationId xmlns:a16="http://schemas.microsoft.com/office/drawing/2014/main" id="{53872E68-8AE7-AE68-13F7-95DA0BB96AF5}"/>
              </a:ext>
            </a:extLst>
          </p:cNvPr>
          <p:cNvSpPr>
            <a:spLocks noGrp="1"/>
          </p:cNvSpPr>
          <p:nvPr>
            <p:ph sz="quarter" idx="4"/>
          </p:nvPr>
        </p:nvSpPr>
        <p:spPr>
          <a:xfrm>
            <a:off x="840186" y="1932609"/>
            <a:ext cx="10511627" cy="4792656"/>
          </a:xfrm>
        </p:spPr>
        <p:txBody>
          <a:bodyPr>
            <a:normAutofit fontScale="92500" lnSpcReduction="10000"/>
          </a:bodyPr>
          <a:lstStyle/>
          <a:p>
            <a:pPr>
              <a:buFont typeface="Wingdings 3" panose="05040102010807070707" pitchFamily="18" charset="2"/>
              <a:buChar char="Ê"/>
            </a:pPr>
            <a:r>
              <a:rPr lang="en-IN" b="1" dirty="0"/>
              <a:t>Conclusion:</a:t>
            </a:r>
            <a:endParaRPr lang="en-IN" dirty="0"/>
          </a:p>
          <a:p>
            <a:r>
              <a:rPr lang="en-US" dirty="0"/>
              <a:t>The study highlights the pressing need for </a:t>
            </a:r>
            <a:r>
              <a:rPr lang="en-US" b="1" dirty="0"/>
              <a:t>traffic management interventions</a:t>
            </a:r>
            <a:r>
              <a:rPr lang="en-US" dirty="0"/>
              <a:t> on S.G. Highway.</a:t>
            </a:r>
          </a:p>
          <a:p>
            <a:r>
              <a:rPr lang="en-US" b="1" dirty="0"/>
              <a:t>Congestion, accidents, and pollution</a:t>
            </a:r>
            <a:r>
              <a:rPr lang="en-US" dirty="0"/>
              <a:t> remain critical challenges requiring immediate action.</a:t>
            </a:r>
          </a:p>
          <a:p>
            <a:r>
              <a:rPr lang="en-US" dirty="0"/>
              <a:t>Integrating </a:t>
            </a:r>
            <a:r>
              <a:rPr lang="en-US" b="1" dirty="0"/>
              <a:t>technology-driven solutions</a:t>
            </a:r>
            <a:r>
              <a:rPr lang="en-US" dirty="0"/>
              <a:t> can significantly enhance urban mobility and safety.</a:t>
            </a:r>
          </a:p>
          <a:p>
            <a:pPr>
              <a:lnSpc>
                <a:spcPct val="110000"/>
              </a:lnSpc>
            </a:pPr>
            <a:endParaRPr lang="en-IN" sz="1100" dirty="0"/>
          </a:p>
          <a:p>
            <a:pPr>
              <a:buFont typeface="Wingdings 3" panose="05040102010807070707" pitchFamily="18" charset="2"/>
              <a:buChar char="Ê"/>
            </a:pPr>
            <a:r>
              <a:rPr lang="en-IN" b="1" dirty="0"/>
              <a:t>Recommendations:</a:t>
            </a:r>
            <a:endParaRPr lang="en-IN" dirty="0"/>
          </a:p>
          <a:p>
            <a:pPr marL="0" indent="0">
              <a:buNone/>
            </a:pPr>
            <a:r>
              <a:rPr lang="en-US" dirty="0">
                <a:latin typeface="Sabon Next LT (Body)"/>
              </a:rPr>
              <a:t>✅ </a:t>
            </a:r>
            <a:r>
              <a:rPr lang="en-US" sz="1800" b="1" dirty="0">
                <a:effectLst/>
                <a:latin typeface="Sabon Next LT (Body)"/>
                <a:ea typeface="Times New Roman" panose="02020603050405020304" pitchFamily="18" charset="0"/>
              </a:rPr>
              <a:t>Improve intersection design</a:t>
            </a:r>
          </a:p>
          <a:p>
            <a:pPr marL="0" indent="0">
              <a:buNone/>
            </a:pPr>
            <a:r>
              <a:rPr lang="en-US" dirty="0">
                <a:latin typeface="Sabon Next LT (Body)"/>
              </a:rPr>
              <a:t>✅ </a:t>
            </a:r>
            <a:r>
              <a:rPr lang="en-US" sz="1800" b="1" dirty="0">
                <a:effectLst/>
                <a:latin typeface="Sabon Next LT (Body)"/>
                <a:ea typeface="Times New Roman" panose="02020603050405020304" pitchFamily="18" charset="0"/>
              </a:rPr>
              <a:t>Enhance safety measures at black spots </a:t>
            </a:r>
          </a:p>
          <a:p>
            <a:pPr marL="0" indent="0">
              <a:buNone/>
            </a:pPr>
            <a:r>
              <a:rPr lang="en-US" dirty="0">
                <a:latin typeface="Sabon Next LT (Body)"/>
              </a:rPr>
              <a:t>✅ </a:t>
            </a:r>
            <a:r>
              <a:rPr lang="en-US" sz="1800" b="1" dirty="0">
                <a:effectLst/>
                <a:latin typeface="Sabon Next LT (Body)"/>
                <a:ea typeface="Times New Roman" panose="02020603050405020304" pitchFamily="18" charset="0"/>
              </a:rPr>
              <a:t>Enforce traffic rules</a:t>
            </a:r>
            <a:r>
              <a:rPr lang="en-US" dirty="0">
                <a:latin typeface="Sabon Next LT (Body)"/>
              </a:rPr>
              <a:t>.</a:t>
            </a:r>
          </a:p>
          <a:p>
            <a:pPr marL="0" indent="0">
              <a:buNone/>
            </a:pPr>
            <a:r>
              <a:rPr lang="en-US" dirty="0">
                <a:latin typeface="Sabon Next LT (Body)"/>
              </a:rPr>
              <a:t>✅ </a:t>
            </a:r>
            <a:r>
              <a:rPr lang="en-US" sz="1800" b="1" dirty="0">
                <a:effectLst/>
                <a:latin typeface="Sabon Next LT (Body)"/>
                <a:ea typeface="Times New Roman" panose="02020603050405020304" pitchFamily="18" charset="0"/>
              </a:rPr>
              <a:t>Public awareness campaigns</a:t>
            </a:r>
          </a:p>
          <a:p>
            <a:endParaRPr lang="en-US" b="1" dirty="0">
              <a:latin typeface="Times New Roman" panose="02020603050405020304" pitchFamily="18" charset="0"/>
            </a:endParaRPr>
          </a:p>
          <a:p>
            <a:pPr>
              <a:buFont typeface="Wingdings 3" panose="05040102010807070707" pitchFamily="18" charset="2"/>
              <a:buChar char="Ê"/>
            </a:pPr>
            <a:r>
              <a:rPr lang="en-US" b="1" dirty="0"/>
              <a:t>Final Thought:</a:t>
            </a:r>
            <a:r>
              <a:rPr lang="en-US" dirty="0"/>
              <a:t> By adopting these strategies, </a:t>
            </a:r>
            <a:r>
              <a:rPr lang="en-US" b="1" dirty="0"/>
              <a:t>S.G. Highway can evolve into a well-managed, efficient, and eco-friendly transportation corridor</a:t>
            </a:r>
            <a:r>
              <a:rPr lang="en-US" dirty="0"/>
              <a:t>, improving the overall urban experience for commuters and residents alike.</a:t>
            </a:r>
          </a:p>
          <a:p>
            <a:endParaRPr lang="en-US" dirty="0"/>
          </a:p>
          <a:p>
            <a:endParaRPr lang="en-IN" dirty="0"/>
          </a:p>
        </p:txBody>
      </p:sp>
    </p:spTree>
    <p:extLst>
      <p:ext uri="{BB962C8B-B14F-4D97-AF65-F5344CB8AC3E}">
        <p14:creationId xmlns:p14="http://schemas.microsoft.com/office/powerpoint/2010/main" val="16862132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80598-6FE3-8E3B-8817-54A616392A32}"/>
              </a:ext>
            </a:extLst>
          </p:cNvPr>
          <p:cNvSpPr>
            <a:spLocks noGrp="1"/>
          </p:cNvSpPr>
          <p:nvPr>
            <p:ph type="title"/>
          </p:nvPr>
        </p:nvSpPr>
        <p:spPr>
          <a:xfrm>
            <a:off x="640965" y="239907"/>
            <a:ext cx="10671048" cy="1362057"/>
          </a:xfrm>
        </p:spPr>
        <p:txBody>
          <a:bodyPr/>
          <a:lstStyle/>
          <a:p>
            <a:r>
              <a:rPr lang="en-IN" dirty="0"/>
              <a:t>References</a:t>
            </a:r>
          </a:p>
        </p:txBody>
      </p:sp>
      <p:sp>
        <p:nvSpPr>
          <p:cNvPr id="3" name="Slide Number Placeholder 2">
            <a:extLst>
              <a:ext uri="{FF2B5EF4-FFF2-40B4-BE49-F238E27FC236}">
                <a16:creationId xmlns:a16="http://schemas.microsoft.com/office/drawing/2014/main" id="{E5C61879-CEE1-B7D9-A95A-5CA366BAC734}"/>
              </a:ext>
            </a:extLst>
          </p:cNvPr>
          <p:cNvSpPr>
            <a:spLocks noGrp="1"/>
          </p:cNvSpPr>
          <p:nvPr>
            <p:ph type="sldNum" sz="quarter" idx="12"/>
          </p:nvPr>
        </p:nvSpPr>
        <p:spPr/>
        <p:txBody>
          <a:bodyPr/>
          <a:lstStyle/>
          <a:p>
            <a:fld id="{48F63A3B-78C7-47BE-AE5E-E10140E04643}" type="slidenum">
              <a:rPr lang="en-US" smtClean="0"/>
              <a:pPr/>
              <a:t>23</a:t>
            </a:fld>
            <a:endParaRPr lang="en-US" dirty="0"/>
          </a:p>
        </p:txBody>
      </p:sp>
      <p:sp>
        <p:nvSpPr>
          <p:cNvPr id="4" name="TextBox 3">
            <a:extLst>
              <a:ext uri="{FF2B5EF4-FFF2-40B4-BE49-F238E27FC236}">
                <a16:creationId xmlns:a16="http://schemas.microsoft.com/office/drawing/2014/main" id="{96033BA4-9630-8AFB-4ACA-49EF8AE6241C}"/>
              </a:ext>
            </a:extLst>
          </p:cNvPr>
          <p:cNvSpPr txBox="1"/>
          <p:nvPr/>
        </p:nvSpPr>
        <p:spPr>
          <a:xfrm>
            <a:off x="1497895" y="1078115"/>
            <a:ext cx="8957187" cy="5940088"/>
          </a:xfrm>
          <a:prstGeom prst="rect">
            <a:avLst/>
          </a:prstGeom>
          <a:noFill/>
        </p:spPr>
        <p:txBody>
          <a:bodyPr wrap="square" rtlCol="0">
            <a:spAutoFit/>
          </a:bodyPr>
          <a:lstStyle/>
          <a:p>
            <a:endParaRPr lang="en-IN" sz="2800" dirty="0">
              <a:solidFill>
                <a:schemeClr val="accent6"/>
              </a:solidFill>
              <a:latin typeface="Sabon Next LT (Body)"/>
            </a:endParaRPr>
          </a:p>
          <a:p>
            <a:pPr marL="342900" indent="-342900">
              <a:buFont typeface="Wingdings 3" panose="05040102010807070707" pitchFamily="18" charset="2"/>
              <a:buChar char="Ê"/>
            </a:pPr>
            <a:r>
              <a:rPr lang="en-IN" sz="2400" dirty="0">
                <a:solidFill>
                  <a:schemeClr val="accent6"/>
                </a:solidFill>
                <a:latin typeface="Sabon Next LT (Body)"/>
              </a:rPr>
              <a:t> </a:t>
            </a:r>
            <a:r>
              <a:rPr lang="en-IN" sz="2000" b="1" dirty="0">
                <a:solidFill>
                  <a:schemeClr val="accent6"/>
                </a:solidFill>
                <a:latin typeface="Sabon Next LT (Body)"/>
              </a:rPr>
              <a:t>Research Paper:</a:t>
            </a:r>
          </a:p>
          <a:p>
            <a:pPr marL="285750" indent="-285750">
              <a:lnSpc>
                <a:spcPct val="150000"/>
              </a:lnSpc>
              <a:buFont typeface="Arial" panose="020B0604020202020204" pitchFamily="34" charset="0"/>
              <a:buChar char="•"/>
            </a:pPr>
            <a:r>
              <a:rPr lang="en-US" sz="2000" dirty="0">
                <a:solidFill>
                  <a:schemeClr val="accent6"/>
                </a:solidFill>
                <a:effectLst/>
                <a:latin typeface="Sabon Next LT (Body)"/>
                <a:ea typeface="Times New Roman" panose="02020603050405020304" pitchFamily="18" charset="0"/>
              </a:rPr>
              <a:t>Traffic Management Systems</a:t>
            </a:r>
            <a:r>
              <a:rPr lang="en-IN" sz="2000" dirty="0">
                <a:solidFill>
                  <a:schemeClr val="accent6"/>
                </a:solidFill>
                <a:effectLst/>
                <a:latin typeface="Sabon Next LT (Body)"/>
                <a:ea typeface="Times New Roman" panose="02020603050405020304" pitchFamily="18" charset="0"/>
              </a:rPr>
              <a:t> - </a:t>
            </a:r>
            <a:r>
              <a:rPr lang="en-US" sz="2000" dirty="0">
                <a:solidFill>
                  <a:schemeClr val="accent6"/>
                </a:solidFill>
                <a:effectLst/>
                <a:latin typeface="Sabon Next LT (Body)"/>
                <a:ea typeface="Times New Roman" panose="02020603050405020304" pitchFamily="18" charset="0"/>
              </a:rPr>
              <a:t>A Review" by S. S. Iyer et al. (2018)</a:t>
            </a:r>
          </a:p>
          <a:p>
            <a:pPr marL="285750" indent="-285750">
              <a:buFont typeface="Arial" panose="020B0604020202020204" pitchFamily="34" charset="0"/>
              <a:buChar char="•"/>
            </a:pPr>
            <a:r>
              <a:rPr lang="en-US" sz="2000" dirty="0">
                <a:solidFill>
                  <a:schemeClr val="accent6"/>
                </a:solidFill>
                <a:effectLst/>
                <a:latin typeface="Sabon Next LT (Body)"/>
                <a:ea typeface="Times New Roman" panose="02020603050405020304" pitchFamily="18" charset="0"/>
              </a:rPr>
              <a:t>Intelligent Traffic Management System Using IoT and Big Data Analytics</a:t>
            </a:r>
            <a:r>
              <a:rPr lang="en-US" sz="2000" dirty="0">
                <a:solidFill>
                  <a:schemeClr val="accent6"/>
                </a:solidFill>
                <a:latin typeface="Sabon Next LT (Body)"/>
                <a:ea typeface="Times New Roman" panose="02020603050405020304" pitchFamily="18" charset="0"/>
              </a:rPr>
              <a:t> - </a:t>
            </a:r>
            <a:r>
              <a:rPr lang="en-US" sz="2000" dirty="0">
                <a:solidFill>
                  <a:schemeClr val="accent6"/>
                </a:solidFill>
                <a:effectLst/>
                <a:latin typeface="Sabon Next LT (Body)"/>
                <a:ea typeface="Times New Roman" panose="02020603050405020304" pitchFamily="18" charset="0"/>
              </a:rPr>
              <a:t>A. K. Singh et al. (2020)</a:t>
            </a:r>
          </a:p>
          <a:p>
            <a:pPr marL="285750" indent="-285750">
              <a:buFont typeface="Arial" panose="020B0604020202020204" pitchFamily="34" charset="0"/>
              <a:buChar char="•"/>
            </a:pPr>
            <a:r>
              <a:rPr lang="en-US" sz="2000" dirty="0">
                <a:solidFill>
                  <a:schemeClr val="accent6"/>
                </a:solidFill>
                <a:effectLst/>
                <a:latin typeface="Sabon Next LT (Body)"/>
                <a:ea typeface="Times New Roman" panose="02020603050405020304" pitchFamily="18" charset="0"/>
              </a:rPr>
              <a:t>Traffic Congestion Mitigation Using Real-Time Traffic Signal Control</a:t>
            </a:r>
            <a:r>
              <a:rPr lang="en-US" sz="2000" dirty="0">
                <a:solidFill>
                  <a:schemeClr val="accent6"/>
                </a:solidFill>
                <a:latin typeface="Sabon Next LT (Body)"/>
                <a:ea typeface="Times New Roman" panose="02020603050405020304" pitchFamily="18" charset="0"/>
              </a:rPr>
              <a:t> - </a:t>
            </a:r>
            <a:r>
              <a:rPr lang="en-US" sz="2000" dirty="0">
                <a:solidFill>
                  <a:schemeClr val="accent6"/>
                </a:solidFill>
                <a:effectLst/>
                <a:latin typeface="Sabon Next LT (Body)"/>
                <a:ea typeface="Times New Roman" panose="02020603050405020304" pitchFamily="18" charset="0"/>
              </a:rPr>
              <a:t>Y. Zhang et al. (2019)</a:t>
            </a:r>
          </a:p>
          <a:p>
            <a:pPr marL="285750" indent="-285750">
              <a:buFont typeface="Arial" panose="020B0604020202020204" pitchFamily="34" charset="0"/>
              <a:buChar char="•"/>
            </a:pPr>
            <a:endParaRPr lang="en-US" sz="2000" dirty="0">
              <a:solidFill>
                <a:schemeClr val="accent6"/>
              </a:solidFill>
              <a:effectLst/>
              <a:latin typeface="Sabon Next LT (Body)"/>
              <a:ea typeface="Times New Roman" panose="02020603050405020304" pitchFamily="18" charset="0"/>
            </a:endParaRPr>
          </a:p>
          <a:p>
            <a:pPr marL="342900" indent="-342900">
              <a:buFont typeface="Wingdings 3" panose="05040102010807070707" pitchFamily="18" charset="2"/>
              <a:buChar char="Ê"/>
            </a:pPr>
            <a:r>
              <a:rPr lang="en-US" sz="2000" b="1" dirty="0">
                <a:solidFill>
                  <a:schemeClr val="accent6"/>
                </a:solidFill>
                <a:effectLst/>
                <a:latin typeface="Sabon Next LT (Body)"/>
                <a:ea typeface="Times New Roman" panose="02020603050405020304" pitchFamily="18" charset="0"/>
              </a:rPr>
              <a:t>Books:</a:t>
            </a:r>
          </a:p>
          <a:p>
            <a:pPr marL="285750" indent="-285750">
              <a:lnSpc>
                <a:spcPct val="150000"/>
              </a:lnSpc>
              <a:buFont typeface="Arial" panose="020B0604020202020204" pitchFamily="34" charset="0"/>
              <a:buChar char="•"/>
            </a:pPr>
            <a:r>
              <a:rPr lang="en-US" sz="2000" dirty="0">
                <a:solidFill>
                  <a:schemeClr val="accent6"/>
                </a:solidFill>
                <a:effectLst/>
                <a:ea typeface="Times New Roman" panose="02020603050405020304" pitchFamily="18" charset="0"/>
              </a:rPr>
              <a:t>Traffic Management and Traffic Engineering" by Michael D. Meyer (2018)</a:t>
            </a:r>
          </a:p>
          <a:p>
            <a:pPr marL="285750" indent="-285750">
              <a:buFont typeface="Arial" panose="020B0604020202020204" pitchFamily="34" charset="0"/>
              <a:buChar char="•"/>
            </a:pPr>
            <a:r>
              <a:rPr lang="en-US" sz="2000" dirty="0">
                <a:solidFill>
                  <a:schemeClr val="accent6"/>
                </a:solidFill>
                <a:effectLst/>
                <a:ea typeface="Times New Roman" panose="02020603050405020304" pitchFamily="18" charset="0"/>
              </a:rPr>
              <a:t>Intelligent Transportation Systems: Smart and Green Infrastructure Design" by Lei Zhang (2020)</a:t>
            </a:r>
            <a:endParaRPr lang="en-US" sz="2000" dirty="0">
              <a:solidFill>
                <a:schemeClr val="accent6"/>
              </a:solidFill>
              <a:ea typeface="Times New Roman" panose="02020603050405020304" pitchFamily="18" charset="0"/>
            </a:endParaRPr>
          </a:p>
          <a:p>
            <a:pPr marL="285750" indent="-285750">
              <a:buFont typeface="Arial" panose="020B0604020202020204" pitchFamily="34" charset="0"/>
              <a:buChar char="•"/>
            </a:pPr>
            <a:r>
              <a:rPr lang="en-US" sz="2000" dirty="0">
                <a:solidFill>
                  <a:schemeClr val="accent6"/>
                </a:solidFill>
                <a:effectLst/>
                <a:ea typeface="Times New Roman" panose="02020603050405020304" pitchFamily="18" charset="0"/>
              </a:rPr>
              <a:t>Traffic Flow Theory: Characteristics, Modeling, and Simulation" by R. </a:t>
            </a:r>
            <a:r>
              <a:rPr lang="en-US" sz="2000" dirty="0" err="1">
                <a:solidFill>
                  <a:schemeClr val="accent6"/>
                </a:solidFill>
                <a:effectLst/>
                <a:ea typeface="Times New Roman" panose="02020603050405020304" pitchFamily="18" charset="0"/>
              </a:rPr>
              <a:t>Akçelik</a:t>
            </a:r>
            <a:r>
              <a:rPr lang="en-US" sz="2000" dirty="0">
                <a:solidFill>
                  <a:schemeClr val="accent6"/>
                </a:solidFill>
                <a:effectLst/>
                <a:ea typeface="Times New Roman" panose="02020603050405020304" pitchFamily="18" charset="0"/>
              </a:rPr>
              <a:t> (2017)</a:t>
            </a:r>
            <a:endParaRPr lang="en-IN" sz="2000" b="1" dirty="0">
              <a:solidFill>
                <a:schemeClr val="accent6"/>
              </a:solidFill>
              <a:effectLst/>
              <a:ea typeface="Times New Roman" panose="02020603050405020304" pitchFamily="18" charset="0"/>
            </a:endParaRPr>
          </a:p>
          <a:p>
            <a:pPr marL="285750" indent="-285750">
              <a:buFont typeface="Arial" panose="020B0604020202020204" pitchFamily="34" charset="0"/>
              <a:buChar char="•"/>
            </a:pPr>
            <a:endParaRPr lang="en-US" sz="2000" dirty="0">
              <a:solidFill>
                <a:schemeClr val="accent6"/>
              </a:solidFill>
              <a:effectLst/>
              <a:ea typeface="Times New Roman" panose="02020603050405020304" pitchFamily="18" charset="0"/>
            </a:endParaRPr>
          </a:p>
          <a:p>
            <a:pPr marL="285750" indent="-285750">
              <a:buFont typeface="Arial" panose="020B0604020202020204" pitchFamily="34" charset="0"/>
              <a:buChar char="•"/>
            </a:pPr>
            <a:r>
              <a:rPr lang="en-US" sz="2000" b="1" dirty="0">
                <a:solidFill>
                  <a:schemeClr val="accent6"/>
                </a:solidFill>
                <a:effectLst/>
                <a:ea typeface="Times New Roman" panose="02020603050405020304" pitchFamily="18" charset="0"/>
              </a:rPr>
              <a:t>Online sources</a:t>
            </a:r>
            <a:r>
              <a:rPr lang="en-US" sz="2000" b="1" dirty="0">
                <a:solidFill>
                  <a:schemeClr val="accent6"/>
                </a:solidFill>
                <a:ea typeface="Times New Roman" panose="02020603050405020304" pitchFamily="18" charset="0"/>
              </a:rPr>
              <a:t> &amp; </a:t>
            </a:r>
            <a:r>
              <a:rPr lang="en-US" sz="2000" b="1" dirty="0">
                <a:solidFill>
                  <a:schemeClr val="accent6"/>
                </a:solidFill>
                <a:effectLst/>
                <a:ea typeface="Times New Roman" panose="02020603050405020304" pitchFamily="18" charset="0"/>
              </a:rPr>
              <a:t>Conferences</a:t>
            </a:r>
            <a:endParaRPr lang="en-US" sz="2000" dirty="0">
              <a:solidFill>
                <a:schemeClr val="accent6"/>
              </a:solidFill>
              <a:effectLst/>
              <a:ea typeface="Times New Roman" panose="02020603050405020304" pitchFamily="18" charset="0"/>
            </a:endParaRPr>
          </a:p>
          <a:p>
            <a:r>
              <a:rPr lang="en-IN" sz="2000" dirty="0">
                <a:solidFill>
                  <a:schemeClr val="accent6"/>
                </a:solidFill>
              </a:rPr>
              <a:t>   </a:t>
            </a:r>
          </a:p>
        </p:txBody>
      </p:sp>
    </p:spTree>
    <p:extLst>
      <p:ext uri="{BB962C8B-B14F-4D97-AF65-F5344CB8AC3E}">
        <p14:creationId xmlns:p14="http://schemas.microsoft.com/office/powerpoint/2010/main" val="32265080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66106-754E-C559-D54B-0BEA501D877B}"/>
              </a:ext>
            </a:extLst>
          </p:cNvPr>
          <p:cNvSpPr>
            <a:spLocks noGrp="1"/>
          </p:cNvSpPr>
          <p:nvPr>
            <p:ph type="title"/>
          </p:nvPr>
        </p:nvSpPr>
        <p:spPr>
          <a:xfrm>
            <a:off x="562307" y="328398"/>
            <a:ext cx="10671048" cy="1362057"/>
          </a:xfrm>
        </p:spPr>
        <p:txBody>
          <a:bodyPr/>
          <a:lstStyle/>
          <a:p>
            <a:r>
              <a:rPr lang="en-IN" dirty="0"/>
              <a:t>Acknowledgments</a:t>
            </a:r>
          </a:p>
        </p:txBody>
      </p:sp>
      <p:sp>
        <p:nvSpPr>
          <p:cNvPr id="3" name="Slide Number Placeholder 2">
            <a:extLst>
              <a:ext uri="{FF2B5EF4-FFF2-40B4-BE49-F238E27FC236}">
                <a16:creationId xmlns:a16="http://schemas.microsoft.com/office/drawing/2014/main" id="{53441087-47FB-7DEA-5186-5D82A17FE2C0}"/>
              </a:ext>
            </a:extLst>
          </p:cNvPr>
          <p:cNvSpPr>
            <a:spLocks noGrp="1"/>
          </p:cNvSpPr>
          <p:nvPr>
            <p:ph type="sldNum" sz="quarter" idx="12"/>
          </p:nvPr>
        </p:nvSpPr>
        <p:spPr/>
        <p:txBody>
          <a:bodyPr/>
          <a:lstStyle/>
          <a:p>
            <a:fld id="{48F63A3B-78C7-47BE-AE5E-E10140E04643}" type="slidenum">
              <a:rPr lang="en-US" smtClean="0"/>
              <a:pPr/>
              <a:t>24</a:t>
            </a:fld>
            <a:endParaRPr lang="en-US" dirty="0"/>
          </a:p>
        </p:txBody>
      </p:sp>
      <p:sp>
        <p:nvSpPr>
          <p:cNvPr id="4" name="TextBox 3">
            <a:extLst>
              <a:ext uri="{FF2B5EF4-FFF2-40B4-BE49-F238E27FC236}">
                <a16:creationId xmlns:a16="http://schemas.microsoft.com/office/drawing/2014/main" id="{DE0E17A6-2448-B43D-6361-C8D4179D0AD6}"/>
              </a:ext>
            </a:extLst>
          </p:cNvPr>
          <p:cNvSpPr txBox="1"/>
          <p:nvPr/>
        </p:nvSpPr>
        <p:spPr>
          <a:xfrm>
            <a:off x="1758755" y="1855332"/>
            <a:ext cx="9212825" cy="3293209"/>
          </a:xfrm>
          <a:prstGeom prst="rect">
            <a:avLst/>
          </a:prstGeom>
          <a:noFill/>
        </p:spPr>
        <p:txBody>
          <a:bodyPr wrap="square" rtlCol="0">
            <a:spAutoFit/>
          </a:bodyPr>
          <a:lstStyle/>
          <a:p>
            <a:pPr marL="342900" indent="-342900">
              <a:lnSpc>
                <a:spcPct val="300000"/>
              </a:lnSpc>
              <a:buFont typeface="Wingdings" panose="05000000000000000000" pitchFamily="2" charset="2"/>
              <a:buChar char="v"/>
            </a:pPr>
            <a:r>
              <a:rPr lang="en-US" sz="2000" b="1" dirty="0">
                <a:solidFill>
                  <a:schemeClr val="accent6"/>
                </a:solidFill>
              </a:rPr>
              <a:t>We extend our gratitude to:</a:t>
            </a:r>
          </a:p>
          <a:p>
            <a:pPr marL="342900" indent="-342900">
              <a:lnSpc>
                <a:spcPct val="200000"/>
              </a:lnSpc>
              <a:buFont typeface="Wingdings" panose="05000000000000000000" pitchFamily="2" charset="2"/>
              <a:buChar char="v"/>
            </a:pPr>
            <a:r>
              <a:rPr lang="en-US" sz="2000" b="1" dirty="0">
                <a:solidFill>
                  <a:schemeClr val="accent6"/>
                </a:solidFill>
              </a:rPr>
              <a:t>H L College of Commerce (Autonomous)</a:t>
            </a:r>
            <a:r>
              <a:rPr lang="en-US" sz="2000" dirty="0">
                <a:solidFill>
                  <a:schemeClr val="accent6"/>
                </a:solidFill>
              </a:rPr>
              <a:t> – for academic support.</a:t>
            </a:r>
            <a:endParaRPr lang="en-US" sz="2000" b="1" dirty="0">
              <a:solidFill>
                <a:schemeClr val="accent6"/>
              </a:solidFill>
            </a:endParaRPr>
          </a:p>
          <a:p>
            <a:pPr marL="285750" indent="-285750">
              <a:lnSpc>
                <a:spcPct val="300000"/>
              </a:lnSpc>
              <a:buFont typeface="Wingdings" panose="05000000000000000000" pitchFamily="2" charset="2"/>
              <a:buChar char="v"/>
            </a:pPr>
            <a:r>
              <a:rPr lang="en-IN" b="1" dirty="0">
                <a:solidFill>
                  <a:schemeClr val="accent6"/>
                </a:solidFill>
              </a:rPr>
              <a:t>Dr. Parag Shah, Prof.P.M.Parmar &amp; Dr. Hiren Doshi  </a:t>
            </a:r>
            <a:r>
              <a:rPr lang="en-IN" dirty="0">
                <a:solidFill>
                  <a:schemeClr val="accent6"/>
                </a:solidFill>
              </a:rPr>
              <a:t>– for their valuable guidance.</a:t>
            </a:r>
          </a:p>
          <a:p>
            <a:pPr marL="285750" indent="-285750">
              <a:lnSpc>
                <a:spcPct val="300000"/>
              </a:lnSpc>
              <a:buFont typeface="Wingdings" panose="05000000000000000000" pitchFamily="2" charset="2"/>
              <a:buChar char="v"/>
            </a:pPr>
            <a:r>
              <a:rPr lang="en-IN" b="1" dirty="0">
                <a:solidFill>
                  <a:schemeClr val="accent6"/>
                </a:solidFill>
              </a:rPr>
              <a:t>Survey Participants &amp; Commuters</a:t>
            </a:r>
            <a:r>
              <a:rPr lang="en-IN" dirty="0">
                <a:solidFill>
                  <a:schemeClr val="accent6"/>
                </a:solidFill>
              </a:rPr>
              <a:t> – for their valuable responses</a:t>
            </a:r>
            <a:r>
              <a:rPr lang="en-IN" dirty="0"/>
              <a:t>.</a:t>
            </a:r>
          </a:p>
        </p:txBody>
      </p:sp>
    </p:spTree>
    <p:extLst>
      <p:ext uri="{BB962C8B-B14F-4D97-AF65-F5344CB8AC3E}">
        <p14:creationId xmlns:p14="http://schemas.microsoft.com/office/powerpoint/2010/main" val="14612697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D22C5-0C9E-B582-A8FE-B45E70A01E7F}"/>
              </a:ext>
            </a:extLst>
          </p:cNvPr>
          <p:cNvSpPr>
            <a:spLocks noGrp="1"/>
          </p:cNvSpPr>
          <p:nvPr>
            <p:ph type="ctrTitle"/>
          </p:nvPr>
        </p:nvSpPr>
        <p:spPr>
          <a:xfrm>
            <a:off x="914401" y="849782"/>
            <a:ext cx="5715000" cy="2727709"/>
          </a:xfrm>
        </p:spPr>
        <p:txBody>
          <a:bodyPr/>
          <a:lstStyle/>
          <a:p>
            <a:r>
              <a:rPr lang="en-US" dirty="0"/>
              <a:t>Thank </a:t>
            </a:r>
            <a:br>
              <a:rPr lang="en-US" dirty="0"/>
            </a:br>
            <a:r>
              <a:rPr lang="en-US" dirty="0"/>
              <a:t>you</a:t>
            </a:r>
          </a:p>
        </p:txBody>
      </p:sp>
      <p:sp>
        <p:nvSpPr>
          <p:cNvPr id="3" name="Subtitle 2">
            <a:extLst>
              <a:ext uri="{FF2B5EF4-FFF2-40B4-BE49-F238E27FC236}">
                <a16:creationId xmlns:a16="http://schemas.microsoft.com/office/drawing/2014/main" id="{D8B5CEF2-E667-BBB5-2EA6-C06F93B6DE12}"/>
              </a:ext>
            </a:extLst>
          </p:cNvPr>
          <p:cNvSpPr>
            <a:spLocks noGrp="1"/>
          </p:cNvSpPr>
          <p:nvPr>
            <p:ph type="subTitle" idx="1"/>
          </p:nvPr>
        </p:nvSpPr>
        <p:spPr>
          <a:xfrm>
            <a:off x="914401" y="3813606"/>
            <a:ext cx="6282812" cy="2234642"/>
          </a:xfrm>
        </p:spPr>
        <p:txBody>
          <a:bodyPr/>
          <a:lstStyle/>
          <a:p>
            <a:r>
              <a:rPr lang="en-US" sz="2000" b="1" dirty="0">
                <a:latin typeface="Sabon Next LT (Body)"/>
              </a:rPr>
              <a:t>Presented by</a:t>
            </a:r>
            <a:r>
              <a:rPr lang="en-US" sz="2000" dirty="0">
                <a:latin typeface="Sabon Next LT (Body)"/>
              </a:rPr>
              <a:t>: T.Y. B.COM </a:t>
            </a:r>
          </a:p>
          <a:p>
            <a:r>
              <a:rPr lang="en-US" sz="2000" dirty="0">
                <a:latin typeface="Sabon Next LT (Body)"/>
              </a:rPr>
              <a:t>H L College of Commerce (Autonomous)</a:t>
            </a:r>
          </a:p>
          <a:p>
            <a:r>
              <a:rPr lang="en-US" sz="2000" dirty="0">
                <a:latin typeface="Sabon Next LT (Body)"/>
              </a:rPr>
              <a:t>Thank You for Your Attention!</a:t>
            </a:r>
          </a:p>
          <a:p>
            <a:r>
              <a:rPr lang="en-US" sz="2000" dirty="0">
                <a:latin typeface="Sabon Next LT (Body)"/>
              </a:rPr>
              <a:t>Any Questions? Feel Free to Ask!</a:t>
            </a:r>
            <a:endParaRPr lang="en-US" sz="2800" dirty="0">
              <a:latin typeface="Sabon Next LT (Body)"/>
            </a:endParaRPr>
          </a:p>
        </p:txBody>
      </p:sp>
    </p:spTree>
    <p:extLst>
      <p:ext uri="{BB962C8B-B14F-4D97-AF65-F5344CB8AC3E}">
        <p14:creationId xmlns:p14="http://schemas.microsoft.com/office/powerpoint/2010/main" val="1973173046"/>
      </p:ext>
    </p:extLst>
  </p:cSld>
  <p:clrMapOvr>
    <a:masterClrMapping/>
  </p:clrMapOvr>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6DBB56F-4362-4386-A1A1-3DF898896616}">
  <ds:schemaRefs>
    <ds:schemaRef ds:uri="http://schemas.microsoft.com/sharepoint/v3/contenttype/forms"/>
  </ds:schemaRefs>
</ds:datastoreItem>
</file>

<file path=customXml/itemProps2.xml><?xml version="1.0" encoding="utf-8"?>
<ds:datastoreItem xmlns:ds="http://schemas.openxmlformats.org/officeDocument/2006/customXml" ds:itemID="{BA719FA4-954C-4FA8-82CB-206659C3B826}">
  <ds:schemaRefs>
    <ds:schemaRef ds:uri="230e9df3-be65-4c73-a93b-d1236ebd677e"/>
    <ds:schemaRef ds:uri="http://purl.org/dc/dcmitype/"/>
    <ds:schemaRef ds:uri="http://schemas.openxmlformats.org/package/2006/metadata/core-properties"/>
    <ds:schemaRef ds:uri="http://schemas.microsoft.com/office/2006/metadata/properties"/>
    <ds:schemaRef ds:uri="http://schemas.microsoft.com/office/2006/documentManagement/types"/>
    <ds:schemaRef ds:uri="71af3243-3dd4-4a8d-8c0d-dd76da1f02a5"/>
    <ds:schemaRef ds:uri="http://purl.org/dc/terms/"/>
    <ds:schemaRef ds:uri="http://purl.org/dc/elements/1.1/"/>
    <ds:schemaRef ds:uri="http://schemas.microsoft.com/office/infopath/2007/PartnerControls"/>
    <ds:schemaRef ds:uri="http://www.w3.org/XML/1998/namespace"/>
    <ds:schemaRef ds:uri="16c05727-aa75-4e4a-9b5f-8a80a1165891"/>
    <ds:schemaRef ds:uri="http://schemas.microsoft.com/sharepoint/v3"/>
  </ds:schemaRefs>
</ds:datastoreItem>
</file>

<file path=customXml/itemProps3.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{EEA31762-5693-4347-9A8E-5DA6549A7AC2}tf78438558_win32</Template>
  <TotalTime>972</TotalTime>
  <Words>2196</Words>
  <Application>Microsoft Office PowerPoint</Application>
  <PresentationFormat>Widescreen</PresentationFormat>
  <Paragraphs>581</Paragraphs>
  <Slides>25</Slides>
  <Notes>12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25</vt:i4>
      </vt:variant>
    </vt:vector>
  </HeadingPairs>
  <TitlesOfParts>
    <vt:vector size="36" baseType="lpstr">
      <vt:lpstr>Aptos</vt:lpstr>
      <vt:lpstr>Arial</vt:lpstr>
      <vt:lpstr>Arial Black</vt:lpstr>
      <vt:lpstr>Calibri</vt:lpstr>
      <vt:lpstr>Sabon Next LT</vt:lpstr>
      <vt:lpstr>Sabon Next LT (Body)</vt:lpstr>
      <vt:lpstr>Segoe UI Emoji</vt:lpstr>
      <vt:lpstr>Times New Roman</vt:lpstr>
      <vt:lpstr>Wingdings</vt:lpstr>
      <vt:lpstr>Wingdings 3</vt:lpstr>
      <vt:lpstr>Custom</vt:lpstr>
      <vt:lpstr>S.G. Highway: Smart Traffic Solutions </vt:lpstr>
      <vt:lpstr>Brief Overview of S.G. Highway </vt:lpstr>
      <vt:lpstr>OBJECTIVE OF THE STUDY</vt:lpstr>
      <vt:lpstr>PowerPoint Presentation</vt:lpstr>
      <vt:lpstr>Traffic Data &amp; Analysis</vt:lpstr>
      <vt:lpstr>Traffic VOLUME</vt:lpstr>
      <vt:lpstr>PowerPoint Presentation</vt:lpstr>
      <vt:lpstr>PowerPoint Presentation</vt:lpstr>
      <vt:lpstr>PowerPoint Presentation</vt:lpstr>
      <vt:lpstr>Accident Statistics &amp; Black Spots: </vt:lpstr>
      <vt:lpstr>Public Transport Utilization</vt:lpstr>
      <vt:lpstr>PowerPoint Presentation</vt:lpstr>
      <vt:lpstr>PowerPoint Presentation</vt:lpstr>
      <vt:lpstr>PowerPoint Presentation</vt:lpstr>
      <vt:lpstr>PowerPoint Presentation</vt:lpstr>
      <vt:lpstr>PowerPoint Presentation</vt:lpstr>
      <vt:lpstr>PowerPoint Presentation</vt:lpstr>
      <vt:lpstr>TRAFFIC MANAGEMENT STRATEGIES</vt:lpstr>
      <vt:lpstr>Public PROBLEMS</vt:lpstr>
      <vt:lpstr>Road Safety &amp; Sustainability Measures</vt:lpstr>
      <vt:lpstr>Expected Outcomes &amp; Benefits</vt:lpstr>
      <vt:lpstr>Conclusion &amp; Recommendations </vt:lpstr>
      <vt:lpstr>References</vt:lpstr>
      <vt:lpstr>Acknowledgments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S.G. Highway: Smart Traffic Solutions</dc:title>
  <dc:subject/>
  <dc:creator>Manthan Patel</dc:creator>
  <cp:lastModifiedBy>Manthan Patel</cp:lastModifiedBy>
  <cp:revision>45</cp:revision>
  <dcterms:created xsi:type="dcterms:W3CDTF">2025-03-12T05:43:01Z</dcterms:created>
  <dcterms:modified xsi:type="dcterms:W3CDTF">2025-06-18T10:02:04Z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